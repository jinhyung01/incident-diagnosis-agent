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1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73bd750b3444c4" /><Relationship Type="http://schemas.openxmlformats.org/officeDocument/2006/relationships/extended-properties" Target="/docProps/app.xml" Id="Raf191cc3209e43e7" /><Relationship Type="http://schemas.openxmlformats.org/officeDocument/2006/relationships/officeDocument" Target="/ppt/presentation.xml" Id="Rf601db6f23d54b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cb2706c7c34786"/>
  </p:sldMasterIdLst>
  <p:notesMasterIdLst>
    <p:notesMasterId xmlns:r="http://schemas.openxmlformats.org/officeDocument/2006/relationships" r:id="Rc029b4b8f854499d"/>
  </p:notesMasterIdLst>
  <p:sldIdLst>
    <p:sldId xmlns:r="http://schemas.openxmlformats.org/officeDocument/2006/relationships" id="256" r:id="R24bf8004281044f5"/>
    <p:sldId xmlns:r="http://schemas.openxmlformats.org/officeDocument/2006/relationships" id="257" r:id="R270dff6fc4cd4900"/>
    <p:sldId xmlns:r="http://schemas.openxmlformats.org/officeDocument/2006/relationships" id="258" r:id="R9aa3671215bf4e77"/>
    <p:sldId xmlns:r="http://schemas.openxmlformats.org/officeDocument/2006/relationships" id="259" r:id="R6df1ccb3e867473a"/>
    <p:sldId xmlns:r="http://schemas.openxmlformats.org/officeDocument/2006/relationships" id="260" r:id="R99274fb40aaf4921"/>
    <p:sldId xmlns:r="http://schemas.openxmlformats.org/officeDocument/2006/relationships" id="261" r:id="R6d464c33370a4775"/>
    <p:sldId xmlns:r="http://schemas.openxmlformats.org/officeDocument/2006/relationships" id="262" r:id="R8247fa6824c2472f"/>
    <p:sldId xmlns:r="http://schemas.openxmlformats.org/officeDocument/2006/relationships" id="263" r:id="R9a233a82bcc4465e"/>
    <p:sldId xmlns:r="http://schemas.openxmlformats.org/officeDocument/2006/relationships" id="264" r:id="Rfd4f2059870c4dd8"/>
    <p:sldId xmlns:r="http://schemas.openxmlformats.org/officeDocument/2006/relationships" id="265" r:id="Rcacbdf13ff5e4057"/>
    <p:sldId xmlns:r="http://schemas.openxmlformats.org/officeDocument/2006/relationships" id="266" r:id="R4c0a949d898b4944"/>
    <p:sldId xmlns:r="http://schemas.openxmlformats.org/officeDocument/2006/relationships" id="267" r:id="R14103f230b49490a"/>
    <p:sldId xmlns:r="http://schemas.openxmlformats.org/officeDocument/2006/relationships" id="268" r:id="R58818bb485904838"/>
    <p:sldId xmlns:r="http://schemas.openxmlformats.org/officeDocument/2006/relationships" id="269" r:id="Ra2dcbf30a4c54735"/>
    <p:sldId xmlns:r="http://schemas.openxmlformats.org/officeDocument/2006/relationships" id="270" r:id="R2d8e5f88821c4f92"/>
    <p:sldId xmlns:r="http://schemas.openxmlformats.org/officeDocument/2006/relationships" id="271" r:id="R721b402475e645bf"/>
    <p:sldId xmlns:r="http://schemas.openxmlformats.org/officeDocument/2006/relationships" id="272" r:id="R145e24275fff403a"/>
    <p:sldId xmlns:r="http://schemas.openxmlformats.org/officeDocument/2006/relationships" id="273" r:id="R0d7982888ca74231"/>
    <p:sldId xmlns:r="http://schemas.openxmlformats.org/officeDocument/2006/relationships" id="274" r:id="Rf835194e571045b3"/>
    <p:sldId xmlns:r="http://schemas.openxmlformats.org/officeDocument/2006/relationships" id="275" r:id="Ra93f9726072744e3"/>
    <p:sldId xmlns:r="http://schemas.openxmlformats.org/officeDocument/2006/relationships" id="276" r:id="R8a938af59506458e"/>
    <p:sldId xmlns:r="http://schemas.openxmlformats.org/officeDocument/2006/relationships" id="277" r:id="R52f4d986bc184f9f"/>
    <p:sldId xmlns:r="http://schemas.openxmlformats.org/officeDocument/2006/relationships" id="278" r:id="R666d7272dbc14cc3"/>
    <p:sldId xmlns:r="http://schemas.openxmlformats.org/officeDocument/2006/relationships" id="279" r:id="R477d74067975481c"/>
    <p:sldId xmlns:r="http://schemas.openxmlformats.org/officeDocument/2006/relationships" id="280" r:id="R8794d86a484e47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66fdb1fea6479d" /><Relationship Type="http://schemas.openxmlformats.org/officeDocument/2006/relationships/slideMaster" Target="/ppt/slideMasters/slideMaster1.xml" Id="Rd7cb2706c7c34786" /><Relationship Type="http://schemas.openxmlformats.org/officeDocument/2006/relationships/notesMaster" Target="/ppt/notesMasters/notesMaster1.xml" Id="Rc029b4b8f854499d" /><Relationship Type="http://schemas.openxmlformats.org/officeDocument/2006/relationships/presProps" Target="/ppt/presProps.xml" Id="Rb7d3cfd1adf64154" /><Relationship Type="http://schemas.openxmlformats.org/officeDocument/2006/relationships/tableStyles" Target="/ppt/tableStyles.xml" Id="R09fcb31cdbba4271" /><Relationship Type="http://schemas.openxmlformats.org/officeDocument/2006/relationships/slide" Target="/ppt/slides/slide1.xml" Id="R24bf8004281044f5" /><Relationship Type="http://schemas.openxmlformats.org/officeDocument/2006/relationships/slide" Target="/ppt/slides/slide2.xml" Id="R270dff6fc4cd4900" /><Relationship Type="http://schemas.openxmlformats.org/officeDocument/2006/relationships/slide" Target="/ppt/slides/slide3.xml" Id="R9aa3671215bf4e77" /><Relationship Type="http://schemas.openxmlformats.org/officeDocument/2006/relationships/slide" Target="/ppt/slides/slide4.xml" Id="R6df1ccb3e867473a" /><Relationship Type="http://schemas.openxmlformats.org/officeDocument/2006/relationships/slide" Target="/ppt/slides/slide5.xml" Id="R99274fb40aaf4921" /><Relationship Type="http://schemas.openxmlformats.org/officeDocument/2006/relationships/slide" Target="/ppt/slides/slide6.xml" Id="R6d464c33370a4775" /><Relationship Type="http://schemas.openxmlformats.org/officeDocument/2006/relationships/slide" Target="/ppt/slides/slide7.xml" Id="R8247fa6824c2472f" /><Relationship Type="http://schemas.openxmlformats.org/officeDocument/2006/relationships/slide" Target="/ppt/slides/slide8.xml" Id="R9a233a82bcc4465e" /><Relationship Type="http://schemas.openxmlformats.org/officeDocument/2006/relationships/slide" Target="/ppt/slides/slide9.xml" Id="Rfd4f2059870c4dd8" /><Relationship Type="http://schemas.openxmlformats.org/officeDocument/2006/relationships/slide" Target="/ppt/slides/slide10.xml" Id="Rcacbdf13ff5e4057" /><Relationship Type="http://schemas.openxmlformats.org/officeDocument/2006/relationships/slide" Target="/ppt/slides/slide11.xml" Id="R4c0a949d898b4944" /><Relationship Type="http://schemas.openxmlformats.org/officeDocument/2006/relationships/slide" Target="/ppt/slides/slide12.xml" Id="R14103f230b49490a" /><Relationship Type="http://schemas.openxmlformats.org/officeDocument/2006/relationships/slide" Target="/ppt/slides/slide13.xml" Id="R58818bb485904838" /><Relationship Type="http://schemas.openxmlformats.org/officeDocument/2006/relationships/slide" Target="/ppt/slides/slide14.xml" Id="Ra2dcbf30a4c54735" /><Relationship Type="http://schemas.openxmlformats.org/officeDocument/2006/relationships/slide" Target="/ppt/slides/slide15.xml" Id="R2d8e5f88821c4f92" /><Relationship Type="http://schemas.openxmlformats.org/officeDocument/2006/relationships/slide" Target="/ppt/slides/slide16.xml" Id="R721b402475e645bf" /><Relationship Type="http://schemas.openxmlformats.org/officeDocument/2006/relationships/slide" Target="/ppt/slides/slide17.xml" Id="R145e24275fff403a" /><Relationship Type="http://schemas.openxmlformats.org/officeDocument/2006/relationships/slide" Target="/ppt/slides/slide18.xml" Id="R0d7982888ca74231" /><Relationship Type="http://schemas.openxmlformats.org/officeDocument/2006/relationships/slide" Target="/ppt/slides/slide19.xml" Id="Rf835194e571045b3" /><Relationship Type="http://schemas.openxmlformats.org/officeDocument/2006/relationships/slide" Target="/ppt/slides/slide20.xml" Id="Ra93f9726072744e3" /><Relationship Type="http://schemas.openxmlformats.org/officeDocument/2006/relationships/slide" Target="/ppt/slides/slide21.xml" Id="R8a938af59506458e" /><Relationship Type="http://schemas.openxmlformats.org/officeDocument/2006/relationships/slide" Target="/ppt/slides/slide22.xml" Id="R52f4d986bc184f9f" /><Relationship Type="http://schemas.openxmlformats.org/officeDocument/2006/relationships/slide" Target="/ppt/slides/slide23.xml" Id="R666d7272dbc14cc3" /><Relationship Type="http://schemas.openxmlformats.org/officeDocument/2006/relationships/slide" Target="/ppt/slides/slide24.xml" Id="R477d74067975481c" /><Relationship Type="http://schemas.openxmlformats.org/officeDocument/2006/relationships/slide" Target="/ppt/slides/slide25.xml" Id="R8794d86a484e47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6efec1cab44f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ple SD Gothic Neo"/>
        <a:ea typeface=""/>
        <a:cs typeface=""/>
      </a:majorFont>
      <a:minorFont>
        <a:latin typeface="Apple SD Gothic Ne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2718e11fbe48d6" /><Relationship Type="http://schemas.openxmlformats.org/officeDocument/2006/relationships/notesMaster" Target="/ppt/notesMasters/notesMaster1.xml" Id="R75824167e57a44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5b7711f1464c6c" /><Relationship Type="http://schemas.openxmlformats.org/officeDocument/2006/relationships/notesMaster" Target="/ppt/notesMasters/notesMaster1.xml" Id="R390bf0e1b87943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6dd55c2f5149c7" /><Relationship Type="http://schemas.openxmlformats.org/officeDocument/2006/relationships/notesMaster" Target="/ppt/notesMasters/notesMaster1.xml" Id="R074fc7b1969049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19c55474af4409" /><Relationship Type="http://schemas.openxmlformats.org/officeDocument/2006/relationships/notesMaster" Target="/ppt/notesMasters/notesMaster1.xml" Id="R59393869afce49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cb09b22cc842d1" /><Relationship Type="http://schemas.openxmlformats.org/officeDocument/2006/relationships/notesMaster" Target="/ppt/notesMasters/notesMaster1.xml" Id="R68cf647a01fc4e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8d2f4ec769483b" /><Relationship Type="http://schemas.openxmlformats.org/officeDocument/2006/relationships/notesMaster" Target="/ppt/notesMasters/notesMaster1.xml" Id="R131720d260df49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4d0e3c3ba34ea8" /><Relationship Type="http://schemas.openxmlformats.org/officeDocument/2006/relationships/notesMaster" Target="/ppt/notesMasters/notesMaster1.xml" Id="Rd3c16561842e4f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e2762785de40cc" /><Relationship Type="http://schemas.openxmlformats.org/officeDocument/2006/relationships/notesMaster" Target="/ppt/notesMasters/notesMaster1.xml" Id="R282fb75b7be14c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3b3a088d4e4f2b" /><Relationship Type="http://schemas.openxmlformats.org/officeDocument/2006/relationships/notesMaster" Target="/ppt/notesMasters/notesMaster1.xml" Id="R6d5134adfd7d46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8e4aca7cdd4988" /><Relationship Type="http://schemas.openxmlformats.org/officeDocument/2006/relationships/notesMaster" Target="/ppt/notesMasters/notesMaster1.xml" Id="Rc9bfee8ac92a4b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75b18e4acf4350" /><Relationship Type="http://schemas.openxmlformats.org/officeDocument/2006/relationships/notesMaster" Target="/ppt/notesMasters/notesMaster1.xml" Id="Re74365e804c042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d36f1f88d0b43c2" /><Relationship Type="http://schemas.openxmlformats.org/officeDocument/2006/relationships/notesMaster" Target="/ppt/notesMasters/notesMaster1.xml" Id="Re2869a49041749a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61f648af5c54ed0" /><Relationship Type="http://schemas.openxmlformats.org/officeDocument/2006/relationships/notesMaster" Target="/ppt/notesMasters/notesMaster1.xml" Id="Rdb9701f8a493459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409b28c38e34146" /><Relationship Type="http://schemas.openxmlformats.org/officeDocument/2006/relationships/notesMaster" Target="/ppt/notesMasters/notesMaster1.xml" Id="Rf1280077766941f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31fb53a9146415f" /><Relationship Type="http://schemas.openxmlformats.org/officeDocument/2006/relationships/notesMaster" Target="/ppt/notesMasters/notesMaster1.xml" Id="R82723d095c5b45f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3b0f02fd85645bb" /><Relationship Type="http://schemas.openxmlformats.org/officeDocument/2006/relationships/notesMaster" Target="/ppt/notesMasters/notesMaster1.xml" Id="Rabeddb74efd1479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933d8adc5154c77" /><Relationship Type="http://schemas.openxmlformats.org/officeDocument/2006/relationships/notesMaster" Target="/ppt/notesMasters/notesMaster1.xml" Id="R81862d767da5410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7e5655c3d4642fd" /><Relationship Type="http://schemas.openxmlformats.org/officeDocument/2006/relationships/notesMaster" Target="/ppt/notesMasters/notesMaster1.xml" Id="Rd7acfd1cceed4a7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bf875dbbbf64fa6" /><Relationship Type="http://schemas.openxmlformats.org/officeDocument/2006/relationships/notesMaster" Target="/ppt/notesMasters/notesMaster1.xml" Id="Rf45be4efaf9b434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c0b7c908f1e4c62" /><Relationship Type="http://schemas.openxmlformats.org/officeDocument/2006/relationships/notesMaster" Target="/ppt/notesMasters/notesMaster1.xml" Id="R16d2a647f3d04d7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6aa4fd2dcf44581" /><Relationship Type="http://schemas.openxmlformats.org/officeDocument/2006/relationships/notesMaster" Target="/ppt/notesMasters/notesMaster1.xml" Id="Rd30d8079a96d4ff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3c02782005a4434" /><Relationship Type="http://schemas.openxmlformats.org/officeDocument/2006/relationships/notesMaster" Target="/ppt/notesMasters/notesMaster1.xml" Id="R808370abbc8c4fd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f223882c22a4077" /><Relationship Type="http://schemas.openxmlformats.org/officeDocument/2006/relationships/notesMaster" Target="/ppt/notesMasters/notesMaster1.xml" Id="R0e99d79e094a477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706688c1a094ae5" /><Relationship Type="http://schemas.openxmlformats.org/officeDocument/2006/relationships/notesMaster" Target="/ppt/notesMasters/notesMaster1.xml" Id="R223ce1202217474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64ad52e64c24e83" /><Relationship Type="http://schemas.openxmlformats.org/officeDocument/2006/relationships/notesMaster" Target="/ppt/notesMasters/notesMaster1.xml" Id="Rb16bdf89ae3246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안녕하세요. 실습 일 번, 베이스 프로젝트 개선을 선택한 이진형입니다.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기존 프로젝트는 서비스 이름과 장애 증상을 입력하면 모니터링 지표와 대응 매뉴얼을 조회해 진단 보고서를 만드는 AI 에이전트입니다.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기존 프로젝트는 수업에서 제공한 서비스 장애 진단 에이전트다. FastAPI 서버, LangGraph 그래프, MCP Tool·Resource·Prompt, Vue 채팅 화면, SQLite 대화 이력이 이미 있다.</a:t>
            </a:r>
          </a:p>
          <a:p xmlns:a="http://schemas.openxmlformats.org/drawingml/2006/main">
            <a:r>
              <a:t>2. 원래 흐름은 route → plan → gate → research → replan_check → analysis → write → validate → finalize다. 일반 대화는 조사 파이프라인을 건너뛴다.</a:t>
            </a:r>
          </a:p>
          <a:p xmlns:a="http://schemas.openxmlformats.org/drawingml/2006/main">
            <a:r>
              <a:t>3. 이번 개선에서 실제로 검증한 모델은 Ollama의 qwen3:0.6b/8b다. 모니터링은 교육용 모의 데이터이며 실제 운영 로그·서버 조치는 없다. 기존 기반 전체를 새로 개발했다고 말하지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day1/baseline/original_v2/doc/README.md; day1/baseline/original_v2/agent/graph.py; day1/baseline/original_v2/server.py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조사 범위, 대상 확인, 매뉴얼 선택, 답변 검증 네 가지를 개선했습니다. 검색과 근거 화면, 비교 평가를 추가했습니다.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현재 발표 범위는 개선4개·추가3개다. 이름 응답은 회귀 질문에서 확인한 별도 보완이며 새 주요 기능으로 늘리지 않는다.</a:t>
            </a:r>
          </a:p>
          <a:p xmlns:a="http://schemas.openxmlformats.org/drawingml/2006/main">
            <a:r>
              <a:t>2. 매뉴얼 선택 개선은 정상·정보 부족·장애 분기이며, RAG는 조사할 서비스의 알림과 문서를 의미로 연결하는 검색 방식이다.</a:t>
            </a:r>
          </a:p>
          <a:p xmlns:a="http://schemas.openxmlformats.org/drawingml/2006/main">
            <a:r>
              <a:t>3. 이후 실제 질문·응답과 같은 질문의 개선 화면을 연속으로 제시한다.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presentation/PLAN_COVERAGE.md; 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MCP에 검색 도구를 추가하고 RAG로 문서를 찾습니다. 그래프 처리를 모듈로 분리하고 검색기를 주입해 실제 MCP와 고정 평가를 교체합니다. 분기 테스트와 동일 입력 평가로 확인했습니다.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MCP: mcp_server.py의 search_runbooks Tool을 추가했다. retrieval.py의 MCPRunbookSearch가 이 Tool을 호출하고, research.py가 검색 결과의 URI로 기존 MCP Resource 원문을 읽는다. MCP 서버 분리나 기존 Tool·Resource 체계를 새로 구현한 성과로 주장하지 않는다.</a:t>
            </a:r>
          </a:p>
          <a:p xmlns:a="http://schemas.openxmlformats.org/drawingml/2006/main">
            <a:r>
              <a:t>2. RAG: runbook 6개 본문·한영 증상 메타데이터와 서비스별 활성 알림을 bge-m3로 임베딩한다. SQLite에 캐시한 정규화 벡터의 코사인 유사도를 계산하고 임계값 0.35, 후보 2개 중 첫 원문을 연결한다. 대규모 벡터 DB나 ANN 검색을 구현한 것은 아니다.</a:t>
            </a:r>
          </a:p>
          <a:p xmlns:a="http://schemas.openxmlformats.org/drawingml/2006/main">
            <a:r>
              <a:t>3. LangGraph·모듈화: 기존 그래프 처리를 대상·수집·검색·보고·검증 모듈로 분리하고 범위·상태별 분기를 연결했다. 독립적인 전문 Multi-Agent 서브그래프를 추가한 구현은 아니다.</a:t>
            </a:r>
          </a:p>
          <a:p xmlns:a="http://schemas.openxmlformats.org/drawingml/2006/main">
            <a:r>
              <a:t>4. 의존성 주입: 기존 SupervisorDeps에 searcher를 추가했다. 연구 노드는 검색 구현을 직접 만들지 않고 주입된 검색기를 우선 사용한다. 실제 앱은 MCP 검색 Tool, 평가·단위 테스트는 고정 데이터 검색 어댑터를 연결한다.</a:t>
            </a:r>
          </a:p>
          <a:p xmlns:a="http://schemas.openxmlformats.org/drawingml/2006/main">
            <a:r>
              <a:t>5. 단위 테스트 31개와 실제 모델 고정 입력 20건은 목적이 다르다. 전자는 대상 추출·수치 변조·부분 실패·시간 제한 등의 코드 분기, 후자는 실제 호출·문서 선택·응답 상태·시간을 확인한다. 실제 MCP·SSE·UI 검증은 별도로 수행했다.</a:t>
            </a:r>
          </a:p>
          <a:p xmlns:a="http://schemas.openxmlformats.org/drawingml/2006/main">
            <a:r>
              <a:t>6. 교수님이 나열한 기술은 예시이며 전부 추가하라는 필수 목록으로 쓰여 있지 않다. 기존 LangSmith traceable 장식은 유지하지만 새 추적 연결·대시보드 분석을 검증한 성과에는 포함하지 않는다. 전문 Multi-Agent 확장도 성과로 표기하지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mcp_server.py; agent/graph.py; agent/retrieval.py; agent/research.py; agent/deps.py; agent/nodes.py; tests/test_core.py; day2/tests/unit-tests-story.txt; day2/results/comparison/summary.json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결제와 캐시를 함께 물었는데 결제만 조회했습니다. 캐시 자료 없이 원인을 추정했습니다.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원본의 _extract_system_name은 최초 언급 서비스 하나만 MCP 계획 문맥으로 넘긴다. 이후 실제 조사 목록은 LLM tasks에 의존해 cache가 빠질 수 있었다.</a:t>
            </a:r>
          </a:p>
          <a:p xmlns:a="http://schemas.openxmlformats.org/drawingml/2006/main">
            <a:r>
              <a:t>2. 사진에서는 수집된 사실에 payments만 있고 cache 자료가 없다. 공통 원인을 확정할 근거도 부족하다.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day1/evidence/user-screenshots/04-payments-cache.png;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요청에서 전체 서비스를 뽑고 그 목록으로 조회 작업을 구성했습니다. LLM 계획에서 빠져도 모두 조사합니다.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agent/targets.py의 select_targets가 등록 목록과 요청 텍스트를 대조해 알려진 대상 전체와 미등록 대상을 나눈다.</a:t>
            </a:r>
          </a:p>
          <a:p xmlns:a="http://schemas.openxmlformats.org/drawingml/2006/main">
            <a:r>
              <a:t>2. repair_plan은 모델의 tasks를 그대로 실행하지 않고, 확정된 대상마다 monitor-{service} 작업을 다시 만든다. scope_node·plan_node가 이 목록을 보존한다.</a:t>
            </a:r>
          </a:p>
          <a:p xmlns:a="http://schemas.openxmlformats.org/drawingml/2006/main">
            <a:r>
              <a:t>3. agent/research.py의 collect_monitoring은 확정된 targets 전체를 asyncio.gather로 조회한다. 각 조회의 오류를 개별 기록해 다른 서비스 수집을 취소하지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day2/evidence/review-q06-first.jpg; day2/results/contextual-captures/a19f84a4-7221-45f6-938e-f8dac295ea28-eca497a3.json; agent/targets.py; agent/research.py; agent/nodes.py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공유 의존 관계나 로그를 조사하지 않았으므로 공통 원인은 미확인으로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기존 모델 기반 패턴 추정을 공통 원인 확정 근거로 사용하지 않는다. analysis_node는 현재 도구가 수집하지 않는 로그·시계열·의존 관계의 한계를 명시한다.</a:t>
            </a:r>
          </a:p>
          <a:p xmlns:a="http://schemas.openxmlformats.org/drawingml/2006/main">
            <a:r>
              <a:t>2. render_report는 두 서비스 이상이면 공통 원인은 미확인이라는 안내를 붙인다. 두 서비스 조사 완료와 공통 원인 규명 성공은 다르다.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day2/evidence/review-q06-second.jpg; day2/results/contextual-captures/a19f84a4-7221-45f6-938e-f8dac295ea28-eca497a3.json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게이트웨이에서 결제로 가는 요청도 한쪽만 조사했습니다.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gateway·payments 질문의 원본은 gateway 알림만 조회했다. 네트워크 문서 선택 자체보다 상대 서비스 누락을 추가 사례로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day1/evidence/user-screenshots/01-gateway-payments.png;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같은 대상 보정 처리를 적용해 요청을 보내는 쪽과 받는 쪽을 모두 조회했습니다.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payments·cache와 동일한 대상 추출·작업 재구성 로직을 사용한다. gateway의 network-timeout과 payments의 cpu-spike를 서비스별로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day2/evidence/review-q04-first.jpg; day2/results/contextual-captures/f7d637e2-c911-417e-bf3f-3845fed685fa-33205f03.json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조회는 서비스별로 처리해 일부 실패가 다른 결과를 지우지 않게 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서비스별 수집·오류 분리로 일부 실패가 전체 결과를 지우지 않는다. 이 캡처는 두 서비스가 성공한 사례이며, 부분 실패 분기는 단위 테스트에서 따로 확인했다.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day2/evidence/review-q04-second.jpg; day2/results/contextual-captures/f7d637e2-c911-417e-bf3f-3845fed685fa-33205f03.json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빌링을 물었는데 인증 서비스인 auth를 조회했습니다. 대상이 바뀐 것입니다.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원본의 미등록·미명시 auth fallback은 기존 설계다. 사용자의 대상과 실제 조사 대상을 일치시키기 위한 정책 변경으로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day1/evidence/user-screenshots/06-billing.png;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등록 목록과 먼저 대조합니다. 미등록이면 조회와 보고 생성을 건너뛰고, 다른 서비스로 바꾸지 않고 이름을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select_targets가 서비스처럼 보이지만 등록 목록에 없는 billing-service를 unknown에 넣는다. targets가 비면 plan_node가 보고 모델의 계획을 호출하지 않고, 모니터링 수집도 비어 있다.</a:t>
            </a:r>
          </a:p>
          <a:p xmlns:a="http://schemas.openxmlformats.org/drawingml/2006/main">
            <a:r>
              <a:t>2. 문서·관측이 없으면 write_node가 보고 생성을 생략하고 render_report가 등록 이름 확인 안내를 만든다. 안내는 LLM이 작성한 진단 성공으로 세지 않는다.</a:t>
            </a:r>
          </a:p>
          <a:p xmlns:a="http://schemas.openxmlformats.org/drawingml/2006/main">
            <a:r>
              <a:t>3. 등록·미등록 혼합 요청은 등록된 대상은 조사하고, 미등록 대상은 따로 표시한다.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day2/evidence/context-unknown-frame.jpg; day2/results/contextual-captures/55c381af-5efe-447d-9430-bf83a5b11c9d-c848919a.json; agent/targets.py; agent/evidence.py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로그인이라는 말만으로 auth를 가정하던 정책도 바꿨습니다.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로그인이라는 표현만으로 auth를 선택하던 기본 정책을 변경했다. 등록 별칭을 추가하는 기능은 구현하지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day1/evidence/user-screenshots/05-login.png;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서비스명이 없으면 auth를 기본값으로 쓰던 처리를 없애고, 대상 확인 안내를 반환합니다.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장애 문맥은 인식하지만 명시한 등록 대상이 없으면 빈 target 목록을 유지한다. render_report가 어느 서비스를 확인할지 묻는다.</a:t>
            </a:r>
          </a:p>
          <a:p xmlns:a="http://schemas.openxmlformats.org/drawingml/2006/main">
            <a:r>
              <a:t>2. 이 처리는 새 별칭이나 오타를 자동 해석하는 기능이 아니라 대상 확인 정책이다.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day2/evidence/review-q07-answer.jpg; day2/results/contextual-captures/f4e83364-7451-4377-a65d-6adaac6d4a8f-3fba43e9.json; agent/targets.py; agent/nodes.py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정상인 web에 DB 장애 문서를 골랐고, 함께 요청한 auth도 빠졌습니다.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원본은 모니터링 알림의 키워드가 맞지 않으면 db-down으로 대체했다. healthy·알림 없음인 web에 DB 문서를 적용한 사진이다.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day1/evidence/user-screenshots/03-web-auth.png;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지표와 알림으로 상태를 먼저 나눕니다. 정상이나 정보 부족이면 문서를 붙이지 않고, 장애 대상은 해당 서비스 알림으로 매뉴얼을 검색합니다.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agent/evidence.py의 monitoring_state는 상태·CPU·메모리 유효성·활성 알림을 확인한다. healthy이고 알림이 없으면 healthy, 유효하지만 활성 알림이 없으면 insufficient, 조사 근거가 있으면 investigate다.</a:t>
            </a:r>
          </a:p>
          <a:p xmlns:a="http://schemas.openxmlformats.org/drawingml/2006/main">
            <a:r>
              <a:t>2. collect_runbooks는 investigate 서비스만 검색한다. 정상·정보 부족·유효하지 않은 관측은 장애 문서를 임의로 붙이지 않는다.</a:t>
            </a:r>
          </a:p>
          <a:p xmlns:a="http://schemas.openxmlformats.org/drawingml/2006/main">
            <a:r>
              <a:t>3. 검색 입력은 서비스별 상태와 실제 활성 알림이다. 검색 방법의 상세 구현은 추가 기능 RAG에서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day2/evidence/context-healthy-answer.jpg; day2/results/contextual-captures/49ebc8c8-65fc-4aec-bc42-fd1829f048e9.json; agent/evidence.py; agent/research.py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로그 분석 결과라고 답했지만 실제 로그 조회는 없었습니다.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원본의 분석 결과 문장을 수집된 사실처럼 최종 프롬프트에 포함하던 문제다. 실제 도구에는 로그 조회가 없다.</a:t>
            </a:r>
          </a:p>
          <a:p xmlns:a="http://schemas.openxmlformats.org/drawingml/2006/main">
            <a:r>
              <a:t>2. 원본 validate_node는 30자 이상과 1) 포함 여부만 확인했다. 수치·서비스·원인 주장의 근거 검증은 아니었다.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day1/evidence/user-screenshots/02-payments-cpu.png;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모델은 수치·문서·절차 번호를 JSON으로 고르게 했습니다. 코드가 근거와 대조하고, 통과한 절차를 원문으로 출력해 조치 조건이 바뀌지 않게 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StructuredReportLLM은 sections JSON으로 서비스 이름·CPU·메모리·runbook_id·step_ids·cause_confirmed만 출력하도록 한다.</a:t>
            </a:r>
          </a:p>
          <a:p xmlns:a="http://schemas.openxmlformats.org/drawingml/2006/main">
            <a:r>
              <a:t>2. validate_draft는 누락·중복·범위 밖 서비스, 잘못된 수치, 없는 문서·절차, 원인 확정, 자유 필드를 거절한다.</a:t>
            </a:r>
          </a:p>
          <a:p xmlns:a="http://schemas.openxmlformats.org/drawingml/2006/main">
            <a:r>
              <a:t>3. 검증 후 render_report가 선택된 절차의 원문을 가져온다. 원문의 90% 초과·지속 등의 조건을 모델이 바꿔 쓰지 않는다.</a:t>
            </a:r>
          </a:p>
          <a:p xmlns:a="http://schemas.openxmlformats.org/drawingml/2006/main">
            <a:r>
              <a:t>4. 모든 자유 문장의 의미를 판정하거나 현재 조치 조건 충족을 자동 판단하는 기능은 아니다. 실제 조치도 실행하지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day2/evidence/review-q01-answer.jpg; day2/results/contextual-captures/3e26b7de-a591-4252-a03e-e3b7abfd824e-8df47df5.json; agent/reporting.py; agent/validation.py; agent/evidence.py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사용자 이름 민수를 비서 자신의 이름처럼 답한 문제도 있었습니다.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초기 계획의 주요 기능으로 늘리지 않고 실행 중 발견한 추가 보완으로 구분한다. 사용자 민수와 비서의 자기소개가 섞인 사례다.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day1/evidence/user-screenshots/07-name-recall.png;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이름은 사용자 역할의 선언에서만 읽습니다. 이름 질문과 비서의 자기소개는 제외합니다. 이 부분은 계획 외에 보완한 대화 처리입니다.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remembered_name은 history에서 role=user인 메시지와 현재 입력만 읽고, '제 이름은 ...입니다' 같은 선언형만 추출한다. assistant 발화와 '이름이 뭐였죠' 질문은 이름 선언으로 보지 않는다.</a:t>
            </a:r>
          </a:p>
          <a:p xmlns:a="http://schemas.openxmlformats.org/drawingml/2006/main">
            <a:r>
              <a:t>2. 추출한 이름의 별도 메모리 DB를 새로 만든 것이 아니다. 기존 SQLite 대화 이력을 활용하고 같은 대화의 최근 사용자 선언을 읽는다.</a:t>
            </a:r>
          </a:p>
          <a:p xmlns:a="http://schemas.openxmlformats.org/drawingml/2006/main">
            <a:r>
              <a:t>3. 서버 재시작 뒤 같은 DB·thread의 이름 응답도 별도 기록으로 검증했다. 캡처 자체가 재시작 과정을 보여주는 것은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day2/evidence/review-q10-answer.jpg; day2/results/contextual-captures/review-suite.json; agent/targets.py; agent/session_store.py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첫 추가 기능은 RAG입니다. 서비스별 알림과 매뉴얼을 bge-m3로 벡터화해 검색하고, 선택한 문서는 MCP로 원문을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기존 6개 runbook 본문과 한·영 증상 메타데이터를 bge-m3로 임베딩하고 SQLite에 캐시한다. 문서 변경 시 digest를 확인해 인덱스를 갱신한다.</a:t>
            </a:r>
          </a:p>
          <a:p xmlns:a="http://schemas.openxmlformats.org/drawingml/2006/main">
            <a:r>
              <a:t>2. 서비스별 활성 알림을 임베딩하고 정규화한 벡터의 코사인 유사도로 검색한다. 임계값 0.35, 후보 상위 2개 중 첫 문서를 실제 원문과 연결한다.</a:t>
            </a:r>
          </a:p>
          <a:p xmlns:a="http://schemas.openxmlformats.org/drawingml/2006/main">
            <a:r>
              <a:t>3. 검색기는 기존 SupervisorDeps에 추가한 searcher로 주입한다. 실행 시 MCP 검색 Tool을 사용하고 고정 데이터 평가에서는 검색 어댑터를 사용한다.</a:t>
            </a:r>
          </a:p>
          <a:p xmlns:a="http://schemas.openxmlformats.org/drawingml/2006/main">
            <a:r>
              <a:t>4. 유사도 0.673은 정답 확률이 아니다. 문서 6개 전수 비교이며 대규모 ANN 검색이나 운영 부하 검증은 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day2/evidence/review-q03-answer.jpg; agent/retrieval.py; agent/research.py; mcp_server.py; day2/results/contextual-captures/cc4c77a5-5311-4797-9942-36ec51f66841-17dcde1e.json; agent/deps.py; agent/research.py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두 번째는 근거 화면입니다. 실제 조회한 서비스와 수치, 참고 매뉴얼을 표로 보여주고 확인하지 못한 항목도 함께 표시합니다.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evidence_payload는 실제 collected에서 서비스·관측·runbook·미등록·미확인·오류를 구성한다. server.py가 FinalAnswer.evidence에 담고 web_chat.html이 그 객체로 표를 그린다.</a:t>
            </a:r>
          </a:p>
          <a:p xmlns:a="http://schemas.openxmlformats.org/drawingml/2006/main">
            <a:r>
              <a:t>2. 모델이 출력한 출처 문자열을 그대로 화면 근거로 쓰지 않는다. 정상 web은 문서 없음, auth는 지연 매뉴얼·유사도가 표시된다.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day2/evidence/context-healthy-evidence.jpg; agent/evidence.py; server.py; web_chat.html; day2/results/contextual-captures/49ebc8c8-65fc-4aec-bc42-fd1829f048e9.json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세 번째는 자동 비교입니다. 같은 질문과 고정 지표로 전후 실행하고 호출·문서·시간을 집계합니다. 단위 테스트 서른한 개도 통과했습니다.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평가 정의 cases.json의 expected_targets·expected_runbooks와 실제 calls·elapsed_seconds를 대조한다. 대상 수집은 서비스 수, 범위 일치는 대상 집합이 같은 질문 수, 문서 Top-1은 정답 문서가 하나인 질문만 계산한다.</a:t>
            </a:r>
          </a:p>
          <a:p xmlns:a="http://schemas.openxmlformats.org/drawingml/2006/main">
            <a:r>
              <a:t>2. 고정 데이터 그래프 평가 20건과 실제 MCP·SSE·UI 검증은 구분한다. 이 보고서는 보존된 전후 결과 JSON을 집계한 것이며 새 20건 벤치마크를 실행한 것은 아니다.</a:t>
            </a:r>
          </a:p>
          <a:p xmlns:a="http://schemas.openxmlformats.org/drawingml/2006/main">
            <a:r>
              <a:t>3. 단위 테스트 31개는 대상 추출·검증·부분 실패·시간 제한·이름 역할 등의 분기다. 20건 실제 모델 평가와 다른 검증이다.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day2/evidence/evaluation-cases.jpg; day2/scripts/build_evaluation_evidence.py; day1/results/baseline-ollama/results.json; day2/results/improved-ollama/results.json; day2/tests/unit-tests-story.txt; tests/test_core.py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핵심은 선택의 정확성입니다. 서비스 조회는 팔십오에서 백 퍼센트, 조회 대상 일치는 칠십오에서 백 퍼센트, 매뉴얼 선택은 열두 문항 중 열한 개에서 열두 개로 늘었습니다. 이 수치는 조사 대상과 매뉴얼 선택을 평가한 결과입니다. 처리 시간은 아래에 보조 지표로 표시했습니다.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서비스 조회는 각 요청에서 필요한 등록 대상과 실제 호출 목록을 대조한17/20건·20/20건이다. 서로 다른 서비스20종을 뜻하지 않는다. 같은 서비스가 다른 질문에 나오면 다시 계수한다.</a:t>
            </a:r>
          </a:p>
          <a:p xmlns:a="http://schemas.openxmlformats.org/drawingml/2006/main">
            <a:r>
              <a:t>2. 조회 대상 일치는 실제 대상 집합과 기대 집합이 같은15/20문항·20/20문항이다. 누락3건과 auth 대체 조회2건을 보완했으며 미등록·미명시 요청의 확인 정책 변경도 포함한다.</a:t>
            </a:r>
          </a:p>
          <a:p xmlns:a="http://schemas.openxmlformats.org/drawingml/2006/main">
            <a:r>
              <a:t>3. 매뉴얼은 정답 문서가 하나인12문항에서 첫 선택을 대조한11/12·12/12다. D07의 db-down 선택을 high-latency로 바꿨다.</a:t>
            </a:r>
          </a:p>
          <a:p xmlns:a="http://schemas.openxmlformats.org/drawingml/2006/main">
            <a:r>
              <a:t>4. 비율85%·75%·91.7%와 개선 후100%는 위 세 기준의 일치율이다. 원인 진단 전체와 자유 생성 답변의 의미 정확도를 측정한 수치는 아니다. 작은 교육용 평가 세트의 결과다.</a:t>
            </a:r>
          </a:p>
          <a:p xmlns:a="http://schemas.openxmlformats.org/drawingml/2006/main">
            <a:r>
              <a:t>5. 시간은 전후 모두 완료한 같은16문항의 중앙값35.9365초·4.454초를 소수 둘째 자리로 표시했다. UI·통신·워밍업·인덱스 구축은 제외하며 생성 설정·분기·출력 형식도 함께 달라 RAG 단독 효과로 해석하지 않는다.</a:t>
            </a:r>
          </a:p>
          <a:p xmlns:a="http://schemas.openxmlformats.org/drawingml/2006/main">
            <a:r>
              <a:t>6. 비율은 보존된40개 실행 기록을 집계한 presentation-metrics.json에서 읽는다. 기본 데이터 레이블로 표시하고 원시 건수는 본문에도 함께 적는다. 새 모델 평가를 실행한 것은 아니다.</a:t>
            </a:r>
          </a:p>
          <a:p xmlns:a="http://schemas.openxmlformats.org/drawingml/2006/main">
            <a:r>
              <a:t>7. 20건 측정 뒤 안내 문구·화면을 수정했다. 현재 전체 코드가 당시와 동일하다고 주장하지 않으며 전체 시간도 다시 측정하지 않았다.</a:t>
            </a:r>
          </a:p>
          <a:p xmlns:a="http://schemas.openxmlformats.org/drawingml/2006/main">
            <a:r>
              <a:t>8. 시각화 참고: https://www.nngroup.com/articles/choosing-chart-types/ 및 https://www.datawrapper.de/blog/text-in-data-visualizations . 비교 기준·단위·수치를 가깝게 두고 선택 결과에 강조색을 사용했다.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day2/scripts/build_evaluation_evidence.py; day1/evaluation/cases.json; day1/scripts/run_baseline.py; day2/results/comparison/summary.json; day1/results/baseline-ollama/results.json; day2/results/improved-ollama/results.json; day2/results/comparison/presentation-metrics.json; day2/scripts/build_presentation_metrics.py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문서 여섯 개와 모의 지표라 운영 성능으로 일반화할 수 없습니다. 검색은 지연·오검색을 더하고 원문 출력은 설명을 제한합니다. 다음은 실제 로그와 독립 질문으로 검증하겠습니다. 감사합니다.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문서 6개·모의 지표·관측한 시험 세트이므로 독립 질문과 실제 운영 자료가 필요하다.</a:t>
            </a:r>
          </a:p>
          <a:p xmlns:a="http://schemas.openxmlformats.org/drawingml/2006/main">
            <a:r>
              <a:t>2. 실제 로그·시계열·서비스 의존 관계 수집, 복합 장애 검색과 독립 평가가 다음 과제다. 자동 복구를 구현했다고 말하지 않는다.</a:t>
            </a:r>
          </a:p>
          <a:p xmlns:a="http://schemas.openxmlformats.org/drawingml/2006/main">
            <a:r>
              <a:t>3. 검색·임베딩은 처리 부담과 오검색을 더하고, 원문 출력은 자유로운 종합 설명을 제한한다.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294becb4cc457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2fb0d58b6842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fa31ba28d84ea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37250f8d364c8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7591af6d8d40a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e67f04af664b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6606C5-DB0E-4127-BAD6-5DAF7FE9AE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391AD9A-2CCD-436D-A800-158FEE8A5D9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A9C837E-70D5-458C-B057-6DF152C1FE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28CA47-4FBC-4941-8320-056C4ADDA1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FE6174E-BF0B-4F1B-8C2B-5927CC3C70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315903D-E8E3-4A98-BD87-61621F2E34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08C7F4-C74B-4F9A-8A7D-048BF62DB0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9EFF571-173A-4D61-BF4D-F03D1D2D980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EB267F-1EA6-4024-8E48-F3EEC3E549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1FC2117-D902-4D45-8986-3E46D28E7B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51b5f9d0c048f0" /><Relationship Type="http://schemas.openxmlformats.org/officeDocument/2006/relationships/slideLayout" Target="/ppt/slideLayouts/slideLayout1.xml" Id="R3f7d880a457946a3" /><Relationship Type="http://schemas.openxmlformats.org/officeDocument/2006/relationships/slideLayout" Target="/ppt/slideLayouts/slideLayout2.xml" Id="Ra7ac764e354448b3" /><Relationship Type="http://schemas.openxmlformats.org/officeDocument/2006/relationships/slideLayout" Target="/ppt/slideLayouts/slideLayout3.xml" Id="R931e19b5d6a74cd8" /><Relationship Type="http://schemas.openxmlformats.org/officeDocument/2006/relationships/slideLayout" Target="/ppt/slideLayouts/slideLayout4.xml" Id="R60143e4b37854145" /><Relationship Type="http://schemas.openxmlformats.org/officeDocument/2006/relationships/slideLayout" Target="/ppt/slideLayouts/slideLayout5.xml" Id="R05b289ce09b44bc4" /><Relationship Type="http://schemas.openxmlformats.org/officeDocument/2006/relationships/slideLayout" Target="/ppt/slideLayouts/slideLayout6.xml" Id="R2f9af27b407a4c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7d880a457946a3"/>
    <p:sldLayoutId xmlns:r="http://schemas.openxmlformats.org/officeDocument/2006/relationships" id="2147483650" r:id="Ra7ac764e354448b3"/>
    <p:sldLayoutId xmlns:r="http://schemas.openxmlformats.org/officeDocument/2006/relationships" id="2147483651" r:id="R931e19b5d6a74cd8"/>
    <p:sldLayoutId xmlns:r="http://schemas.openxmlformats.org/officeDocument/2006/relationships" id="2147483652" r:id="R60143e4b37854145"/>
    <p:sldLayoutId xmlns:r="http://schemas.openxmlformats.org/officeDocument/2006/relationships" id="2147483653" r:id="R05b289ce09b44bc4"/>
    <p:sldLayoutId xmlns:r="http://schemas.openxmlformats.org/officeDocument/2006/relationships" id="2147483654" r:id="R2f9af27b407a4c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ple SD Gothic Neo"/>
        <a:ea typeface=""/>
        <a:cs typeface=""/>
      </a:majorFont>
      <a:minorFont>
        <a:latin typeface="Apple SD Gothic Ne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a7f87164b24b1b" /><Relationship Type="http://schemas.openxmlformats.org/officeDocument/2006/relationships/notesSlide" Target="/ppt/notesSlides/notesSlide1.xml" Id="R17f3769ee16d48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1f8766a1344ee3" /><Relationship Type="http://schemas.openxmlformats.org/officeDocument/2006/relationships/notesSlide" Target="/ppt/notesSlides/notesSlide2.xml" Id="Rdaf8d1dc79314e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b85a3784a949fb" /><Relationship Type="http://schemas.openxmlformats.org/officeDocument/2006/relationships/notesSlide" Target="/ppt/notesSlides/notesSlide3.xml" Id="R15d517df3ac04b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0a695074e34570" /><Relationship Type="http://schemas.openxmlformats.org/officeDocument/2006/relationships/notesSlide" Target="/ppt/notesSlides/notesSlide4.xml" Id="Rea49aad6d8754a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701012e97446ef" /><Relationship Type="http://schemas.openxmlformats.org/officeDocument/2006/relationships/image" Target="/ppt/media/image.png" Id="R9cf47eb1606b4269" /><Relationship Type="http://schemas.openxmlformats.org/officeDocument/2006/relationships/notesSlide" Target="/ppt/notesSlides/notesSlide5.xml" Id="R5db54e31d0e142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ed62549e104e57" /><Relationship Type="http://schemas.openxmlformats.org/officeDocument/2006/relationships/image" Target="/ppt/media/image.jpeg" Id="Rc4b1f852cf2442be" /><Relationship Type="http://schemas.openxmlformats.org/officeDocument/2006/relationships/notesSlide" Target="/ppt/notesSlides/notesSlide6.xml" Id="Rd65b79a7485e4a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6d49fd8e8e4259" /><Relationship Type="http://schemas.openxmlformats.org/officeDocument/2006/relationships/image" Target="/ppt/media/image2.jpeg" Id="R1813c62d81074e09" /><Relationship Type="http://schemas.openxmlformats.org/officeDocument/2006/relationships/notesSlide" Target="/ppt/notesSlides/notesSlide7.xml" Id="Re81fc811d66849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2ea7c212d843ac" /><Relationship Type="http://schemas.openxmlformats.org/officeDocument/2006/relationships/image" Target="/ppt/media/image2.png" Id="R62eb9c5d792642fe" /><Relationship Type="http://schemas.openxmlformats.org/officeDocument/2006/relationships/notesSlide" Target="/ppt/notesSlides/notesSlide8.xml" Id="R6cfaa0e01a504f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50abed2077407b" /><Relationship Type="http://schemas.openxmlformats.org/officeDocument/2006/relationships/image" Target="/ppt/media/image3.jpeg" Id="Rcee0bd2bde0f4a50" /><Relationship Type="http://schemas.openxmlformats.org/officeDocument/2006/relationships/notesSlide" Target="/ppt/notesSlides/notesSlide9.xml" Id="R07aa27dfe39e46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bec99c743941ed" /><Relationship Type="http://schemas.openxmlformats.org/officeDocument/2006/relationships/image" Target="/ppt/media/image4.jpeg" Id="R911c72f6840f4067" /><Relationship Type="http://schemas.openxmlformats.org/officeDocument/2006/relationships/notesSlide" Target="/ppt/notesSlides/notesSlide10.xml" Id="Radcf1dc3abb743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a50bf6c7cc4619" /><Relationship Type="http://schemas.openxmlformats.org/officeDocument/2006/relationships/image" Target="/ppt/media/image3.png" Id="Re83792b745e443a7" /><Relationship Type="http://schemas.openxmlformats.org/officeDocument/2006/relationships/notesSlide" Target="/ppt/notesSlides/notesSlide11.xml" Id="R0ca28b9e767647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c2b360955a4d8a" /><Relationship Type="http://schemas.openxmlformats.org/officeDocument/2006/relationships/image" Target="/ppt/media/image5.jpeg" Id="R3000698f90534eaa" /><Relationship Type="http://schemas.openxmlformats.org/officeDocument/2006/relationships/notesSlide" Target="/ppt/notesSlides/notesSlide12.xml" Id="Rb79aaab744824e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e602cc30b04ad6" /><Relationship Type="http://schemas.openxmlformats.org/officeDocument/2006/relationships/image" Target="/ppt/media/image4.png" Id="R5b8727d4dd38478f" /><Relationship Type="http://schemas.openxmlformats.org/officeDocument/2006/relationships/notesSlide" Target="/ppt/notesSlides/notesSlide13.xml" Id="R1bd2aba0c54841e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ebac804cd14f20" /><Relationship Type="http://schemas.openxmlformats.org/officeDocument/2006/relationships/image" Target="/ppt/media/image6.jpeg" Id="R9b3ea42ec2774c7c" /><Relationship Type="http://schemas.openxmlformats.org/officeDocument/2006/relationships/notesSlide" Target="/ppt/notesSlides/notesSlide14.xml" Id="Rd8c2fa07d0ea493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b0ddc2f39b4d9b" /><Relationship Type="http://schemas.openxmlformats.org/officeDocument/2006/relationships/image" Target="/ppt/media/image5.png" Id="R837b54ed540340b3" /><Relationship Type="http://schemas.openxmlformats.org/officeDocument/2006/relationships/notesSlide" Target="/ppt/notesSlides/notesSlide15.xml" Id="R17929a983c30484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05883fafae46c4" /><Relationship Type="http://schemas.openxmlformats.org/officeDocument/2006/relationships/image" Target="/ppt/media/image7.jpeg" Id="R25e7a8e1972e42f4" /><Relationship Type="http://schemas.openxmlformats.org/officeDocument/2006/relationships/notesSlide" Target="/ppt/notesSlides/notesSlide16.xml" Id="R32dd98ceafd943b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fb51d4cd704d89" /><Relationship Type="http://schemas.openxmlformats.org/officeDocument/2006/relationships/image" Target="/ppt/media/image6.png" Id="R1a97bdf5ee054485" /><Relationship Type="http://schemas.openxmlformats.org/officeDocument/2006/relationships/notesSlide" Target="/ppt/notesSlides/notesSlide17.xml" Id="R50dab007f65f4e1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af1574648f4fcc" /><Relationship Type="http://schemas.openxmlformats.org/officeDocument/2006/relationships/image" Target="/ppt/media/image8.jpeg" Id="R0e7279b2874a4454" /><Relationship Type="http://schemas.openxmlformats.org/officeDocument/2006/relationships/notesSlide" Target="/ppt/notesSlides/notesSlide18.xml" Id="Rf726d6b5087241f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71f64191b44c21" /><Relationship Type="http://schemas.openxmlformats.org/officeDocument/2006/relationships/image" Target="/ppt/media/image7.png" Id="R5d7244ff76bb4209" /><Relationship Type="http://schemas.openxmlformats.org/officeDocument/2006/relationships/notesSlide" Target="/ppt/notesSlides/notesSlide19.xml" Id="Rcc9b9595c8b543d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eaa26e388b4072" /><Relationship Type="http://schemas.openxmlformats.org/officeDocument/2006/relationships/image" Target="/ppt/media/image9.jpeg" Id="Rcbd00fbeabe94605" /><Relationship Type="http://schemas.openxmlformats.org/officeDocument/2006/relationships/notesSlide" Target="/ppt/notesSlides/notesSlide20.xml" Id="R440f783936764d3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6592685ba6419e" /><Relationship Type="http://schemas.openxmlformats.org/officeDocument/2006/relationships/image" Target="/ppt/media/image10.jpeg" Id="R6bd83799a82d481a" /><Relationship Type="http://schemas.openxmlformats.org/officeDocument/2006/relationships/notesSlide" Target="/ppt/notesSlides/notesSlide21.xml" Id="R9c8874d0152b4ee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9bf883585a4667" /><Relationship Type="http://schemas.openxmlformats.org/officeDocument/2006/relationships/image" Target="/ppt/media/image11.jpeg" Id="Rf7b1150f0fa04c00" /><Relationship Type="http://schemas.openxmlformats.org/officeDocument/2006/relationships/notesSlide" Target="/ppt/notesSlides/notesSlide22.xml" Id="Re1d037965bee419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36b96f1b9c435d" /><Relationship Type="http://schemas.openxmlformats.org/officeDocument/2006/relationships/image" Target="/ppt/media/image12.jpeg" Id="Re7087e61fb564e08" /><Relationship Type="http://schemas.openxmlformats.org/officeDocument/2006/relationships/notesSlide" Target="/ppt/notesSlides/notesSlide23.xml" Id="R8ad28a21a68044c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0abfed53d04118" /><Relationship Type="http://schemas.openxmlformats.org/officeDocument/2006/relationships/chart" Target="/ppt/slides/charts/chart1.xml" Id="Rd0688365e5d04fa8" /><Relationship Type="http://schemas.openxmlformats.org/officeDocument/2006/relationships/notesSlide" Target="/ppt/notesSlides/notesSlide24.xml" Id="R66683ab4db634d0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d0d2d5c6c9418a" /><Relationship Type="http://schemas.openxmlformats.org/officeDocument/2006/relationships/notesSlide" Target="/ppt/notesSlides/notesSlide25.xml" Id="R080f2f145adb4a9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대상·매뉴얼 선택의 일치율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50" b="1">
              <a:solidFill>
                <a:srgbClr val="17191F"/>
              </a:solidFill>
              <a:latin typeface="Apple SD Gothic Neo"/>
              <a:ea typeface="Apple SD Gothic Neo"/>
              <a:cs typeface="Apple SD Gothic Neo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개선 전</c:v>
          </c:tx>
          <c:spPr>
            <a:solidFill xmlns:a="http://schemas.openxmlformats.org/drawingml/2006/main">
              <a:srgbClr val="AAB1C0"/>
            </a:solidFill>
            <a:ln xmlns:a="http://schemas.openxmlformats.org/drawingml/2006/main" w="0">
              <a:noFill/>
            </a:ln>
          </c:spPr>
          <c:invertIfNegative val="0"/>
          <c:cat>
            <c:strRef>
              <c:f>'Chart Data'!$A$2:$A$4</c:f>
              <c:strCache>
                <c:ptCount val="3"/>
                <c:pt idx="0">
                  <c:v>서비스 조회</c:v>
                </c:pt>
                <c:pt idx="1">
                  <c:v>조회 대상 일치</c:v>
                </c:pt>
                <c:pt idx="2">
                  <c:v>매뉴얼 선택</c:v>
                </c:pt>
              </c:strCache>
            </c:strRef>
          </c:cat>
          <c:val>
            <c:numRef>
              <c:f>'Chart Data'!$B$2:$B$4</c:f>
              <c:numCache>
                <c:formatCode>0.0%</c:formatCode>
                <c:ptCount val="3"/>
                <c:pt idx="0">
                  <c:v>0.85</c:v>
                </c:pt>
                <c:pt idx="1">
                  <c:v>0.75</c:v>
                </c:pt>
                <c:pt idx="2">
                  <c:v>0.9167</c:v>
                </c:pt>
              </c:numCache>
            </c:numRef>
          </c:val>
        </c:ser>
        <c:ser>
          <c:idx val="1"/>
          <c:order val="1"/>
          <c:tx>
            <c:v>개선 후</c:v>
          </c:tx>
          <c:spPr>
            <a:solidFill xmlns:a="http://schemas.openxmlformats.org/drawingml/2006/main">
              <a:srgbClr val="3155FF"/>
            </a:solidFill>
            <a:ln xmlns:a="http://schemas.openxmlformats.org/drawingml/2006/main" w="0">
              <a:noFill/>
            </a:ln>
          </c:spPr>
          <c:invertIfNegative val="0"/>
          <c:cat>
            <c:strRef>
              <c:f>'Chart Data'!$C$2:$C$4</c:f>
              <c:strCache>
                <c:ptCount val="3"/>
                <c:pt idx="0">
                  <c:v>서비스 조회</c:v>
                </c:pt>
                <c:pt idx="1">
                  <c:v>조회 대상 일치</c:v>
                </c:pt>
                <c:pt idx="2">
                  <c:v>매뉴얼 선택</c:v>
                </c:pt>
              </c:strCache>
            </c:strRef>
          </c:cat>
          <c:val>
            <c:numRef>
              <c:f>'Chart Data'!$D$2:$D$4</c:f>
              <c:numCache>
                <c:formatCode>0.0%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17191F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0E4E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1.1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BF2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191F"/>
              </a:solidFill>
              <a:latin typeface="Apple SD Gothic Neo"/>
              <a:ea typeface="Apple SD Gothic Neo"/>
              <a:cs typeface="Apple SD Gothic Neo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BBFA4-6909-410D-B840-5AAA419E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AI 서비스 개발 Mini-project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D692C6-A2E6-4331-9263-3264CE07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5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5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5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5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5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5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5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5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5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서비스 장애 진단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33577-B188-4EF5-8029-C16806A2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5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5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5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5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5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5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5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5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5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AI 에이전트 개선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2FD55-FAFC-4469-A2E9-320689DF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조사 누락과 근거 없는 답변을 줄이는 개선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8136F-F54A-4430-ADC5-84683589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실습 1  베이스 프로젝트 개선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AF8FC-92AD-4E20-A71D-999095C7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이진형</a:t>
            </a:r>
          </a:p>
        </p:txBody>
      </p:sp>
    </p:spTree>
    <p:extLst>
      <p:ext uri="{BB962C8B-B14F-4D97-AF65-F5344CB8AC3E}">
        <p14:creationId xmlns:p14="http://schemas.microsoft.com/office/powerpoint/2010/main" val="4214894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9C0D51-6AD3-4995-AAE7-64EC0671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실습 1: 기존 장애 진단 에이전트 개선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214D7-E270-4B7E-9502-881DE4DE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서비스 장애를 조사하는 AI 에이전트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D9048-8BD9-459B-B36D-470A8473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1277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서비스 이름과 증상을 입력하면 모니터링 지표와 대응 매뉴얼을 조회합니다.</a:t>
            </a:r>
          </a:p>
          <a:p xmlns:a="http://schemas.openxmlformats.org/drawingml/2006/main">
            <a:pPr>
              <a:defRPr sz="2100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확인한 상태와 대응 절차를 정리해 진단 보고서로 보여줍니다.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0FA0D-135C-49E0-83F1-267FC3E2ACC6}"/>
              </a:ext>
            </a:extLst>
          </p:cNvPr>
          <p:cNvGraphicFramePr/>
          <p:nvPr/>
        </p:nvGraphicFramePr>
        <p:xfrm>
          <a:off xmlns:a="http://schemas.openxmlformats.org/drawingml/2006/main" x="457200" y="2819400"/>
          <a:ext xmlns:a="http://schemas.openxmlformats.org/drawingml/2006/main" cx="112776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8562975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3155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구성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E0E4EC"/>
                      </a:solidFill>
                      <a:prstDash val="solid"/>
                    </a:lnL>
                    <a:lnR w="9525">
                      <a:solidFill>
                        <a:srgbClr val="E0E4EC"/>
                      </a:solidFill>
                      <a:prstDash val="solid"/>
                    </a:lnR>
                    <a:lnT w="9525">
                      <a:solidFill>
                        <a:srgbClr val="E0E4EC"/>
                      </a:solidFill>
                      <a:prstDash val="solid"/>
                    </a:lnT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3155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역할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E0E4EC"/>
                      </a:solidFill>
                      <a:prstDash val="solid"/>
                    </a:lnR>
                    <a:lnT w="9525">
                      <a:solidFill>
                        <a:srgbClr val="E0E4EC"/>
                      </a:solidFill>
                      <a:prstDash val="solid"/>
                    </a:lnT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</a:tr>
              <a:tr h="644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LLM·LangGraph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E0E4EC"/>
                      </a:solidFill>
                      <a:prstDash val="solid"/>
                    </a:lnL>
                    <a:lnR w="9525">
                      <a:solidFill>
                        <a:srgbClr val="E0E4EC"/>
                      </a:solidFill>
                      <a:prstDash val="solid"/>
                    </a:lnR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질문 분류·조사 계획·답변 작성·검증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E0E4EC"/>
                      </a:solidFill>
                      <a:prstDash val="solid"/>
                    </a:lnR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4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MCP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E0E4EC"/>
                      </a:solidFill>
                      <a:prstDash val="solid"/>
                    </a:lnL>
                    <a:lnR w="9525">
                      <a:solidFill>
                        <a:srgbClr val="E0E4EC"/>
                      </a:solidFill>
                      <a:prstDash val="solid"/>
                    </a:lnR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모니터링 지표·대응 매뉴얼 조회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E0E4EC"/>
                      </a:solidFill>
                      <a:prstDash val="solid"/>
                    </a:lnR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4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웹 채팅·SQLite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E0E4EC"/>
                      </a:solidFill>
                      <a:prstDash val="solid"/>
                    </a:lnL>
                    <a:lnR w="9525">
                      <a:solidFill>
                        <a:srgbClr val="E0E4EC"/>
                      </a:solidFill>
                      <a:prstDash val="solid"/>
                    </a:lnR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진행 상태·최종 답변 표시, 대화 이력 저장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E0E4EC"/>
                      </a:solidFill>
                      <a:prstDash val="solid"/>
                    </a:lnR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4C354-9D8D-4547-8BC5-F7987A3D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1277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기존 구조를 활용해 조사 대상과 답변의 신뢰성을 개선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4E75A-1A9B-4D8F-9B25-CE2EF605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517762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03E9CF-7956-4492-BF07-6B9E582F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개선 4개와 추가 기능 3개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0F44E-AB42-499C-94C7-D80128E8E5E1}"/>
              </a:ext>
            </a:extLst>
          </p:cNvPr>
          <p:cNvGraphicFramePr/>
          <p:nvPr/>
        </p:nvGraphicFramePr>
        <p:xfrm>
          <a:off xmlns:a="http://schemas.openxmlformats.org/drawingml/2006/main" x="457200" y="1085850"/>
          <a:ext xmlns:a="http://schemas.openxmlformats.org/drawingml/2006/main" cx="112776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42010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3155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개선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E0E4EC"/>
                      </a:solidFill>
                      <a:prstDash val="solid"/>
                    </a:lnL>
                    <a:lnR w="9525">
                      <a:solidFill>
                        <a:srgbClr val="E0E4EC"/>
                      </a:solidFill>
                      <a:prstDash val="solid"/>
                    </a:lnR>
                    <a:lnT w="9525">
                      <a:solidFill>
                        <a:srgbClr val="E0E4EC"/>
                      </a:solidFill>
                      <a:prstDash val="solid"/>
                    </a:lnT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3155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바꾼 동작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E0E4EC"/>
                      </a:solidFill>
                      <a:prstDash val="solid"/>
                    </a:lnR>
                    <a:lnT w="9525">
                      <a:solidFill>
                        <a:srgbClr val="E0E4EC"/>
                      </a:solidFill>
                      <a:prstDash val="solid"/>
                    </a:lnT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</a:tr>
              <a:tr h="7096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누락 방지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E0E4EC"/>
                      </a:solidFill>
                      <a:prstDash val="solid"/>
                    </a:lnL>
                    <a:lnR w="9525">
                      <a:solidFill>
                        <a:srgbClr val="E0E4EC"/>
                      </a:solidFill>
                      <a:prstDash val="solid"/>
                    </a:lnR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요청한 서비스를 빠짐없이 각각 조회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E0E4EC"/>
                      </a:solidFill>
                      <a:prstDash val="solid"/>
                    </a:lnR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96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대상 확인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E0E4EC"/>
                      </a:solidFill>
                      <a:prstDash val="solid"/>
                    </a:lnL>
                    <a:lnR w="9525">
                      <a:solidFill>
                        <a:srgbClr val="E0E4EC"/>
                      </a:solidFill>
                      <a:prstDash val="solid"/>
                    </a:lnR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미등록이거나 이름이 없으면 대상부터 확인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E0E4EC"/>
                      </a:solidFill>
                      <a:prstDash val="solid"/>
                    </a:lnR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96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매뉴얼 선택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E0E4EC"/>
                      </a:solidFill>
                      <a:prstDash val="solid"/>
                    </a:lnL>
                    <a:lnR w="9525">
                      <a:solidFill>
                        <a:srgbClr val="E0E4EC"/>
                      </a:solidFill>
                      <a:prstDash val="solid"/>
                    </a:lnR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서비스 상태와 알림에 맞는 매뉴얼 연결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E0E4EC"/>
                      </a:solidFill>
                      <a:prstDash val="solid"/>
                    </a:lnR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96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답변 검증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E0E4EC"/>
                      </a:solidFill>
                      <a:prstDash val="solid"/>
                    </a:lnL>
                    <a:lnR w="9525">
                      <a:solidFill>
                        <a:srgbClr val="E0E4EC"/>
                      </a:solidFill>
                      <a:prstDash val="solid"/>
                    </a:lnR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서비스·수치·절차를 수집 근거와 대조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E0E4EC"/>
                      </a:solidFill>
                      <a:prstDash val="solid"/>
                    </a:lnR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FA27EE-5F25-4C5F-AD45-6DFE30C6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1127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추가 기능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666657-A5DE-4B2E-A98D-556D2A3D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358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1. RAG 매뉴얼 검색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6614C-C169-4C0C-9C49-F4A03A33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67350"/>
            <a:ext cx="358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2. 답변 근거 표시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CEC0F-C104-46B5-BBD6-AA4B5C71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67350"/>
            <a:ext cx="358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3. 회귀 테스트·전후 비교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BE8F3-4639-4C38-B2D7-7D2E2600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552074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2472F-62FE-472A-836B-F3538510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사용 기술과 적용 방법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E80F8-21A1-4F44-8552-4F74E85135A0}"/>
              </a:ext>
            </a:extLst>
          </p:cNvPr>
          <p:cNvGraphicFramePr/>
          <p:nvPr/>
        </p:nvGraphicFramePr>
        <p:xfrm>
          <a:off xmlns:a="http://schemas.openxmlformats.org/drawingml/2006/main" x="457200" y="1123950"/>
          <a:ext xmlns:a="http://schemas.openxmlformats.org/drawingml/2006/main" cx="112776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89635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3155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기술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E0E4EC"/>
                      </a:solidFill>
                      <a:prstDash val="solid"/>
                    </a:lnL>
                    <a:lnR w="9525">
                      <a:solidFill>
                        <a:srgbClr val="E0E4EC"/>
                      </a:solidFill>
                      <a:prstDash val="solid"/>
                    </a:lnR>
                    <a:lnT w="9525">
                      <a:solidFill>
                        <a:srgbClr val="E0E4EC"/>
                      </a:solidFill>
                      <a:prstDash val="solid"/>
                    </a:lnT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3155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적용한 내용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E0E4EC"/>
                      </a:solidFill>
                      <a:prstDash val="solid"/>
                    </a:lnR>
                    <a:lnT w="9525">
                      <a:solidFill>
                        <a:srgbClr val="E0E4EC"/>
                      </a:solidFill>
                      <a:prstDash val="solid"/>
                    </a:lnT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</a:tr>
              <a:tr h="85344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MCP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E0E4EC"/>
                      </a:solidFill>
                      <a:prstDash val="solid"/>
                    </a:lnL>
                    <a:lnR w="9525">
                      <a:solidFill>
                        <a:srgbClr val="E0E4EC"/>
                      </a:solidFill>
                      <a:prstDash val="solid"/>
                    </a:lnR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매뉴얼 검색 Tool을 추가하고</a:t>
                      </a:r>
                    </a:p>
                    <a:p>
                      <a:r>
                        <a:rPr sz="2025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기존 모니터링·매뉴얼 원문 조회와 연결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E0E4EC"/>
                      </a:solidFill>
                      <a:prstDash val="solid"/>
                    </a:lnR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RAG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E0E4EC"/>
                      </a:solidFill>
                      <a:prstDash val="solid"/>
                    </a:lnL>
                    <a:lnR w="9525">
                      <a:solidFill>
                        <a:srgbClr val="E0E4EC"/>
                      </a:solidFill>
                      <a:prstDash val="solid"/>
                    </a:lnR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bge-m3로 문서를 벡터화하고</a:t>
                      </a:r>
                    </a:p>
                    <a:p>
                      <a:r>
                        <a:rPr sz="2025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서비스별 증상과 유사한 매뉴얼 검색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E0E4EC"/>
                      </a:solidFill>
                      <a:prstDash val="solid"/>
                    </a:lnR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LangGraph</a:t>
                      </a:r>
                    </a:p>
                    <a:p>
                      <a:r>
                        <a:rPr sz="2025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모듈화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E0E4EC"/>
                      </a:solidFill>
                      <a:prstDash val="solid"/>
                    </a:lnL>
                    <a:lnR w="9525">
                      <a:solidFill>
                        <a:srgbClr val="E0E4EC"/>
                      </a:solidFill>
                      <a:prstDash val="solid"/>
                    </a:lnR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대상 확인·수집·검색·검증을 분리하고</a:t>
                      </a:r>
                    </a:p>
                    <a:p>
                      <a:r>
                        <a:rPr sz="2025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서비스 상태에 따라 처리 흐름 연결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E0E4EC"/>
                      </a:solidFill>
                      <a:prstDash val="solid"/>
                    </a:lnR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의존성 주입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E0E4EC"/>
                      </a:solidFill>
                      <a:prstDash val="solid"/>
                    </a:lnL>
                    <a:lnR w="9525">
                      <a:solidFill>
                        <a:srgbClr val="E0E4EC"/>
                      </a:solidFill>
                      <a:prstDash val="solid"/>
                    </a:lnR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검색기를 주입해</a:t>
                      </a:r>
                    </a:p>
                    <a:p>
                      <a:r>
                        <a:rPr sz="2025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실제 MCP 검색과 고정 평가용 검색 교체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E0E4EC"/>
                      </a:solidFill>
                      <a:prstDash val="solid"/>
                    </a:lnR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단위 테스트</a:t>
                      </a:r>
                    </a:p>
                    <a:p>
                      <a:r>
                        <a:rPr sz="2025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전후 평가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E0E4EC"/>
                      </a:solidFill>
                      <a:prstDash val="solid"/>
                    </a:lnL>
                    <a:lnR w="9525">
                      <a:solidFill>
                        <a:srgbClr val="E0E4EC"/>
                      </a:solidFill>
                      <a:prstDash val="solid"/>
                    </a:lnR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핵심 분기 31개를 시험하고</a:t>
                      </a:r>
                    </a:p>
                    <a:p>
                      <a:r>
                        <a:rPr sz="2025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질문 20개로 전후 결과 비교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E0E4EC"/>
                      </a:solidFill>
                      <a:prstDash val="solid"/>
                    </a:lnR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EEB48-56CE-410D-A479-DF62919E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0839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기존 구조를 활용하고 검색·대상 확인·답변 검증을 개선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3E9D2-34BC-4E6E-91AE-3E6E17FB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597219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22598-0ADA-45AF-AA3C-EAB247C7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개선 1 전: cache 조회 없이 공통 원인을 추정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8708A-522F-4319-B960-78CFE5121C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47eb1606b4269"/>
          <a:stretch xmlns:a="http://schemas.openxmlformats.org/drawingml/2006/main"/>
        </p:blipFill>
        <p:spPr>
          <a:xfrm xmlns:a="http://schemas.openxmlformats.org/drawingml/2006/main">
            <a:off x="941414" y="990600"/>
            <a:ext cx="5946721" cy="5295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8315D-A074-4EC3-B00D-01B9515B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4302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두 서비스를 요청했지만</a:t>
            </a:r>
          </a:p>
          <a:p xmlns:a="http://schemas.openxmlformats.org/drawingml/2006/main">
            <a: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payments만 조회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AF456-802C-48ED-8C2E-11EC81CF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14675"/>
            <a:ext cx="381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cache 지표와</a:t>
            </a:r>
          </a:p>
          <a:p xmlns:a="http://schemas.openxmlformats.org/drawingml/2006/main">
            <a: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공유 리소스 정보가 없음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27A8B-FF36-4368-B2A3-2D354AEC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10150"/>
            <a:ext cx="3810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rPr>
              <a:t>“트래픽 급증 또는</a:t>
            </a:r>
          </a:p>
          <a:p xmlns:a="http://schemas.openxmlformats.org/drawingml/2006/main">
            <a: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rPr>
              <a:t>특정 요청 패턴”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32043-378E-463D-B409-6AFC0BFC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203397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9754C-BFD1-4164-A912-3539EDC0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개선 1 후: 두 서비스를 빠짐없이 조사 1/2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608E4-8C9B-4486-A721-79F803A7B0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1f852cf2442be"/>
          <a:stretch xmlns:a="http://schemas.openxmlformats.org/drawingml/2006/main"/>
        </p:blipFill>
        <p:spPr>
          <a:xfrm xmlns:a="http://schemas.openxmlformats.org/drawingml/2006/main">
            <a:off x="1932960" y="895350"/>
            <a:ext cx="8326081" cy="46863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11229A-B20B-4C4C-B018-470A96D5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1. 요청문에서 등록된 서비스 이름을 모두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BB15B-D85E-44DB-A8EE-E9483C5E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3885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2. 서비스마다 조회 작업을 구성해 누락 방지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74EC6-CF56-498E-B0E4-DCEE64F6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3. 각 서비스의 모니터링 결과를 따로 수집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15E5E-F44D-47C8-920B-A85D60BC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970754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C5CE6-5C0B-424A-A431-ABD9B5D6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개선 1 후: 공통 원인은 미확인으로 표시 2/2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54A07-F60D-48AF-901C-5A60E9E2A5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13c62d81074e09"/>
          <a:stretch xmlns:a="http://schemas.openxmlformats.org/drawingml/2006/main"/>
        </p:blipFill>
        <p:spPr>
          <a:xfrm xmlns:a="http://schemas.openxmlformats.org/drawingml/2006/main">
            <a:off x="1306811" y="895350"/>
            <a:ext cx="9578377" cy="53911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3DB9B-24B8-4AAC-A463-4E539A19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3175"/>
            <a:ext cx="10839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서비스별 결과는 제시하고, 확인하지 못한 공통 원인은 단정하지 않음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22E8F-D0CD-4BF6-950D-CC73D24A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088665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1C6F7-2840-46F3-8B59-55E28936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개선 1 전: gateway만 조회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7036E-DCF1-45AD-A9E7-5EEB79DB8E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b9c5d792642fe"/>
          <a:stretch xmlns:a="http://schemas.openxmlformats.org/drawingml/2006/main"/>
        </p:blipFill>
        <p:spPr>
          <a:xfrm xmlns:a="http://schemas.openxmlformats.org/drawingml/2006/main">
            <a:off x="616874" y="990600"/>
            <a:ext cx="6595803" cy="5295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0B8DD6-8582-4DDF-BFB1-F9369128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4302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gateway만 조회</a:t>
            </a:r>
          </a:p>
          <a:p xmlns:a="http://schemas.openxmlformats.org/drawingml/2006/main">
            <a: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payments는 확인하지 않음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32C87-878B-4FC6-8D32-0B07D373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14675"/>
            <a:ext cx="381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연결된 두 서비스 중</a:t>
            </a:r>
          </a:p>
          <a:p xmlns:a="http://schemas.openxmlformats.org/drawingml/2006/main">
            <a: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한쪽의 상태를 모름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BC2001-4E49-491F-A676-864CD765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10150"/>
            <a:ext cx="3810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rPr>
              <a:t>수집된 사실: 모니터링 gateway-service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8896A-8977-4D38-8CF8-EBC8EF87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142984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CD291-2818-46A1-8C33-DC1E75E6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개선 1 후: 요청을 주고받는 양쪽을 조사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83945-C1A2-4EA2-9A2E-50E7D26B88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e0bd2bde0f4a50"/>
          <a:stretch xmlns:a="http://schemas.openxmlformats.org/drawingml/2006/main"/>
        </p:blipFill>
        <p:spPr>
          <a:xfrm xmlns:a="http://schemas.openxmlformats.org/drawingml/2006/main">
            <a:off x="1306811" y="895350"/>
            <a:ext cx="9578377" cy="53911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CD93E-C1E9-44B1-9389-F1F4CA31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3175"/>
            <a:ext cx="10839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질문에 나온 두 서비스의 조회 작업을 각각 구성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27B74-961E-4371-8680-01A94211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906835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85053-AE93-4784-ABA0-75CF83DC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개선 1 후: 두 서비스의 결과와 근거를 함께 제시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05E8A-75DD-474B-A294-767B098737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1c72f6840f4067"/>
          <a:stretch xmlns:a="http://schemas.openxmlformats.org/drawingml/2006/main"/>
        </p:blipFill>
        <p:spPr>
          <a:xfrm xmlns:a="http://schemas.openxmlformats.org/drawingml/2006/main">
            <a:off x="1306811" y="895350"/>
            <a:ext cx="9578377" cy="53911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2F661-EAF3-46BD-8F4C-8C377E81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3175"/>
            <a:ext cx="10839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두 서비스의 조회 결과와 참고 매뉴얼을 각각 제시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D0A29-F593-452E-88C4-5AE11DB4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962978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686B7-C6C7-4F99-92AC-B56D47F2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개선 2 전: billing을 물었는데 auth를 조회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ECC89-E3A6-449E-BE06-C6D99BDEF4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3792b745e443a7"/>
          <a:stretch xmlns:a="http://schemas.openxmlformats.org/drawingml/2006/main"/>
        </p:blipFill>
        <p:spPr>
          <a:xfrm xmlns:a="http://schemas.openxmlformats.org/drawingml/2006/main">
            <a:off x="457200" y="1039336"/>
            <a:ext cx="11277600" cy="386492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B8C42-3887-47BF-A423-81E5ADA6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72075"/>
            <a:ext cx="5334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요청: billing-service</a:t>
            </a:r>
          </a:p>
          <a:p xmlns:a="http://schemas.openxmlformats.org/drawingml/2006/main">
            <a:pPr>
              <a:defRPr sz="21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실제 조회: auth-service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3B6D1-B3D6-4A13-A684-C9DBB9B4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72075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미등록 이름을 auth로 대체해</a:t>
            </a:r>
          </a:p>
          <a:p xmlns:a="http://schemas.openxmlformats.org/drawingml/2006/main">
            <a:pPr>
              <a:defRPr sz="19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요청과 다른 대상을 조사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87C6F-B00D-4A30-A938-16274EF1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386017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2F749-BE00-440F-B6F1-40501419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개선 2 후: 미등록 서비스는 이름부터 확인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8BA12-A1EE-42E0-8146-BD7FB2D2E6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0698f90534eaa"/>
          <a:stretch xmlns:a="http://schemas.openxmlformats.org/drawingml/2006/main"/>
        </p:blipFill>
        <p:spPr>
          <a:xfrm xmlns:a="http://schemas.openxmlformats.org/drawingml/2006/main">
            <a:off x="1932960" y="895350"/>
            <a:ext cx="8326081" cy="46863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34A45-069A-4AB3-A784-9C069E12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1. 입력한 서비스 이름을 등록 목록과 대조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597DD-84C5-4119-804C-224C9108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3885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2. 미등록이면 다른 서비스를 조회하지 않음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C3582-6EC6-4CA8-AFE1-6C27E595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3. 등록된 서비스 이름을 다시 확인하도록 안내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71FA8-0BBB-4448-9C0A-F7B467D0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936671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6177A-A384-42F7-9F4C-E276D1E6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개선 2 전: 서비스 이름 없이 auth를 조회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1B0F7-EB91-4F89-A280-8DC58192DC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8727d4dd38478f"/>
          <a:stretch xmlns:a="http://schemas.openxmlformats.org/drawingml/2006/main"/>
        </p:blipFill>
        <p:spPr>
          <a:xfrm xmlns:a="http://schemas.openxmlformats.org/drawingml/2006/main">
            <a:off x="457200" y="1004094"/>
            <a:ext cx="11277600" cy="393541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4199C-1C41-42FD-8ABB-4A30786B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72075"/>
            <a:ext cx="5334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서비스 이름이 없는데</a:t>
            </a:r>
          </a:p>
          <a:p xmlns:a="http://schemas.openxmlformats.org/drawingml/2006/main">
            <a:pPr>
              <a:defRPr sz="21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auth-service로 조회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9019B-D85A-4E4B-B876-B108EFE1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72075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대상을 임의로 정하던 처리를</a:t>
            </a:r>
          </a:p>
          <a:p xmlns:a="http://schemas.openxmlformats.org/drawingml/2006/main">
            <a:pPr>
              <a:defRPr sz="19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이름 확인 요청으로 변경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4CB0E-43E1-45A7-BC7E-4DC617B9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864871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C2587-D113-4104-A1CA-E57A18E9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개선 2 후: 서비스 이름을 먼저 확인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13D178-A76F-4FCD-AB0B-FD34CF0063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ea42ec2774c7c"/>
          <a:stretch xmlns:a="http://schemas.openxmlformats.org/drawingml/2006/main"/>
        </p:blipFill>
        <p:spPr>
          <a:xfrm xmlns:a="http://schemas.openxmlformats.org/drawingml/2006/main">
            <a:off x="1932960" y="895350"/>
            <a:ext cx="8326081" cy="46863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996E2-24A5-4ACD-9625-114FA365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1. 장애 요청에 서비스 이름이 있는지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08CAD-D568-4F03-9669-C2B31D22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3885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2. auth를 기본 대상으로 쓰던 처리 제거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2BC2F-1E77-42E9-B95A-771EFE9A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3. 조사할 서비스 이름을 먼저 질문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1E553-8C90-4D80-AD6E-ED4B89DE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146909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1633F-E6A2-4A78-A273-DD241D20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개선 3 전: 정상인 web에 DB 장애 매뉴얼 연결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65367-32F2-42DF-A5E2-03419EF261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b54ed540340b3"/>
          <a:stretch xmlns:a="http://schemas.openxmlformats.org/drawingml/2006/main"/>
        </p:blipFill>
        <p:spPr>
          <a:xfrm xmlns:a="http://schemas.openxmlformats.org/drawingml/2006/main">
            <a:off x="304800" y="1016529"/>
            <a:ext cx="7219950" cy="524404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26087-6AE8-41DB-9F11-5A4FAE2C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4302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web-01은 정상·알림 0건</a:t>
            </a:r>
          </a:p>
          <a:p xmlns:a="http://schemas.openxmlformats.org/drawingml/2006/main">
            <a: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선택 문서는 db-down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D72D7-8E5E-4EEA-A0BE-B9C722E8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14675"/>
            <a:ext cx="381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정상 서비스에 장애 절차를 제시</a:t>
            </a:r>
          </a:p>
          <a:p xmlns:a="http://schemas.openxmlformats.org/drawingml/2006/main">
            <a: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auth 조회도 누락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06CC4-3814-4CD1-8186-E6CA13D9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10150"/>
            <a:ext cx="3810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rPr>
              <a:t>“DB Down 대응 절차”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BF18B-C6F6-4DDE-9E1E-B67411F1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228672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E3A07-D5AD-42CB-AF71-3B5E7F06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개선 3 후: 서비스별 상태에 맞는 매뉴얼 선택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A89C5-7DCF-4339-A16A-2696F78F83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e7a8e1972e42f4"/>
          <a:stretch xmlns:a="http://schemas.openxmlformats.org/drawingml/2006/main"/>
        </p:blipFill>
        <p:spPr>
          <a:xfrm xmlns:a="http://schemas.openxmlformats.org/drawingml/2006/main">
            <a:off x="1932960" y="895350"/>
            <a:ext cx="8326081" cy="46863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EB9DD2-38C5-484C-8522-6F88744B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1. 상태와 활성 알림으로 정상·장애·정보 부족 분류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5F9FF-7D41-4C03-A984-04AA494D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3885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2. 정상·정보 부족 서비스는 장애 매뉴얼 검색 생략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FE015-07CF-4C73-86B3-40075706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3. 해당 서비스에서 확인한 알림으로 매뉴얼 검색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4309E-1865-4655-9044-AF02F612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5120460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38B38-B9AD-49EE-9087-CF82ADA0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개선 4 전: 조회하지 않은 로그를 분석한 것처럼 답변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9D66B-A274-4D2C-A0A0-2BC735C018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97bdf5ee054485"/>
          <a:stretch xmlns:a="http://schemas.openxmlformats.org/drawingml/2006/main"/>
        </p:blipFill>
        <p:spPr>
          <a:xfrm xmlns:a="http://schemas.openxmlformats.org/drawingml/2006/main">
            <a:off x="522421" y="990600"/>
            <a:ext cx="6784707" cy="5295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6273F-CCD5-4C2B-BB9C-7A14E69F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4302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로그를 조회하지 않고</a:t>
            </a:r>
          </a:p>
          <a:p xmlns:a="http://schemas.openxmlformats.org/drawingml/2006/main">
            <a: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분석 결과처럼 답변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B67F5-F2D9-43E4-83EE-B633C00D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14675"/>
            <a:ext cx="381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수집한 자료는 지표·매뉴얼</a:t>
            </a:r>
          </a:p>
          <a:p xmlns:a="http://schemas.openxmlformats.org/drawingml/2006/main">
            <a: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로그 분석 근거는 없음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7A0F98-7083-4136-8AB3-AB29C4A2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10150"/>
            <a:ext cx="3810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rPr>
              <a:t>“로그 분석 결과</a:t>
            </a:r>
          </a:p>
          <a:p xmlns:a="http://schemas.openxmlformats.org/drawingml/2006/main">
            <a: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rPr>
              <a:t>특이 패턴 없음.”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5936E-8190-40F3-B5DB-C399F6B3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8129241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80A1F2-C928-49DF-8506-62AF3F69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개선 4 후: 수치와 절차를 검증한 뒤 답변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D48A5-A235-4B41-A947-DE031A1E80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279b2874a4454"/>
          <a:stretch xmlns:a="http://schemas.openxmlformats.org/drawingml/2006/main"/>
        </p:blipFill>
        <p:spPr>
          <a:xfrm xmlns:a="http://schemas.openxmlformats.org/drawingml/2006/main">
            <a:off x="1932960" y="895350"/>
            <a:ext cx="8326081" cy="46863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DB0DA-9266-4600-BD35-EE6AAA1D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1. 모델이 고른 서비스·수치·문서·절차 번호를 JSON으로 받음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E06E5-570F-4F85-82FD-1F5F51BF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3885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2. 조회 결과와 대조해 다른 대상·수치·문서를 걸러냄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D2179-5374-40F4-B39C-91EDAE32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3. 검증된 매뉴얼의 절차와 조치 조건을 원문으로 표시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2B0EA-3E07-4066-9B3C-658EEEEE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3284001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CA2DD-0E8A-4968-98EA-E29ED48F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대화 개선 전: 사용자 이름을 자기소개에 사용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93B42-6349-4D73-B1F8-A0FFF6213A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7244ff76bb4209"/>
          <a:stretch xmlns:a="http://schemas.openxmlformats.org/drawingml/2006/main"/>
        </p:blipFill>
        <p:spPr>
          <a:xfrm xmlns:a="http://schemas.openxmlformats.org/drawingml/2006/main">
            <a:off x="974680" y="990600"/>
            <a:ext cx="5880189" cy="5295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97343-F4B5-4A87-9EBB-393DC4B4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4302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사용자 이름 민수를</a:t>
            </a:r>
          </a:p>
          <a:p xmlns:a="http://schemas.openxmlformats.org/drawingml/2006/main">
            <a:pPr>
              <a:def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비서 자신의 이름처럼 답변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2F7B5-C3CD-448F-873E-FBD522B9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14675"/>
            <a:ext cx="381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사용자와 비서의 발화를 구분해</a:t>
            </a:r>
          </a:p>
          <a:p xmlns:a="http://schemas.openxmlformats.org/drawingml/2006/main">
            <a:pPr>
              <a:def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이름을 읽어야 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B51D0-C9C9-4EE4-820F-34A5118C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10150"/>
            <a:ext cx="3810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BD4826"/>
                </a:solidFill>
                <a:latin typeface="Apple SD Gothic Neo"/>
                <a:ea typeface="Apple SD Gothic Neo"/>
                <a:cs typeface="Apple SD Gothic Neo"/>
              </a:rPr>
              <a:t>“민수라는 이름으로…”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4FECB-3CAA-49D1-ADA8-6A140EA2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389178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C14C0-075F-4A41-8C2C-DA69D2DF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대화 개선 후: 사용자가 밝힌 이름으로 답변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F7D87C-C49D-4F78-963C-685A5C1D89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00fbeabe94605"/>
          <a:stretch xmlns:a="http://schemas.openxmlformats.org/drawingml/2006/main"/>
        </p:blipFill>
        <p:spPr>
          <a:xfrm xmlns:a="http://schemas.openxmlformats.org/drawingml/2006/main">
            <a:off x="1932960" y="895350"/>
            <a:ext cx="8326081" cy="46863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987B5-E541-418D-8D8A-F51DCBDA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1. 사용자가 직접 밝힌 이름만 읽고, 질문·비서 발화는 제외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ACE0E-7905-4FB3-965C-9D98ED06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3885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2. 같은 대화 이력에서 가장 최근에 밝힌 이름을 사용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EB46D-BD0E-463F-A639-C7BB7037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70252315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AEC17-2939-4EE0-A637-C09E0E58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추가 1: 증상에 맞는 매뉴얼을 RAG로 검색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02D2E-746E-4D0D-B5D1-D0C4CE09E1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83799a82d481a"/>
          <a:stretch xmlns:a="http://schemas.openxmlformats.org/drawingml/2006/main"/>
        </p:blipFill>
        <p:spPr>
          <a:xfrm xmlns:a="http://schemas.openxmlformats.org/drawingml/2006/main">
            <a:off x="304800" y="1445857"/>
            <a:ext cx="7791450" cy="438538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14FA3A-AD05-49A8-9199-FE45653D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10490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구현 방식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6BF73-B012-4360-86CD-48A703B2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097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1. 알림·문서를 bge-m3로 벡터화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D1D98-65E3-4F21-9622-1B692ECD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860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2. SQLite에서 유사한 문서 검색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430D1-0604-44F2-B604-55794E66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623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3. MCP로 매뉴얼 원문 조회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D2D4F-4014-4D08-86A3-267D7ACB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772025"/>
            <a:ext cx="32956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log-service</a:t>
            </a:r>
          </a:p>
          <a:p xmlns:a="http://schemas.openxmlformats.org/drawingml/2006/main">
            <a:pPr>
              <a:defRPr sz="19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디스크 공간 부족</a:t>
            </a:r>
          </a:p>
          <a:p xmlns:a="http://schemas.openxmlformats.org/drawingml/2006/main">
            <a:pPr>
              <a:defRPr sz="19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유사도 0.673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523E9-57DF-4F47-8B84-81008F47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3175"/>
            <a:ext cx="10839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검색기를 분리해 교체할 수 있게 하고, 단위 테스트로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F5625-5B9D-4118-8639-379F6242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55292105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1A723C-7C36-4717-BB64-CA846E23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추가 2: 답변에 사용한 근거를 함께 표시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FE01A-D85A-451B-B2D6-58CED5CD96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1150f0fa04c00"/>
          <a:stretch xmlns:a="http://schemas.openxmlformats.org/drawingml/2006/main"/>
        </p:blipFill>
        <p:spPr>
          <a:xfrm xmlns:a="http://schemas.openxmlformats.org/drawingml/2006/main">
            <a:off x="304800" y="1445857"/>
            <a:ext cx="7791450" cy="438538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06027-9F2E-4B49-9B3C-2B30E384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10490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구현 방식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4403B-DF9F-4277-84AC-0A076E06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097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1. 조회한 근거를</a:t>
            </a:r>
          </a:p>
          <a:p xmlns:a="http://schemas.openxmlformats.org/drawingml/2006/main">
            <a: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답변과 함께 전송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400E3-038F-4F80-9624-8ADE6173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860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2. 서비스·수치·매뉴얼을</a:t>
            </a:r>
          </a:p>
          <a:p xmlns:a="http://schemas.openxmlformats.org/drawingml/2006/main">
            <a: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표로 표시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FBBA1-6964-40DF-A788-719A55BF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623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3. 미확인 사항과</a:t>
            </a:r>
          </a:p>
          <a:p xmlns:a="http://schemas.openxmlformats.org/drawingml/2006/main">
            <a:pPr>
              <a:def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조치 미실행 표시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21FB1-41EC-4D33-95BE-93097195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772025"/>
            <a:ext cx="32956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web: 매뉴얼 없음</a:t>
            </a:r>
          </a:p>
          <a:p xmlns:a="http://schemas.openxmlformats.org/drawingml/2006/main">
            <a:pPr>
              <a:defRPr sz="19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auth: 지연 매뉴얼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2AC98-BC1A-467A-8CBE-5FC51144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75737773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0BB041-ADBF-4E9D-9BA4-AE65825F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추가 3: 같은 질문으로 전후 결과를 자동 비교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FA27AB-A4D9-4E35-B3DD-CE8DD30680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087e61fb564e08"/>
          <a:stretch xmlns:a="http://schemas.openxmlformats.org/drawingml/2006/main"/>
        </p:blipFill>
        <p:spPr>
          <a:xfrm xmlns:a="http://schemas.openxmlformats.org/drawingml/2006/main">
            <a:off x="1303867" y="895350"/>
            <a:ext cx="9584267" cy="53911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6EDA3-CAEE-49F0-88E3-DB6B9450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3175"/>
            <a:ext cx="10839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고정 질문 20개로 전후 비교, 단위 테스트 31개로 핵심 분기 점검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2857F-9C7D-4BD3-96C8-312C9F70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0243625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19B30B-B3F4-4090-B5F7-F5B41354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정확성 평가: 조사 대상과 매뉴얼 선택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BA5293C3-1B4C-41D9-AE75-9FC18B553DD7}"/>
              </a:ext>
            </a:extLst>
          </p:cNvPr>
          <p:cNvGraphicFramePr/>
          <p:nvPr/>
        </p:nvGraphicFramePr>
        <p:xfrm>
          <a:off xmlns:a="http://schemas.openxmlformats.org/drawingml/2006/main" x="457200" y="1066800"/>
          <a:ext xmlns:a="http://schemas.openxmlformats.org/drawingml/2006/main" cx="1127760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0688365e5d04fa8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9AFEC-439F-43EA-BEB1-A6B9006C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62475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17/20에서 20/20건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F43AB-FB00-4489-B7AC-FD7FB249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62475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15/20에서 20/20문항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99FA9-A424-4A7E-ACCD-5BA82932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62475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11/12에서 12/12문항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09F11-9D81-45A8-9614-CF163952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43475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조회 누락 3건 해소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FE0D4-39AF-4402-AAC5-FE3AA59F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943475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조회 범위 오류 5문항 개선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0A1374-260E-43AD-9941-B72F0077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43475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문서 선택 오류 1문항 개선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D8B16-0A0A-480E-8119-B3895E17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97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평가 대상: 서비스 조회 20건, 조회 범위 20문항, 단일 정답 매뉴얼 12문항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3ACD4A-3E0E-4C39-B359-3E894200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38825"/>
            <a:ext cx="1127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처리 시간(보조): 35.94초에서 4.45초 · 전후 모두 완료한 같은 16문항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71F9C8-CC18-4D33-A5BE-ECC71EF3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고정 질문·모의 지표의 결과이며, 생성 설정과 출력 방식도 함께 변경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C1D656-8DF8-4DC8-B5CF-4C468C80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53690537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D9802-446B-4C94-BA36-E787116A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191F"/>
                </a:solidFill>
                <a:latin typeface="Apple SD Gothic Neo"/>
                <a:ea typeface="Apple SD Gothic Neo"/>
                <a:cs typeface="Apple SD Gothic Neo"/>
              </a:rPr>
              <a:t>한계와 다음 개선 방향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80974-BF65-4C2F-9967-375E45F5728D}"/>
              </a:ext>
            </a:extLst>
          </p:cNvPr>
          <p:cNvGraphicFramePr/>
          <p:nvPr/>
        </p:nvGraphicFramePr>
        <p:xfrm>
          <a:off xmlns:a="http://schemas.openxmlformats.org/drawingml/2006/main" x="457200" y="1438275"/>
          <a:ext xmlns:a="http://schemas.openxmlformats.org/drawingml/2006/main" cx="112776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803910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3155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선택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E0E4EC"/>
                      </a:solidFill>
                      <a:prstDash val="solid"/>
                    </a:lnL>
                    <a:lnR w="9525">
                      <a:solidFill>
                        <a:srgbClr val="E0E4EC"/>
                      </a:solidFill>
                      <a:prstDash val="solid"/>
                    </a:lnR>
                    <a:lnT w="9525">
                      <a:solidFill>
                        <a:srgbClr val="E0E4EC"/>
                      </a:solidFill>
                      <a:prstDash val="solid"/>
                    </a:lnT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3155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한계와 보완 과제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E0E4EC"/>
                      </a:solidFill>
                      <a:prstDash val="solid"/>
                    </a:lnR>
                    <a:lnT w="9525">
                      <a:solidFill>
                        <a:srgbClr val="E0E4EC"/>
                      </a:solidFill>
                      <a:prstDash val="solid"/>
                    </a:lnT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</a:tr>
              <a:tr h="882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임베딩·문서 검색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E0E4EC"/>
                      </a:solidFill>
                      <a:prstDash val="solid"/>
                    </a:lnL>
                    <a:lnR w="9525">
                      <a:solidFill>
                        <a:srgbClr val="E0E4EC"/>
                      </a:solidFill>
                      <a:prstDash val="solid"/>
                    </a:lnR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 시간이 추가되고, 잘못된 문서를 고를 수 있음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E0E4EC"/>
                      </a:solidFill>
                      <a:prstDash val="solid"/>
                    </a:lnR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2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문서 6개·모의 지표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E0E4EC"/>
                      </a:solidFill>
                      <a:prstDash val="solid"/>
                    </a:lnL>
                    <a:lnR w="9525">
                      <a:solidFill>
                        <a:srgbClr val="E0E4EC"/>
                      </a:solidFill>
                      <a:prstDash val="solid"/>
                    </a:lnR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실제 운영 환경의 정확성은 추가 검증 필요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E0E4EC"/>
                      </a:solidFill>
                      <a:prstDash val="solid"/>
                    </a:lnR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2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구조화·원문 출력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E0E4EC"/>
                      </a:solidFill>
                      <a:prstDash val="solid"/>
                    </a:lnL>
                    <a:lnR w="9525">
                      <a:solidFill>
                        <a:srgbClr val="E0E4EC"/>
                      </a:solidFill>
                      <a:prstDash val="solid"/>
                    </a:lnR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191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근거를 종합한 자유로운 설명은 제한됨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E0E4EC"/>
                      </a:solidFill>
                      <a:prstDash val="solid"/>
                    </a:lnR>
                    <a:lnB w="9525">
                      <a:solidFill>
                        <a:srgbClr val="E0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1E63E-032E-4AB9-96B5-EF4D82A1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3155FF"/>
                </a:solidFill>
                <a:latin typeface="Apple SD Gothic Neo"/>
                <a:ea typeface="Apple SD Gothic Neo"/>
                <a:cs typeface="Apple SD Gothic Neo"/>
              </a:rPr>
              <a:t>다음 단계: 실제 로그·시계열 데이터와 새로운 질문으로 검증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76514-69DA-4D80-AAD5-414CD16C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270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0973091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ple SD Gothic Neo"/>
        <a:ea typeface=""/>
        <a:cs typeface=""/>
      </a:majorFont>
      <a:minorFont>
        <a:latin typeface="Apple SD Gothic Ne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2026-10-22T02:27:26.4560000Z</dcterms:created>
  <dcterms:modified xsi:type="dcterms:W3CDTF">2026-10-22T02:27:26.4560000Z</dcterms:modified>
</coreProperties>
</file>