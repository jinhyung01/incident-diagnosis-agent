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b8953027fe4f30" /><Relationship Type="http://schemas.openxmlformats.org/officeDocument/2006/relationships/extended-properties" Target="/docProps/app.xml" Id="Rc01fa4ca740a4653" /><Relationship Type="http://schemas.openxmlformats.org/officeDocument/2006/relationships/officeDocument" Target="/ppt/presentation.xml" Id="R556e8ab3a97844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5b4a4ca4ef44b6"/>
  </p:sldMasterIdLst>
  <p:notesMasterIdLst>
    <p:notesMasterId xmlns:r="http://schemas.openxmlformats.org/officeDocument/2006/relationships" r:id="Rb28f3d18d84a4f5a"/>
  </p:notesMasterIdLst>
  <p:sldIdLst>
    <p:sldId xmlns:r="http://schemas.openxmlformats.org/officeDocument/2006/relationships" id="256" r:id="Rbfda0f212fbf40f0"/>
    <p:sldId xmlns:r="http://schemas.openxmlformats.org/officeDocument/2006/relationships" id="257" r:id="R6f98175a5fa04e6f"/>
    <p:sldId xmlns:r="http://schemas.openxmlformats.org/officeDocument/2006/relationships" id="258" r:id="R3bdfe7a12d0e4699"/>
    <p:sldId xmlns:r="http://schemas.openxmlformats.org/officeDocument/2006/relationships" id="259" r:id="R566f2d7c9ded4823"/>
    <p:sldId xmlns:r="http://schemas.openxmlformats.org/officeDocument/2006/relationships" id="260" r:id="Rae87b48be7284792"/>
    <p:sldId xmlns:r="http://schemas.openxmlformats.org/officeDocument/2006/relationships" id="261" r:id="Rc8daa9a22d184ab8"/>
    <p:sldId xmlns:r="http://schemas.openxmlformats.org/officeDocument/2006/relationships" id="262" r:id="Rfa7a7bfb4f0b404e"/>
    <p:sldId xmlns:r="http://schemas.openxmlformats.org/officeDocument/2006/relationships" id="263" r:id="R69b9e112ee074ef0"/>
    <p:sldId xmlns:r="http://schemas.openxmlformats.org/officeDocument/2006/relationships" id="264" r:id="Rde997a000c8b4b6c"/>
    <p:sldId xmlns:r="http://schemas.openxmlformats.org/officeDocument/2006/relationships" id="265" r:id="Rc22d8091c406410a"/>
    <p:sldId xmlns:r="http://schemas.openxmlformats.org/officeDocument/2006/relationships" id="266" r:id="R3cea28503f6d402a"/>
    <p:sldId xmlns:r="http://schemas.openxmlformats.org/officeDocument/2006/relationships" id="267" r:id="R3ba30ba5d21946f6"/>
    <p:sldId xmlns:r="http://schemas.openxmlformats.org/officeDocument/2006/relationships" id="268" r:id="R2783af68a47a42cc"/>
    <p:sldId xmlns:r="http://schemas.openxmlformats.org/officeDocument/2006/relationships" id="269" r:id="Rb2201b477f394926"/>
    <p:sldId xmlns:r="http://schemas.openxmlformats.org/officeDocument/2006/relationships" id="270" r:id="R193bbacfb0054111"/>
    <p:sldId xmlns:r="http://schemas.openxmlformats.org/officeDocument/2006/relationships" id="271" r:id="Rba05053d520e4cfc"/>
    <p:sldId xmlns:r="http://schemas.openxmlformats.org/officeDocument/2006/relationships" id="272" r:id="R90fa3b2cfc674e5a"/>
    <p:sldId xmlns:r="http://schemas.openxmlformats.org/officeDocument/2006/relationships" id="273" r:id="R1491e3750de54b19"/>
    <p:sldId xmlns:r="http://schemas.openxmlformats.org/officeDocument/2006/relationships" id="274" r:id="Rec49dd3bd744415c"/>
    <p:sldId xmlns:r="http://schemas.openxmlformats.org/officeDocument/2006/relationships" id="275" r:id="R305670c28be84808"/>
    <p:sldId xmlns:r="http://schemas.openxmlformats.org/officeDocument/2006/relationships" id="276" r:id="R06ac66cfd80a467f"/>
    <p:sldId xmlns:r="http://schemas.openxmlformats.org/officeDocument/2006/relationships" id="277" r:id="R0ee76643816b4262"/>
    <p:sldId xmlns:r="http://schemas.openxmlformats.org/officeDocument/2006/relationships" id="278" r:id="R64fb657b0b3848f6"/>
    <p:sldId xmlns:r="http://schemas.openxmlformats.org/officeDocument/2006/relationships" id="279" r:id="Re8e0cfcea77e48d2"/>
    <p:sldId xmlns:r="http://schemas.openxmlformats.org/officeDocument/2006/relationships" id="280" r:id="R2e468d188dd54e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8fff78d8284b49" /><Relationship Type="http://schemas.openxmlformats.org/officeDocument/2006/relationships/slideMaster" Target="/ppt/slideMasters/slideMaster1.xml" Id="R935b4a4ca4ef44b6" /><Relationship Type="http://schemas.openxmlformats.org/officeDocument/2006/relationships/notesMaster" Target="/ppt/notesMasters/notesMaster1.xml" Id="Rb28f3d18d84a4f5a" /><Relationship Type="http://schemas.openxmlformats.org/officeDocument/2006/relationships/presProps" Target="/ppt/presProps.xml" Id="R9664cae8d309457e" /><Relationship Type="http://schemas.openxmlformats.org/officeDocument/2006/relationships/tableStyles" Target="/ppt/tableStyles.xml" Id="R5a2b9c2a56dd4981" /><Relationship Type="http://schemas.openxmlformats.org/officeDocument/2006/relationships/slide" Target="/ppt/slides/slide1.xml" Id="Rbfda0f212fbf40f0" /><Relationship Type="http://schemas.openxmlformats.org/officeDocument/2006/relationships/slide" Target="/ppt/slides/slide2.xml" Id="R6f98175a5fa04e6f" /><Relationship Type="http://schemas.openxmlformats.org/officeDocument/2006/relationships/slide" Target="/ppt/slides/slide3.xml" Id="R3bdfe7a12d0e4699" /><Relationship Type="http://schemas.openxmlformats.org/officeDocument/2006/relationships/slide" Target="/ppt/slides/slide4.xml" Id="R566f2d7c9ded4823" /><Relationship Type="http://schemas.openxmlformats.org/officeDocument/2006/relationships/slide" Target="/ppt/slides/slide5.xml" Id="Rae87b48be7284792" /><Relationship Type="http://schemas.openxmlformats.org/officeDocument/2006/relationships/slide" Target="/ppt/slides/slide6.xml" Id="Rc8daa9a22d184ab8" /><Relationship Type="http://schemas.openxmlformats.org/officeDocument/2006/relationships/slide" Target="/ppt/slides/slide7.xml" Id="Rfa7a7bfb4f0b404e" /><Relationship Type="http://schemas.openxmlformats.org/officeDocument/2006/relationships/slide" Target="/ppt/slides/slide8.xml" Id="R69b9e112ee074ef0" /><Relationship Type="http://schemas.openxmlformats.org/officeDocument/2006/relationships/slide" Target="/ppt/slides/slide9.xml" Id="Rde997a000c8b4b6c" /><Relationship Type="http://schemas.openxmlformats.org/officeDocument/2006/relationships/slide" Target="/ppt/slides/slide10.xml" Id="Rc22d8091c406410a" /><Relationship Type="http://schemas.openxmlformats.org/officeDocument/2006/relationships/slide" Target="/ppt/slides/slide11.xml" Id="R3cea28503f6d402a" /><Relationship Type="http://schemas.openxmlformats.org/officeDocument/2006/relationships/slide" Target="/ppt/slides/slide12.xml" Id="R3ba30ba5d21946f6" /><Relationship Type="http://schemas.openxmlformats.org/officeDocument/2006/relationships/slide" Target="/ppt/slides/slide13.xml" Id="R2783af68a47a42cc" /><Relationship Type="http://schemas.openxmlformats.org/officeDocument/2006/relationships/slide" Target="/ppt/slides/slide14.xml" Id="Rb2201b477f394926" /><Relationship Type="http://schemas.openxmlformats.org/officeDocument/2006/relationships/slide" Target="/ppt/slides/slide15.xml" Id="R193bbacfb0054111" /><Relationship Type="http://schemas.openxmlformats.org/officeDocument/2006/relationships/slide" Target="/ppt/slides/slide16.xml" Id="Rba05053d520e4cfc" /><Relationship Type="http://schemas.openxmlformats.org/officeDocument/2006/relationships/slide" Target="/ppt/slides/slide17.xml" Id="R90fa3b2cfc674e5a" /><Relationship Type="http://schemas.openxmlformats.org/officeDocument/2006/relationships/slide" Target="/ppt/slides/slide18.xml" Id="R1491e3750de54b19" /><Relationship Type="http://schemas.openxmlformats.org/officeDocument/2006/relationships/slide" Target="/ppt/slides/slide19.xml" Id="Rec49dd3bd744415c" /><Relationship Type="http://schemas.openxmlformats.org/officeDocument/2006/relationships/slide" Target="/ppt/slides/slide20.xml" Id="R305670c28be84808" /><Relationship Type="http://schemas.openxmlformats.org/officeDocument/2006/relationships/slide" Target="/ppt/slides/slide21.xml" Id="R06ac66cfd80a467f" /><Relationship Type="http://schemas.openxmlformats.org/officeDocument/2006/relationships/slide" Target="/ppt/slides/slide22.xml" Id="R0ee76643816b4262" /><Relationship Type="http://schemas.openxmlformats.org/officeDocument/2006/relationships/slide" Target="/ppt/slides/slide23.xml" Id="R64fb657b0b3848f6" /><Relationship Type="http://schemas.openxmlformats.org/officeDocument/2006/relationships/slide" Target="/ppt/slides/slide24.xml" Id="Re8e0cfcea77e48d2" /><Relationship Type="http://schemas.openxmlformats.org/officeDocument/2006/relationships/slide" Target="/ppt/slides/slide25.xml" Id="R2e468d188dd54e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64432143014d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c2155e98fd4fa5" /><Relationship Type="http://schemas.openxmlformats.org/officeDocument/2006/relationships/notesMaster" Target="/ppt/notesMasters/notesMaster1.xml" Id="Rb8d67342628e49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7f67e2028f46ff" /><Relationship Type="http://schemas.openxmlformats.org/officeDocument/2006/relationships/notesMaster" Target="/ppt/notesMasters/notesMaster1.xml" Id="Re4d18bc1b44540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46e57d6a8e41c6" /><Relationship Type="http://schemas.openxmlformats.org/officeDocument/2006/relationships/notesMaster" Target="/ppt/notesMasters/notesMaster1.xml" Id="R598326660c5749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a10038f6104f15" /><Relationship Type="http://schemas.openxmlformats.org/officeDocument/2006/relationships/notesMaster" Target="/ppt/notesMasters/notesMaster1.xml" Id="Re9d8327158194c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d6e3e2e7234339" /><Relationship Type="http://schemas.openxmlformats.org/officeDocument/2006/relationships/notesMaster" Target="/ppt/notesMasters/notesMaster1.xml" Id="Rcf2293a726e94f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a89af029344edf" /><Relationship Type="http://schemas.openxmlformats.org/officeDocument/2006/relationships/notesMaster" Target="/ppt/notesMasters/notesMaster1.xml" Id="Rd0dd0cc85ca140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4b73377a3046ce" /><Relationship Type="http://schemas.openxmlformats.org/officeDocument/2006/relationships/notesMaster" Target="/ppt/notesMasters/notesMaster1.xml" Id="R93d91fa28c7c44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c2e175dec742e1" /><Relationship Type="http://schemas.openxmlformats.org/officeDocument/2006/relationships/notesMaster" Target="/ppt/notesMasters/notesMaster1.xml" Id="R122f041a87c54d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8e1c43311143ea" /><Relationship Type="http://schemas.openxmlformats.org/officeDocument/2006/relationships/notesMaster" Target="/ppt/notesMasters/notesMaster1.xml" Id="Raad90192fc2942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1443b656c541f2" /><Relationship Type="http://schemas.openxmlformats.org/officeDocument/2006/relationships/notesMaster" Target="/ppt/notesMasters/notesMaster1.xml" Id="R5570d886a79a43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b07b57267e4d69" /><Relationship Type="http://schemas.openxmlformats.org/officeDocument/2006/relationships/notesMaster" Target="/ppt/notesMasters/notesMaster1.xml" Id="R29f423f486d349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bdd2aa70214bcc" /><Relationship Type="http://schemas.openxmlformats.org/officeDocument/2006/relationships/notesMaster" Target="/ppt/notesMasters/notesMaster1.xml" Id="R5625cc75f62046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9aba99446a4b82" /><Relationship Type="http://schemas.openxmlformats.org/officeDocument/2006/relationships/notesMaster" Target="/ppt/notesMasters/notesMaster1.xml" Id="R71ae737e715d44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f5f5fc1f6b49a0" /><Relationship Type="http://schemas.openxmlformats.org/officeDocument/2006/relationships/notesMaster" Target="/ppt/notesMasters/notesMaster1.xml" Id="R67886c2da5ff45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162fedf6524c7e" /><Relationship Type="http://schemas.openxmlformats.org/officeDocument/2006/relationships/notesMaster" Target="/ppt/notesMasters/notesMaster1.xml" Id="Rb9e56c958cec4f9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1b8e45308d46ee" /><Relationship Type="http://schemas.openxmlformats.org/officeDocument/2006/relationships/notesMaster" Target="/ppt/notesMasters/notesMaster1.xml" Id="R5e38ef3f57534c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ab54939b254cda" /><Relationship Type="http://schemas.openxmlformats.org/officeDocument/2006/relationships/notesMaster" Target="/ppt/notesMasters/notesMaster1.xml" Id="R11debc7e698648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c61e6bd30ba41ef" /><Relationship Type="http://schemas.openxmlformats.org/officeDocument/2006/relationships/notesMaster" Target="/ppt/notesMasters/notesMaster1.xml" Id="R00c4275fe54c46b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a52f08dedf946ce" /><Relationship Type="http://schemas.openxmlformats.org/officeDocument/2006/relationships/notesMaster" Target="/ppt/notesMasters/notesMaster1.xml" Id="Re35c1eae4c53457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a60e052e5cf4172" /><Relationship Type="http://schemas.openxmlformats.org/officeDocument/2006/relationships/notesMaster" Target="/ppt/notesMasters/notesMaster1.xml" Id="Rb27eaa973aae423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51d550970bf426f" /><Relationship Type="http://schemas.openxmlformats.org/officeDocument/2006/relationships/notesMaster" Target="/ppt/notesMasters/notesMaster1.xml" Id="R4a6daf0ace66465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f2b347279884d3b" /><Relationship Type="http://schemas.openxmlformats.org/officeDocument/2006/relationships/notesMaster" Target="/ppt/notesMasters/notesMaster1.xml" Id="R0f6e6e9c0dcb44d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acf04b8440147f8" /><Relationship Type="http://schemas.openxmlformats.org/officeDocument/2006/relationships/notesMaster" Target="/ppt/notesMasters/notesMaster1.xml" Id="R7986cd43fabd402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b7276cdfb3046c4" /><Relationship Type="http://schemas.openxmlformats.org/officeDocument/2006/relationships/notesMaster" Target="/ppt/notesMasters/notesMaster1.xml" Id="R0d3ead5541d04a4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369318a92c84893" /><Relationship Type="http://schemas.openxmlformats.org/officeDocument/2006/relationships/notesMaster" Target="/ppt/notesMasters/notesMaster1.xml" Id="Re16a2b006d4044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안녕하세요. 실습 일 번, 베이스 프로젝트 개선을 선택한 이진형입니다.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기존 프로젝트는 서비스 이름과 장애 증상을 입력하면 모니터링 지표와 대응 매뉴얼을 조회해 진단 보고서를 만드는 AI 에이전트입니다.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기존 프로젝트는 수업에서 제공한 서비스 장애 진단 에이전트다. FastAPI 서버, LangGraph 그래프, MCP Tool·Resource·Prompt, Vue 채팅 화면, SQLite 대화 이력이 이미 있다.</a:t>
            </a:r>
          </a:p>
          <a:p xmlns:a="http://schemas.openxmlformats.org/drawingml/2006/main">
            <a:r>
              <a:t>2. 원래 흐름은 route → plan → gate → research → replan_check → analysis → write → validate → finalize다. 일반 대화는 조사 파이프라인을 건너뛴다.</a:t>
            </a:r>
          </a:p>
          <a:p xmlns:a="http://schemas.openxmlformats.org/drawingml/2006/main">
            <a:r>
              <a:t>3. 이번 개선에서 실제로 검증한 모델은 Ollama의 qwen3:0.6b/8b다. 모니터링은 교육용 모의 데이터이며 실제 운영 로그·서버 조치는 없다. 기존 기반 전체를 새로 개발했다고 말하지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day1/baseline/original_v2/doc/README.md; day1/baseline/original_v2/agent/graph.py; day1/baseline/original_v2/server.py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조사 범위, 대상 확인, 매뉴얼 선택, 답변 검증 네 가지를 개선했습니다. 검색과 근거 화면, 비교 평가를 추가했습니다.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현재 발표 범위는 개선4개·추가3개다. 이름 응답은 회귀 질문에서 확인한 별도 보완이며 새 주요 기능으로 늘리지 않는다.</a:t>
            </a:r>
          </a:p>
          <a:p xmlns:a="http://schemas.openxmlformats.org/drawingml/2006/main">
            <a:r>
              <a:t>2. 매뉴얼 선택 개선은 정상·정보 부족·장애 분기이며, RAG는 조사할 서비스의 알림과 문서를 의미로 연결하는 검색 방식이다.</a:t>
            </a:r>
          </a:p>
          <a:p xmlns:a="http://schemas.openxmlformats.org/drawingml/2006/main">
            <a:r>
              <a:t>3. 이후 실제 질문·응답과 같은 질문의 개선 화면을 연속으로 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presentation/PLAN_COVERAGE.md; 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MCP에 검색 도구를 추가하고 RAG로 문서를 찾습니다. 그래프 처리를 모듈로 분리하고 검색기를 주입해 실제 MCP와 고정 평가를 교체합니다. 분기 테스트와 동일 입력 평가로 확인했습니다.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MCP: mcp_server.py의 search_runbooks Tool을 추가했다. retrieval.py의 MCPRunbookSearch가 이 Tool을 호출하고, research.py가 검색 결과의 URI로 기존 MCP Resource 원문을 읽는다. MCP 서버 분리나 기존 Tool·Resource 체계를 새로 구현한 성과로 주장하지 않는다.</a:t>
            </a:r>
          </a:p>
          <a:p xmlns:a="http://schemas.openxmlformats.org/drawingml/2006/main">
            <a:r>
              <a:t>2. RAG: runbook 6개 본문·한영 증상 메타데이터와 서비스별 활성 알림을 bge-m3로 임베딩한다. SQLite에 캐시한 정규화 벡터의 코사인 유사도를 계산하고 임계값 0.35, 후보 2개 중 첫 원문을 연결한다. 대규모 벡터 DB나 ANN 검색을 구현한 것은 아니다.</a:t>
            </a:r>
          </a:p>
          <a:p xmlns:a="http://schemas.openxmlformats.org/drawingml/2006/main">
            <a:r>
              <a:t>3. LangGraph·모듈화: 기존 그래프 처리를 대상·수집·검색·보고·검증 모듈로 분리하고 범위·상태별 분기를 연결했다. 독립적인 전문 Multi-Agent 서브그래프를 추가한 구현은 아니다.</a:t>
            </a:r>
          </a:p>
          <a:p xmlns:a="http://schemas.openxmlformats.org/drawingml/2006/main">
            <a:r>
              <a:t>4. 의존성 주입: 기존 SupervisorDeps에 searcher를 추가했다. 연구 노드는 검색 구현을 직접 만들지 않고 주입된 검색기를 우선 사용한다. 실제 앱은 MCP 검색 Tool, 평가·단위 테스트는 고정 데이터 검색 어댑터를 연결한다.</a:t>
            </a:r>
          </a:p>
          <a:p xmlns:a="http://schemas.openxmlformats.org/drawingml/2006/main">
            <a:r>
              <a:t>5. 단위 테스트 31개와 실제 모델 고정 입력 20건은 목적이 다르다. 전자는 대상 추출·수치 변조·부분 실패·시간 제한 등의 코드 분기, 후자는 실제 호출·문서 선택·응답 상태·시간을 확인한다. 실제 MCP·SSE·UI 검증은 별도로 수행했다.</a:t>
            </a:r>
          </a:p>
          <a:p xmlns:a="http://schemas.openxmlformats.org/drawingml/2006/main">
            <a:r>
              <a:t>6. 교수님이 나열한 기술은 예시이며 전부 추가하라는 필수 목록으로 쓰여 있지 않다. 기존 LangSmith traceable 장식은 유지하지만 새 추적 연결·대시보드 분석을 검증한 성과에는 포함하지 않는다. 전문 Multi-Agent 확장도 성과로 표기하지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mcp_server.py; agent/graph.py; agent/retrieval.py; agent/research.py; agent/deps.py; agent/nodes.py; tests/test_core.py; day2/tests/unit-tests-story.txt; day2/results/comparison/summary.json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결제와 캐시를 함께 물었는데 결제만 조회했습니다. 캐시 자료 없이 원인을 추정했습니다.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원본의 _extract_system_name은 최초 언급 서비스 하나만 MCP 계획 문맥으로 넘긴다. 이후 실제 조사 목록은 LLM tasks에 의존해 cache가 빠질 수 있었다.</a:t>
            </a:r>
          </a:p>
          <a:p xmlns:a="http://schemas.openxmlformats.org/drawingml/2006/main">
            <a:r>
              <a:t>2. 사진에서는 수집된 사실에 payments만 있고 cache 자료가 없다. 공통 원인을 확정할 근거도 부족하다.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day1/evidence/user-screenshots/04-payments-cache.png;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요청에서 전체 서비스를 뽑고 그 목록으로 조회 작업을 구성했습니다. LLM 계획에서 빠져도 모두 조사합니다.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agent/targets.py의 select_targets가 등록 목록과 요청 텍스트를 대조해 알려진 대상 전체와 미등록 대상을 나눈다.</a:t>
            </a:r>
          </a:p>
          <a:p xmlns:a="http://schemas.openxmlformats.org/drawingml/2006/main">
            <a:r>
              <a:t>2. repair_plan은 모델의 tasks를 그대로 실행하지 않고, 확정된 대상마다 monitor-{service} 작업을 다시 만든다. scope_node·plan_node가 이 목록을 보존한다.</a:t>
            </a:r>
          </a:p>
          <a:p xmlns:a="http://schemas.openxmlformats.org/drawingml/2006/main">
            <a:r>
              <a:t>3. agent/research.py의 collect_monitoring은 확정된 targets 전체를 asyncio.gather로 조회한다. 각 조회의 오류를 개별 기록해 다른 서비스 수집을 취소하지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day2/evidence/review-q06-first.jpg; day2/results/contextual-captures/a19f84a4-7221-45f6-938e-f8dac295ea28-eca497a3.json; agent/targets.py; agent/research.py; agent/nodes.py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공유 의존 관계나 로그를 조사하지 않았으므로 공통 원인은 미확인으로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기존 모델 기반 패턴 추정을 공통 원인 확정 근거로 사용하지 않는다. analysis_node는 현재 도구가 수집하지 않는 로그·시계열·의존 관계의 한계를 명시한다.</a:t>
            </a:r>
          </a:p>
          <a:p xmlns:a="http://schemas.openxmlformats.org/drawingml/2006/main">
            <a:r>
              <a:t>2. render_report는 두 서비스 이상이면 공통 원인은 미확인이라는 안내를 붙인다. 두 서비스 조사 완료와 공통 원인 규명 성공은 다르다.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day2/evidence/review-q06-second.jpg; day2/results/contextual-captures/a19f84a4-7221-45f6-938e-f8dac295ea28-eca497a3.json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게이트웨이에서 결제로 가는 요청도 한쪽만 조사했습니다.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gateway·payments 질문의 원본은 gateway 알림만 조회했다. 네트워크 문서 선택 자체보다 상대 서비스 누락을 추가 사례로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day1/evidence/user-screenshots/01-gateway-payments.png;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같은 대상 보정 처리를 적용해 요청을 보내는 쪽과 받는 쪽을 모두 조회했습니다.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payments·cache와 동일한 대상 추출·작업 재구성 로직을 사용한다. gateway의 network-timeout과 payments의 cpu-spike를 서비스별로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day2/evidence/review-q04-first.jpg; day2/results/contextual-captures/f7d637e2-c911-417e-bf3f-3845fed685fa-33205f03.json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조회는 서비스별로 처리해 일부 실패가 다른 결과를 지우지 않게 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서비스별 수집·오류 분리로 일부 실패가 전체 결과를 지우지 않는다. 이 캡처는 두 서비스가 성공한 사례이며, 부분 실패 분기는 단위 테스트에서 따로 확인했다.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day2/evidence/review-q04-second.jpg; day2/results/contextual-captures/f7d637e2-c911-417e-bf3f-3845fed685fa-33205f03.json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빌링을 물었는데 인증 서비스인 auth를 조회했습니다. 대상이 바뀐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원본의 미등록·미명시 auth fallback은 기존 설계다. 사용자의 대상과 실제 조사 대상을 일치시키기 위한 정책 변경으로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day1/evidence/user-screenshots/06-billing.png;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등록 목록과 먼저 대조합니다. 미등록이면 조회와 보고 생성을 건너뛰고, 다른 서비스로 바꾸지 않고 이름을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select_targets가 서비스처럼 보이지만 등록 목록에 없는 billing-service를 unknown에 넣는다. targets가 비면 plan_node가 보고 모델의 계획을 호출하지 않고, 모니터링 수집도 비어 있다.</a:t>
            </a:r>
          </a:p>
          <a:p xmlns:a="http://schemas.openxmlformats.org/drawingml/2006/main">
            <a:r>
              <a:t>2. 문서·관측이 없으면 write_node가 보고 생성을 생략하고 render_report가 등록 이름 확인 안내를 만든다. 안내는 LLM이 작성한 진단 성공으로 세지 않는다.</a:t>
            </a:r>
          </a:p>
          <a:p xmlns:a="http://schemas.openxmlformats.org/drawingml/2006/main">
            <a:r>
              <a:t>3. 등록·미등록 혼합 요청은 등록된 대상은 조사하고, 미등록 대상은 따로 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day2/evidence/context-unknown-frame.jpg; day2/results/contextual-captures/55c381af-5efe-447d-9430-bf83a5b11c9d-c848919a.json; agent/targets.py; agent/evidence.py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로그인이라는 말만으로 auth를 가정하던 정책도 바꿨습니다.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로그인이라는 표현만으로 auth를 선택하던 기본 정책을 변경했다. 등록 별칭을 추가하는 기능은 구현하지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day1/evidence/user-screenshots/05-login.png;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서비스명이 없으면 auth를 기본값으로 쓰던 처리를 없애고, 대상 확인 안내를 반환합니다.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장애 문맥은 인식하지만 명시한 등록 대상이 없으면 빈 target 목록을 유지한다. render_report가 어느 서비스를 확인할지 묻는다.</a:t>
            </a:r>
          </a:p>
          <a:p xmlns:a="http://schemas.openxmlformats.org/drawingml/2006/main">
            <a:r>
              <a:t>2. 이 처리는 새 별칭이나 오타를 자동 해석하는 기능이 아니라 대상 확인 정책이다.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day2/evidence/review-q07-answer.jpg; day2/results/contextual-captures/f4e83364-7451-4377-a65d-6adaac6d4a8f-3fba43e9.json; agent/targets.py; agent/nodes.py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정상인 web에 DB 장애 문서를 골랐고, 함께 요청한 auth도 빠졌습니다.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원본은 모니터링 알림의 키워드가 맞지 않으면 db-down으로 대체했다. healthy·알림 없음인 web에 DB 문서를 적용한 사진이다.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day1/evidence/user-screenshots/03-web-auth.png;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지표와 알림으로 상태를 먼저 나눕니다. 정상이나 정보 부족이면 문서를 붙이지 않고, 장애 대상은 해당 서비스 알림으로 매뉴얼을 검색합니다.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agent/evidence.py의 monitoring_state는 상태·CPU·메모리 유효성·활성 알림을 확인한다. healthy이고 알림이 없으면 healthy, 유효하지만 활성 알림이 없으면 insufficient, 조사 근거가 있으면 investigate다.</a:t>
            </a:r>
          </a:p>
          <a:p xmlns:a="http://schemas.openxmlformats.org/drawingml/2006/main">
            <a:r>
              <a:t>2. collect_runbooks는 investigate 서비스만 검색한다. 정상·정보 부족·유효하지 않은 관측은 장애 문서를 임의로 붙이지 않는다.</a:t>
            </a:r>
          </a:p>
          <a:p xmlns:a="http://schemas.openxmlformats.org/drawingml/2006/main">
            <a:r>
              <a:t>3. 검색 입력은 서비스별 상태와 실제 활성 알림이다. 검색 방법의 상세 구현은 추가 기능 RAG에서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day2/evidence/context-healthy-answer.jpg; day2/results/contextual-captures/49ebc8c8-65fc-4aec-bc42-fd1829f048e9.json; agent/evidence.py; agent/research.py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로그 분석 결과라고 답했지만 실제 로그 조회는 없었습니다.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원본의 분석 결과 문장을 수집된 사실처럼 최종 프롬프트에 포함하던 문제다. 실제 도구에는 로그 조회가 없다.</a:t>
            </a:r>
          </a:p>
          <a:p xmlns:a="http://schemas.openxmlformats.org/drawingml/2006/main">
            <a:r>
              <a:t>2. 원본 validate_node는 30자 이상과 1) 포함 여부만 확인했다. 수치·서비스·원인 주장의 근거 검증은 아니었다.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day1/evidence/user-screenshots/02-payments-cpu.png;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모델은 수치·문서·절차 번호를 JSON으로 고르게 했습니다. 코드가 근거와 대조하고, 통과한 절차를 원문으로 출력해 조치 조건이 바뀌지 않게 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StructuredReportLLM은 sections JSON으로 서비스 이름·CPU·메모리·runbook_id·step_ids·cause_confirmed만 출력하도록 한다.</a:t>
            </a:r>
          </a:p>
          <a:p xmlns:a="http://schemas.openxmlformats.org/drawingml/2006/main">
            <a:r>
              <a:t>2. validate_draft는 누락·중복·범위 밖 서비스, 잘못된 수치, 없는 문서·절차, 원인 확정, 자유 필드를 거절한다.</a:t>
            </a:r>
          </a:p>
          <a:p xmlns:a="http://schemas.openxmlformats.org/drawingml/2006/main">
            <a:r>
              <a:t>3. 검증 후 render_report가 선택된 절차의 원문을 가져온다. 원문의 90% 초과·지속 등의 조건을 모델이 바꿔 쓰지 않는다.</a:t>
            </a:r>
          </a:p>
          <a:p xmlns:a="http://schemas.openxmlformats.org/drawingml/2006/main">
            <a:r>
              <a:t>4. 모든 자유 문장의 의미를 판정하거나 현재 조치 조건 충족을 자동 판단하는 기능은 아니다. 실제 조치도 실행하지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day2/evidence/review-q01-answer.jpg; day2/results/contextual-captures/3e26b7de-a591-4252-a03e-e3b7abfd824e-8df47df5.json; agent/reporting.py; agent/validation.py; agent/evidence.py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사용자 이름 민수를 비서 자신의 이름처럼 답한 문제도 있었습니다.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초기 계획의 주요 기능으로 늘리지 않고 실행 중 발견한 추가 보완으로 구분한다. 사용자 민수와 비서의 자기소개가 섞인 사례다.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day1/evidence/user-screenshots/07-name-recall.png; day1/evidence/OBSERVATIONS.md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이름은 사용자 역할의 선언에서만 읽습니다. 이름 질문과 비서의 자기소개는 제외합니다. 이 부분은 계획 외에 보완한 대화 처리입니다.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remembered_name은 history에서 role=user인 메시지와 현재 입력만 읽고, '제 이름은 ...입니다' 같은 선언형만 추출한다. assistant 발화와 '이름이 뭐였죠' 질문은 이름 선언으로 보지 않는다.</a:t>
            </a:r>
          </a:p>
          <a:p xmlns:a="http://schemas.openxmlformats.org/drawingml/2006/main">
            <a:r>
              <a:t>2. 추출한 이름의 별도 메모리 DB를 새로 만든 것이 아니다. 기존 SQLite 대화 이력을 활용하고 같은 대화의 최근 사용자 선언을 읽는다.</a:t>
            </a:r>
          </a:p>
          <a:p xmlns:a="http://schemas.openxmlformats.org/drawingml/2006/main">
            <a:r>
              <a:t>3. 서버 재시작 뒤 같은 DB·thread의 이름 응답도 별도 기록으로 검증했다. 캡처 자체가 재시작 과정을 보여주는 것은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day2/evidence/review-q10-answer.jpg; day2/results/contextual-captures/review-suite.json; agent/targets.py; agent/session_store.py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첫 추가 기능은 RAG입니다. 서비스별 알림과 매뉴얼을 bge-m3로 벡터화해 검색하고, 선택한 문서는 MCP로 원문을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기존 6개 runbook 본문과 한·영 증상 메타데이터를 bge-m3로 임베딩하고 SQLite에 캐시한다. 문서 변경 시 digest를 확인해 인덱스를 갱신한다.</a:t>
            </a:r>
          </a:p>
          <a:p xmlns:a="http://schemas.openxmlformats.org/drawingml/2006/main">
            <a:r>
              <a:t>2. 서비스별 활성 알림을 임베딩하고 정규화한 벡터의 코사인 유사도로 검색한다. 임계값 0.35, 후보 상위 2개 중 첫 문서를 실제 원문과 연결한다.</a:t>
            </a:r>
          </a:p>
          <a:p xmlns:a="http://schemas.openxmlformats.org/drawingml/2006/main">
            <a:r>
              <a:t>3. 검색기는 기존 SupervisorDeps에 추가한 searcher로 주입한다. 실행 시 MCP 검색 Tool을 사용하고 고정 데이터 평가에서는 검색 어댑터를 사용한다.</a:t>
            </a:r>
          </a:p>
          <a:p xmlns:a="http://schemas.openxmlformats.org/drawingml/2006/main">
            <a:r>
              <a:t>4. 유사도 0.673은 정답 확률이 아니다. 문서 6개 전수 비교이며 대규모 ANN 검색이나 운영 부하 검증은 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day2/evidence/review-q03-answer.jpg; agent/retrieval.py; agent/research.py; mcp_server.py; day2/results/contextual-captures/cc4c77a5-5311-4797-9942-36ec51f66841-17dcde1e.json; agent/deps.py; agent/research.py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두 번째는 근거 화면입니다. 실제 조회한 서비스와 수치, 참고 매뉴얼을 표로 보여주고 확인하지 못한 항목도 함께 표시합니다.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evidence_payload는 실제 collected에서 서비스·관측·runbook·미등록·미확인·오류를 구성한다. server.py가 FinalAnswer.evidence에 담고 web_chat.html이 그 객체로 표를 그린다.</a:t>
            </a:r>
          </a:p>
          <a:p xmlns:a="http://schemas.openxmlformats.org/drawingml/2006/main">
            <a:r>
              <a:t>2. 모델이 출력한 출처 문자열을 그대로 화면 근거로 쓰지 않는다. 정상 web은 문서 없음, auth는 지연 매뉴얼·유사도가 표시된다.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day2/evidence/context-healthy-evidence.jpg; agent/evidence.py; server.py; web_chat.html; day2/results/contextual-captures/49ebc8c8-65fc-4aec-bc42-fd1829f048e9.json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세 번째는 자동 비교입니다. 같은 질문과 고정 지표로 전후 실행하고 호출·문서·시간을 집계합니다. 단위 테스트 서른한 개도 통과했습니다.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평가 정의 cases.json의 expected_targets·expected_runbooks와 실제 calls·elapsed_seconds를 대조한다. 대상 수집은 서비스 수, 범위 일치는 대상 집합이 같은 질문 수, 문서 Top-1은 정답 문서가 하나인 질문만 계산한다.</a:t>
            </a:r>
          </a:p>
          <a:p xmlns:a="http://schemas.openxmlformats.org/drawingml/2006/main">
            <a:r>
              <a:t>2. 고정 데이터 그래프 평가 20건과 실제 MCP·SSE·UI 검증은 구분한다. 이 보고서는 보존된 전후 결과 JSON을 집계한 것이며 새 20건 벤치마크를 실행한 것은 아니다.</a:t>
            </a:r>
          </a:p>
          <a:p xmlns:a="http://schemas.openxmlformats.org/drawingml/2006/main">
            <a:r>
              <a:t>3. 단위 테스트 31개는 대상 추출·검증·부분 실패·시간 제한·이름 역할 등의 분기다. 20건 실제 모델 평가와 다른 검증이다.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day2/evidence/evaluation-cases.jpg; day2/scripts/build_evaluation_evidence.py; day1/results/baseline-ollama/results.json; day2/results/improved-ollama/results.json; day2/tests/unit-tests-story.txt; tests/test_core.py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필요한 서비스 수집은 열일곱에서 스무 개로, 조회 범위 일치는 열다섯에서 스무 문항으로 늘었습니다. 매뉴얼 선택도 개선됐습니다. 같은 열여섯 문항의 시간 중앙값은 삼십오 점 구사 초에서 사 점 사오 초입니다. 생성 설정도 함께 바꾼 결과입니다.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등록 대상 수집 17/20→20/20은 서비스 수다. D05 payments, D06 cache, D07 auth 누락을 보완했다. 조회 범위 일치는 15/20→20/20이며 auth 대체 조회 2건도 포함한다.</a:t>
            </a:r>
          </a:p>
          <a:p xmlns:a="http://schemas.openxmlformats.org/drawingml/2006/main">
            <a:r>
              <a:t>2. 단일 정답 문서 11/12→12/12는 D07의 db-down을 high-latency로 바꾼 결과다. 같은 모델·고정 지표·질문을 사용했다.</a:t>
            </a:r>
          </a:p>
          <a:p xmlns:a="http://schemas.openxmlformats.org/drawingml/2006/main">
            <a:r>
              <a:t>3. 양쪽 완료한 동일 16건 중앙값은 35.936→4.454초다. 네트워크 전송·UI 표시·워밍업·인덱스 구축은 제외한다. 생성 설정·분기·출력 형식도 바뀌어 RAG만의 효과가 아니다.</a:t>
            </a:r>
          </a:p>
          <a:p xmlns:a="http://schemas.openxmlformats.org/drawingml/2006/main">
            <a:r>
              <a:t>4. 개선 20건은 검증13·관측/확인안내4·대화2·검증실패안내1이다. 응답 완료가 전체 답변의 정확도100%라는 뜻은 아니다. 이후 화면·안내 문구 수정 뒤 전체 시간은 재측정하지 않았다.</a:t>
            </a:r>
          </a:p>
          <a:p xmlns:a="http://schemas.openxmlformats.org/drawingml/2006/main">
            <a:r>
              <a:t>5. 그래프는 보존된 전후40개 실행 기록에서 직접 재집계했다. 세 수집·선택 지표는 개수, 시간은 초 단위이며 각 분모를 제목과 데이터 레이블에 표시한다. 원점을0으로 둔 막대이며 기준을 그래프 장에 합쳤다.</a:t>
            </a:r>
          </a:p>
          <a:p xmlns:a="http://schemas.openxmlformats.org/drawingml/2006/main">
            <a:r>
              <a:t>6. 등록 대상 수는 필요한 서비스와 실제 조회 목록을 대조한다. 범위 일치는 실제 대상 집합과 기대 대상 집합이 같아야 한다. 문서는 단일 정답 질문의 첫 조회를 대조한다. 별도 기준 슬라이드 대신 그래프 아래에 기준을 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day2/scripts/build_evaluation_evidence.py; day1/evaluation/cases.json; day1/scripts/run_baseline.py; day2/results/comparison/summary.json; day1/results/baseline-ollama/results.json; day2/results/improved-ollama/results.json; day2/results/comparison/presentation-metrics.json; day2/scripts/build_presentation_metrics.py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대본</a:t>
            </a:r>
          </a:p>
          <a:p xmlns:a="http://schemas.openxmlformats.org/drawingml/2006/main">
            <a:r>
              <a:t>문서 여섯 개와 모의 지표라 운영 성능으로 일반화할 수 없습니다. 검색은 지연·오검색을 더하고 원문 출력은 설명을 제한합니다. 다음은 실제 로그와 독립 질문으로 검증하겠습니다. 감사합니다.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구현 설명·질문 대비</a:t>
            </a:r>
          </a:p>
          <a:p xmlns:a="http://schemas.openxmlformats.org/drawingml/2006/main">
            <a:r>
              <a:t>1. 문서 6개·모의 지표·관측한 시험 세트이므로 독립 질문과 실제 운영 자료가 필요하다.</a:t>
            </a:r>
          </a:p>
          <a:p xmlns:a="http://schemas.openxmlformats.org/drawingml/2006/main">
            <a:r>
              <a:t>2. 실제 로그·시계열·서비스 의존 관계 수집, 복합 장애 검색과 독립 평가가 다음 과제다. 자동 복구를 구현했다고 말하지 않는다.</a:t>
            </a:r>
          </a:p>
          <a:p xmlns:a="http://schemas.openxmlformats.org/drawingml/2006/main">
            <a:r>
              <a:t>3. 검색·임베딩은 처리 부담과 오검색을 더하고, 원문 출력은 자유로운 종합 설명을 제한한다.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792d77ab6421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9ccae3e8c45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bcf8a20a744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edd37f0f5b4d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9b60711c84a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ab2aa3bc545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88D794-4494-4034-BFAD-382BC60B91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78C0AE-FFBD-4E92-8628-28AAA28491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2F17A2-4E9F-43F1-A619-82BD544521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9BFEEB-628A-4E39-AC4C-22781FACBC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E3A635-ECCE-49AB-AB70-8D35BA8713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5052AE-3B61-420E-B679-5B5E6BC4FA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73D20B-1746-427E-9916-AFB015EDA4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0F590D-9E29-4423-832F-9B1977A65F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6B96A9-4550-4CC8-821C-C5B4F4785B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9B4264-B768-4589-9A43-794F76438D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8e27e8df2f4501" /><Relationship Type="http://schemas.openxmlformats.org/officeDocument/2006/relationships/slideLayout" Target="/ppt/slideLayouts/slideLayout1.xml" Id="Ra78bc7b805ee42eb" /><Relationship Type="http://schemas.openxmlformats.org/officeDocument/2006/relationships/slideLayout" Target="/ppt/slideLayouts/slideLayout2.xml" Id="Re9219ae38f7f4cee" /><Relationship Type="http://schemas.openxmlformats.org/officeDocument/2006/relationships/slideLayout" Target="/ppt/slideLayouts/slideLayout3.xml" Id="R45915840a6d14f84" /><Relationship Type="http://schemas.openxmlformats.org/officeDocument/2006/relationships/slideLayout" Target="/ppt/slideLayouts/slideLayout4.xml" Id="Rc417c9676024465d" /><Relationship Type="http://schemas.openxmlformats.org/officeDocument/2006/relationships/slideLayout" Target="/ppt/slideLayouts/slideLayout5.xml" Id="R3e5cba62c1e943a5" /><Relationship Type="http://schemas.openxmlformats.org/officeDocument/2006/relationships/slideLayout" Target="/ppt/slideLayouts/slideLayout6.xml" Id="R2fcd8a39f0ef4f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8bc7b805ee42eb"/>
    <p:sldLayoutId xmlns:r="http://schemas.openxmlformats.org/officeDocument/2006/relationships" id="2147483650" r:id="Re9219ae38f7f4cee"/>
    <p:sldLayoutId xmlns:r="http://schemas.openxmlformats.org/officeDocument/2006/relationships" id="2147483651" r:id="R45915840a6d14f84"/>
    <p:sldLayoutId xmlns:r="http://schemas.openxmlformats.org/officeDocument/2006/relationships" id="2147483652" r:id="Rc417c9676024465d"/>
    <p:sldLayoutId xmlns:r="http://schemas.openxmlformats.org/officeDocument/2006/relationships" id="2147483653" r:id="R3e5cba62c1e943a5"/>
    <p:sldLayoutId xmlns:r="http://schemas.openxmlformats.org/officeDocument/2006/relationships" id="2147483654" r:id="R2fcd8a39f0ef4f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8f72bd8bb740b8" /><Relationship Type="http://schemas.openxmlformats.org/officeDocument/2006/relationships/notesSlide" Target="/ppt/notesSlides/notesSlide1.xml" Id="R8ee1df3b4c9d40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a6b8804f39466a" /><Relationship Type="http://schemas.openxmlformats.org/officeDocument/2006/relationships/notesSlide" Target="/ppt/notesSlides/notesSlide2.xml" Id="R7c2d0d29450144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f507a0e4784d4a" /><Relationship Type="http://schemas.openxmlformats.org/officeDocument/2006/relationships/notesSlide" Target="/ppt/notesSlides/notesSlide3.xml" Id="Rdda43dafac0f43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1aac54113b4ac9" /><Relationship Type="http://schemas.openxmlformats.org/officeDocument/2006/relationships/notesSlide" Target="/ppt/notesSlides/notesSlide4.xml" Id="Rb207fd14e2f740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893dd4add464a" /><Relationship Type="http://schemas.openxmlformats.org/officeDocument/2006/relationships/image" Target="/ppt/media/image.png" Id="Rd87486952bfb4456" /><Relationship Type="http://schemas.openxmlformats.org/officeDocument/2006/relationships/notesSlide" Target="/ppt/notesSlides/notesSlide5.xml" Id="Rec328b4008e44a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9c6c923d834ec5" /><Relationship Type="http://schemas.openxmlformats.org/officeDocument/2006/relationships/image" Target="/ppt/media/image.jpeg" Id="R43fdab42134a4fe6" /><Relationship Type="http://schemas.openxmlformats.org/officeDocument/2006/relationships/notesSlide" Target="/ppt/notesSlides/notesSlide6.xml" Id="R07ab31b2e05c43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af1ce0737747f1" /><Relationship Type="http://schemas.openxmlformats.org/officeDocument/2006/relationships/image" Target="/ppt/media/image2.jpeg" Id="Rbdd078d1e94d409c" /><Relationship Type="http://schemas.openxmlformats.org/officeDocument/2006/relationships/notesSlide" Target="/ppt/notesSlides/notesSlide7.xml" Id="Rf83cc3ca9b5f4f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12090f771849e9" /><Relationship Type="http://schemas.openxmlformats.org/officeDocument/2006/relationships/image" Target="/ppt/media/image2.png" Id="R42d36aa7498e4d3b" /><Relationship Type="http://schemas.openxmlformats.org/officeDocument/2006/relationships/notesSlide" Target="/ppt/notesSlides/notesSlide8.xml" Id="Rdab2db00071b43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0e326e31ae494b" /><Relationship Type="http://schemas.openxmlformats.org/officeDocument/2006/relationships/image" Target="/ppt/media/image3.jpeg" Id="R3214d84ff68442bf" /><Relationship Type="http://schemas.openxmlformats.org/officeDocument/2006/relationships/notesSlide" Target="/ppt/notesSlides/notesSlide9.xml" Id="R00f7c18c3cc24d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969edeec7742c0" /><Relationship Type="http://schemas.openxmlformats.org/officeDocument/2006/relationships/image" Target="/ppt/media/image4.jpeg" Id="Rebe38d0ae31940bb" /><Relationship Type="http://schemas.openxmlformats.org/officeDocument/2006/relationships/notesSlide" Target="/ppt/notesSlides/notesSlide10.xml" Id="R82baffdd92f141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8d87ad39d94985" /><Relationship Type="http://schemas.openxmlformats.org/officeDocument/2006/relationships/image" Target="/ppt/media/image3.png" Id="Ra3beae321932445a" /><Relationship Type="http://schemas.openxmlformats.org/officeDocument/2006/relationships/notesSlide" Target="/ppt/notesSlides/notesSlide11.xml" Id="R4d57929f5c3d43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a53ab918864254" /><Relationship Type="http://schemas.openxmlformats.org/officeDocument/2006/relationships/image" Target="/ppt/media/image5.jpeg" Id="Ra41e198c3e0846ed" /><Relationship Type="http://schemas.openxmlformats.org/officeDocument/2006/relationships/notesSlide" Target="/ppt/notesSlides/notesSlide12.xml" Id="R330c190e70c34d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da3abc1ced4d42" /><Relationship Type="http://schemas.openxmlformats.org/officeDocument/2006/relationships/image" Target="/ppt/media/image4.png" Id="Rffc6c970fbe94c7a" /><Relationship Type="http://schemas.openxmlformats.org/officeDocument/2006/relationships/notesSlide" Target="/ppt/notesSlides/notesSlide13.xml" Id="R6b5ebad8cf7749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2fc201ebc42f3" /><Relationship Type="http://schemas.openxmlformats.org/officeDocument/2006/relationships/image" Target="/ppt/media/image6.jpeg" Id="Rf002c8b6c2a6412a" /><Relationship Type="http://schemas.openxmlformats.org/officeDocument/2006/relationships/notesSlide" Target="/ppt/notesSlides/notesSlide14.xml" Id="R82222903b6f04b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2fba6b12fb43f8" /><Relationship Type="http://schemas.openxmlformats.org/officeDocument/2006/relationships/image" Target="/ppt/media/image5.png" Id="R132b3585aaeb4ca7" /><Relationship Type="http://schemas.openxmlformats.org/officeDocument/2006/relationships/notesSlide" Target="/ppt/notesSlides/notesSlide15.xml" Id="Ra2284da03d9a4b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ba3bfb6bff44f0" /><Relationship Type="http://schemas.openxmlformats.org/officeDocument/2006/relationships/image" Target="/ppt/media/image7.jpeg" Id="Ra5563b139e494c8d" /><Relationship Type="http://schemas.openxmlformats.org/officeDocument/2006/relationships/notesSlide" Target="/ppt/notesSlides/notesSlide16.xml" Id="Rf8e586b1aac944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24aa9883724c5a" /><Relationship Type="http://schemas.openxmlformats.org/officeDocument/2006/relationships/image" Target="/ppt/media/image6.png" Id="R192b4470b2f64a7c" /><Relationship Type="http://schemas.openxmlformats.org/officeDocument/2006/relationships/notesSlide" Target="/ppt/notesSlides/notesSlide17.xml" Id="R97ab3c3cc24e49f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f28ce941a431e" /><Relationship Type="http://schemas.openxmlformats.org/officeDocument/2006/relationships/image" Target="/ppt/media/image8.jpeg" Id="R51751d8fb8834c14" /><Relationship Type="http://schemas.openxmlformats.org/officeDocument/2006/relationships/notesSlide" Target="/ppt/notesSlides/notesSlide18.xml" Id="R4c3add9b0e5949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c460ac1ab4a88" /><Relationship Type="http://schemas.openxmlformats.org/officeDocument/2006/relationships/image" Target="/ppt/media/image7.png" Id="R25587b226deb44de" /><Relationship Type="http://schemas.openxmlformats.org/officeDocument/2006/relationships/notesSlide" Target="/ppt/notesSlides/notesSlide19.xml" Id="R2d2bce0ab5f6403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3ba549d2e04ce0" /><Relationship Type="http://schemas.openxmlformats.org/officeDocument/2006/relationships/image" Target="/ppt/media/image9.jpeg" Id="R0eb3c9c1139743db" /><Relationship Type="http://schemas.openxmlformats.org/officeDocument/2006/relationships/notesSlide" Target="/ppt/notesSlides/notesSlide20.xml" Id="R1e48a245315041e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2d391a20c4437" /><Relationship Type="http://schemas.openxmlformats.org/officeDocument/2006/relationships/image" Target="/ppt/media/image10.jpeg" Id="Ra7ab068ffa47444d" /><Relationship Type="http://schemas.openxmlformats.org/officeDocument/2006/relationships/notesSlide" Target="/ppt/notesSlides/notesSlide21.xml" Id="R0f10759e442d4f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0519c8011d432b" /><Relationship Type="http://schemas.openxmlformats.org/officeDocument/2006/relationships/image" Target="/ppt/media/image11.jpeg" Id="R61b9872bfa3a4bb6" /><Relationship Type="http://schemas.openxmlformats.org/officeDocument/2006/relationships/notesSlide" Target="/ppt/notesSlides/notesSlide22.xml" Id="R98b27b43182f454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c19aeccfd2452c" /><Relationship Type="http://schemas.openxmlformats.org/officeDocument/2006/relationships/image" Target="/ppt/media/image12.jpeg" Id="R3b4bece434e7456d" /><Relationship Type="http://schemas.openxmlformats.org/officeDocument/2006/relationships/notesSlide" Target="/ppt/notesSlides/notesSlide23.xml" Id="R24ada37145c1494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6a4514779b4fa2" /><Relationship Type="http://schemas.openxmlformats.org/officeDocument/2006/relationships/chart" Target="/ppt/slides/charts/chart1.xml" Id="Re3ce5b048e484ae0" /><Relationship Type="http://schemas.openxmlformats.org/officeDocument/2006/relationships/chart" Target="/ppt/slides/charts/chart2.xml" Id="R0dc4b58272084903" /><Relationship Type="http://schemas.openxmlformats.org/officeDocument/2006/relationships/chart" Target="/ppt/slides/charts/chart3.xml" Id="Ra4eddbb627d54772" /><Relationship Type="http://schemas.openxmlformats.org/officeDocument/2006/relationships/chart" Target="/ppt/slides/charts/chart4.xml" Id="R0125d2252f484d6c" /><Relationship Type="http://schemas.openxmlformats.org/officeDocument/2006/relationships/notesSlide" Target="/ppt/notesSlides/notesSlide24.xml" Id="R16a74b38e74f44f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221566840a4758" /><Relationship Type="http://schemas.openxmlformats.org/officeDocument/2006/relationships/notesSlide" Target="/ppt/notesSlides/notesSlide25.xml" Id="Rc3c4f8f28139475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필요한 서비스 수집 · 총 20개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72E40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필요한 서비스 수집 · 총 20개</c:v>
          </c:tx>
          <c:spPr>
            <a:solidFill xmlns:a="http://schemas.openxmlformats.org/drawingml/2006/main">
              <a:srgbClr val="12786D"/>
            </a:solidFill>
            <a:ln xmlns:a="http://schemas.openxmlformats.org/drawingml/2006/main" w="0">
              <a:noFill/>
            </a:ln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2786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C9FAB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172E40"/>
                        </a:solidFill>
                        <a:latin typeface="Apple SD Gothic Neo"/>
                        <a:ea typeface="Apple SD Gothic Neo"/>
                        <a:cs typeface="Apple SD Gothic Neo"/>
                      </a:rPr>
                      <a:t>20/20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72E40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outEnd"/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172E40"/>
                        </a:solidFill>
                        <a:latin typeface="Apple SD Gothic Neo"/>
                        <a:ea typeface="Apple SD Gothic Neo"/>
                        <a:cs typeface="Apple SD Gothic Neo"/>
                      </a:rPr>
                      <a:t>17/20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72E40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outEnd"/>
              <c:showVal val="0"/>
            </c:dLbl>
          </c:dLbls>
          <c:cat>
            <c:strRef>
              <c:f>'Chart Data'!$A$2:$A$3</c:f>
              <c:strCache>
                <c:ptCount val="2"/>
                <c:pt idx="0">
                  <c:v>개선 후</c:v>
                </c:pt>
                <c:pt idx="1">
                  <c:v>개선 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</c:v>
                </c:pt>
                <c:pt idx="1">
                  <c:v>17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72E40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조회 범위 일치 · 총 20문항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72E40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조회 범위 일치 · 총 20문항</c:v>
          </c:tx>
          <c:spPr>
            <a:solidFill xmlns:a="http://schemas.openxmlformats.org/drawingml/2006/main">
              <a:srgbClr val="12786D"/>
            </a:solidFill>
            <a:ln xmlns:a="http://schemas.openxmlformats.org/drawingml/2006/main" w="0">
              <a:noFill/>
            </a:ln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2786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C9FAB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172E40"/>
                        </a:solidFill>
                        <a:latin typeface="Apple SD Gothic Neo"/>
                        <a:ea typeface="Apple SD Gothic Neo"/>
                        <a:cs typeface="Apple SD Gothic Neo"/>
                      </a:rPr>
                      <a:t>20/20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72E40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outEnd"/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172E40"/>
                        </a:solidFill>
                        <a:latin typeface="Apple SD Gothic Neo"/>
                        <a:ea typeface="Apple SD Gothic Neo"/>
                        <a:cs typeface="Apple SD Gothic Neo"/>
                      </a:rPr>
                      <a:t>15/20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72E40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outEnd"/>
              <c:showVal val="0"/>
            </c:dLbl>
          </c:dLbls>
          <c:cat>
            <c:strRef>
              <c:f>'Chart Data'!$A$2:$A$3</c:f>
              <c:strCache>
                <c:ptCount val="2"/>
                <c:pt idx="0">
                  <c:v>개선 후</c:v>
                </c:pt>
                <c:pt idx="1">
                  <c:v>개선 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</c:v>
                </c:pt>
                <c:pt idx="1">
                  <c:v>15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72E40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매뉴얼 선택 · 정답 1개인 12문항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72E40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매뉴얼 선택 · 정답 1개인 12문항</c:v>
          </c:tx>
          <c:spPr>
            <a:solidFill xmlns:a="http://schemas.openxmlformats.org/drawingml/2006/main">
              <a:srgbClr val="12786D"/>
            </a:solidFill>
            <a:ln xmlns:a="http://schemas.openxmlformats.org/drawingml/2006/main" w="0">
              <a:noFill/>
            </a:ln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2786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C9FAB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172E40"/>
                        </a:solidFill>
                        <a:latin typeface="Apple SD Gothic Neo"/>
                        <a:ea typeface="Apple SD Gothic Neo"/>
                        <a:cs typeface="Apple SD Gothic Neo"/>
                      </a:rPr>
                      <a:t>12/12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72E40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outEnd"/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172E40"/>
                        </a:solidFill>
                        <a:latin typeface="Apple SD Gothic Neo"/>
                        <a:ea typeface="Apple SD Gothic Neo"/>
                        <a:cs typeface="Apple SD Gothic Neo"/>
                      </a:rPr>
                      <a:t>11/12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72E40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outEnd"/>
              <c:showVal val="0"/>
            </c:dLbl>
          </c:dLbls>
          <c:cat>
            <c:strRef>
              <c:f>'Chart Data'!$A$2:$A$3</c:f>
              <c:strCache>
                <c:ptCount val="2"/>
                <c:pt idx="0">
                  <c:v>개선 후</c:v>
                </c:pt>
                <c:pt idx="1">
                  <c:v>개선 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12</c:v>
                </c:pt>
                <c:pt idx="1">
                  <c:v>11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72E40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처리 시간 중앙값 · 같은 16문항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72E40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처리 시간 중앙값 · 같은 16문항</c:v>
          </c:tx>
          <c:spPr>
            <a:solidFill xmlns:a="http://schemas.openxmlformats.org/drawingml/2006/main">
              <a:srgbClr val="12786D"/>
            </a:solidFill>
            <a:ln xmlns:a="http://schemas.openxmlformats.org/drawingml/2006/main" w="0">
              <a:noFill/>
            </a:ln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2786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C9FAB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172E40"/>
                        </a:solidFill>
                        <a:latin typeface="Apple SD Gothic Neo"/>
                        <a:ea typeface="Apple SD Gothic Neo"/>
                        <a:cs typeface="Apple SD Gothic Neo"/>
                      </a:rPr>
                      <a:t>4.45초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72E40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outEnd"/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75" b="1">
                        <a:solidFill>
                          <a:srgbClr val="172E40"/>
                        </a:solidFill>
                        <a:latin typeface="Apple SD Gothic Neo"/>
                        <a:ea typeface="Apple SD Gothic Neo"/>
                        <a:cs typeface="Apple SD Gothic Neo"/>
                      </a:rPr>
                      <a:t>35.94초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72E40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outEnd"/>
              <c:showVal val="0"/>
            </c:dLbl>
          </c:dLbls>
          <c:cat>
            <c:strRef>
              <c:f>'Chart Data'!$A$2:$A$3</c:f>
              <c:strCache>
                <c:ptCount val="2"/>
                <c:pt idx="0">
                  <c:v>개선 후</c:v>
                </c:pt>
                <c:pt idx="1">
                  <c:v>개선 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4.45</c:v>
                </c:pt>
                <c:pt idx="1">
                  <c:v>35.94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72E40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47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E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F0EE9-6E57-4399-95E8-487E9373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057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rPr>
              <a:t>AI 서비스 개발 Mini-project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18E3B-8BE1-4AB9-A69C-A06F33DC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9775"/>
            <a:ext cx="10515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운영 장애 진단</a:t>
            </a:r>
          </a:p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 에이전트 개선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57814-34B0-4D38-9842-1C9ED2DA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9582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rPr>
              <a:t>모니터링 지표와 대응 매뉴얼 기반 장애 진단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AD891-9963-4136-A240-65219BA8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600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실습 1  Base AI Project 개선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B2C9C-4FDA-4143-BB8E-04D33051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076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이진형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A286B-26C6-4688-B616-8C87CAFB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7695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BDD1D9"/>
                </a:solidFill>
                <a:latin typeface="Apple SD Gothic Neo"/>
                <a:ea typeface="Apple SD Gothic Neo"/>
                <a:cs typeface="Apple SD Gothic Neo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17947065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A4F21-39A8-41CD-830E-74511F94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기존 프로젝트는 어떤 서비스인가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EE886-9AB7-4597-8CEF-906E8B25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서비스 장애 진단 AI 에이전트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59C15-933C-4D67-A317-D234A896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서비스 이름과 장애 증상을 입력하면 모니터링 지표와 대응 매뉴얼을 조회하고</a:t>
            </a:r>
          </a:p>
          <a:p xmlns:a="http://schemas.openxmlformats.org/drawingml/2006/main">
            <a:pPr>
              <a:def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현재 상태와 대응 절차를 진단 보고서로 작성하는 웹 서비스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8F6E8-F0BB-4BD0-BE96-78C6C92EA9D8}"/>
              </a:ext>
            </a:extLst>
          </p:cNvPr>
          <p:cNvGraphicFramePr/>
          <p:nvPr/>
        </p:nvGraphicFramePr>
        <p:xfrm>
          <a:off xmlns:a="http://schemas.openxmlformats.org/drawingml/2006/main" x="457200" y="2714625"/>
          <a:ext xmlns:a="http://schemas.openxmlformats.org/drawingml/2006/main" cx="112776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562975"/>
              </a:tblGrid>
              <a:tr h="60721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기존 역할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동작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LLM·LangGraph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일반 대화 / 장애 요청 구분, 조사 계획·보고·검증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MCP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 모니터링 지표와 대응 매뉴얼 조회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웹 채팅·SQLite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진행 과정과 최종 응답 표시, 대화 이력 유지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EF29E-AC6A-49C3-8DAC-87CB6DDD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기존 구조를 활용해 조사 대상·매뉴얼 선택·답변 검증을 개선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D0ACE-623B-4569-BFC7-550E64EF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79964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A6D11-8D65-4A3F-A2C6-9669E38B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4개와 추가 기능 3개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7FAF1-C8BF-4210-A540-B7A4DA44E8BB}"/>
              </a:ext>
            </a:extLst>
          </p:cNvPr>
          <p:cNvGraphicFramePr/>
          <p:nvPr/>
        </p:nvGraphicFramePr>
        <p:xfrm>
          <a:off xmlns:a="http://schemas.openxmlformats.org/drawingml/2006/main" x="457200" y="1047750"/>
          <a:ext xmlns:a="http://schemas.openxmlformats.org/drawingml/2006/main" cx="112776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420100"/>
              </a:tblGrid>
              <a:tr h="69723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변경한 동작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조사 대상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요청한 서비스 전체를 각각 조회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미등록·대상 없음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다른 서비스로 바꾸지 않고 확인 요청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매뉴얼 선택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상태를 구분하고 서비스별 알림으로 검색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답변 검증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수치·서비스·절차를 근거와 대조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17B6D-3A84-4AA0-8B18-5EB49CE7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277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추가 기능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7C76C-2F12-4348-A279-61FCAF46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358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1. RAG 매뉴얼 검색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352C0-3352-4702-ACB9-345074A0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48300"/>
            <a:ext cx="358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2. 근거·미확인 화면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645AE-AC6F-4F02-A044-6AFDFD79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48300"/>
            <a:ext cx="358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3. 회귀·전후 비교 평가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603A8-957F-4EC1-A798-F1942044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31970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3D071-6F87-45DA-BC36-8F46DA10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사용 기술과 적용 방법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F9A80-C098-4B1D-8DD5-C378C6B8BE5B}"/>
              </a:ext>
            </a:extLst>
          </p:cNvPr>
          <p:cNvGraphicFramePr/>
          <p:nvPr/>
        </p:nvGraphicFramePr>
        <p:xfrm>
          <a:off xmlns:a="http://schemas.openxmlformats.org/drawingml/2006/main" x="457200" y="1114425"/>
          <a:ext xmlns:a="http://schemas.openxmlformats.org/drawingml/2006/main" cx="112776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857750"/>
                <a:gridCol w="4038600"/>
              </a:tblGrid>
              <a:tr h="7143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적용 방법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개선에 기여한 부분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MCP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매뉴얼 검색 Tool 추가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기존 지표·원문 조회와 연결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결과를 실제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매뉴얼 원문에 연결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bge-m3 임베딩·SQLite 저장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코사인 유사도로 문서 검색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고정 키워드 대신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서비스별 증상으로 검색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LangGraph·모듈화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대상·수집·검색·보고·검증 분리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 상태별 처리와 검증 연결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조사 누락·불필요한 검색 방지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답변의 서비스·수치 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의존성 주입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노드에 검색기를 주입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MCP 검색·고정 평가 검색 교체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구현 교체와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고정 조건의 평가 지원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단위 테스트·평가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분기 단위 테스트 31개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질문·지표 20건 전후 비교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대상·수치·실패 분기 검증</a:t>
                      </a:r>
                    </a:p>
                    <a:p>
                      <a:r>
                        <a:rPr sz="1875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조회·문서·처리 시간 기록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74455-2008-4629-B6DB-8AFC5D3A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기존 구조를 활용하고 검색·분기·검증·평가를 확장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2586D-4BCD-4B69-B0BF-877FE51A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6862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92AC9-B5EC-42A6-8C9D-53462E3D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전 · cache를 조회하지 않고 원인을 추정했다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8F38B-84AF-4423-A961-F6F6D21CF6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486952bfb4456"/>
          <a:stretch xmlns:a="http://schemas.openxmlformats.org/drawingml/2006/main"/>
        </p:blipFill>
        <p:spPr>
          <a:xfrm xmlns:a="http://schemas.openxmlformats.org/drawingml/2006/main">
            <a:off x="898632" y="914400"/>
            <a:ext cx="6032286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C9003-36B6-48B0-A2C8-3F4D5060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두 서비스를 요청했지만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payments만 조회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E8996-324F-47BE-9E40-E29C4D58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cache 지표 없음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공유 의존 관계도 미확인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350DB-21F4-41A1-98D1-3390B1EE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“트래픽 급증 또는</a:t>
            </a:r>
          </a:p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특정 요청 패턴”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BC1D0-6178-4C48-ABFF-2F96D066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516020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41406-FFE4-4CD2-B8B5-F81EC0BB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두 서비스를 각각 조사했다 1/2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3EFBF-7D66-447A-B81D-55EAE1BCEA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dab42134a4fe6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ED7E5-2749-40A1-BE87-B56784E3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질문에서 등록 서비스 전체를 추출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C6428-E0FF-4ED7-9107-54715C97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LLM 계획에 맡기지 않고 대상별 조회 작업을 재구성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F3B01-0366-4BCF-8530-A2F676AC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확정한 대상 목록으로 각 서비스의 모니터링 조회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3E179-2F80-4B18-95CF-19A8BF09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31913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4805B-38B0-45A4-9A4A-C7705027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공통 원인은 미확인으로 남겼다 2/2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367DE-DE17-4309-A69B-726852C847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078d1e94d409c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1C35C-1F74-4558-8066-064C7D6E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서비스별 근거는 제시하고, 공통 원인 확정은 보류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86F57-BF2C-453D-9824-57D8C3EF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86257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1C817-2580-4A21-B468-3E351593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전 · gateway만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893B2-6317-41BC-AD40-977F5E021A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36aa7498e4d3b"/>
          <a:stretch xmlns:a="http://schemas.openxmlformats.org/drawingml/2006/main"/>
        </p:blipFill>
        <p:spPr>
          <a:xfrm xmlns:a="http://schemas.openxmlformats.org/drawingml/2006/main">
            <a:off x="569422" y="914400"/>
            <a:ext cx="6690706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EBEE5-5F45-4952-9FCA-AF940BBB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gateway만 조회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payments 상태는 미수집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3CF94-9B73-47D8-83BD-8A48A778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연결된 두 서비스 중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상대 서비스의 근거가 빠짐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C5337-1ADF-4466-A33F-007CF0EB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수집된 사실: 모니터링 gateway-service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D39A1-7DBB-4BF5-9905-AA42DD4A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64066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E246A-C94E-4113-8C80-C9C39BDA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요청을 주고받는 두 서비스를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4FEE4-6EDA-4C4A-BB43-31FCF4FC3C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4d84ff68442bf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C01BA-5261-48BC-B3C9-9504E1CC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명시한 두 서비스의 조사 작업을 각각 보완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529D3-421E-49C4-B502-25DAFBC8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750062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4CF64-95D4-4F73-87C5-7871A2AD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1 후 · 두 서비스의 결과와 근거를 제시했다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23D1C-0F08-45E9-9CE8-971D6B3B00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38d0ae31940bb"/>
          <a:stretch xmlns:a="http://schemas.openxmlformats.org/drawingml/2006/main"/>
        </p:blipFill>
        <p:spPr>
          <a:xfrm xmlns:a="http://schemas.openxmlformats.org/drawingml/2006/main">
            <a:off x="1239120" y="819150"/>
            <a:ext cx="9713761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A9E56-90D4-4328-AABB-7F68C39E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두 서비스의 조회 결과와 참고 매뉴얼을 각각 제시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23ED4-173C-428D-A271-5DDBBDE2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38111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A39FE-A1E2-42C1-A117-018DA509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전 · billing을 묻자 auth를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3605B-59C2-428B-8B40-EAC438683C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eae321932445a"/>
          <a:stretch xmlns:a="http://schemas.openxmlformats.org/drawingml/2006/main"/>
        </p:blipFill>
        <p:spPr>
          <a:xfrm xmlns:a="http://schemas.openxmlformats.org/drawingml/2006/main">
            <a:off x="457200" y="1029811"/>
            <a:ext cx="11277600" cy="386492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B04EA-2138-4484-A362-312267A1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요청: billing-service</a:t>
            </a:r>
          </a:p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실제 조회: auth-service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F58EC-DA3A-403D-AC5C-C5F54829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2550"/>
            <a:ext cx="5334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원래 정책: 미등록 이름은 auth 기본 처리</a:t>
            </a:r>
          </a:p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문제: 사용자가 요청한 대상과 불일치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12921-9653-4B84-AF11-FFC31F24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484446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43B5B-3F15-4880-B996-F54E4882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후 · 미등록이면 등록 이름을 다시 묻는다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C04FA-727F-4BE3-98E8-4347AA6956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e198c3e0846ed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2CBB8-34B4-4A26-AF54-F6B8EFC6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입력한 서비스와 등록 목록을 대조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A11C5-F077-4093-9272-1E276A5C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미등록이면 모니터링과 보고 생성을 생략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94180-2652-4131-A9AE-50F99676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다른 서비스로 바꾸지 않고 등록 이름을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47886-7BFE-4A7B-8B27-C244CF12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255391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F9329-E253-4153-9660-60A2D081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전 · 로그인만으로 auth를 조회했다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8F2C7-073D-4413-8EE2-743F17E19C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6c970fbe94c7a"/>
          <a:stretch xmlns:a="http://schemas.openxmlformats.org/drawingml/2006/main"/>
        </p:blipFill>
        <p:spPr>
          <a:xfrm xmlns:a="http://schemas.openxmlformats.org/drawingml/2006/main">
            <a:off x="457200" y="994569"/>
            <a:ext cx="11277600" cy="393541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0E1F1-572A-424E-8F16-6F1FCFA9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533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서비스 이름이 없는데</a:t>
            </a:r>
          </a:p>
          <a:p xmlns:a="http://schemas.openxmlformats.org/drawingml/2006/main">
            <a:pPr>
              <a:def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auth-service로 조회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A2F67-6FE9-432C-ABE0-60524962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2550"/>
            <a:ext cx="5334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원래 auth 기본 정책을</a:t>
            </a:r>
          </a:p>
          <a:p xmlns:a="http://schemas.openxmlformats.org/drawingml/2006/main">
            <a:pPr>
              <a:def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대상 이름 확인 요청으로 변경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5AD3B-97DE-4D96-A17E-C6923E9B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241431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D078D-6302-4A4F-B1FA-DEE88C02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2 후 · 서비스 이름을 먼저 확인한다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D6605-C540-4DF9-ACEE-420862964C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2c8b6c2a6412a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EDA13-56B7-453E-B1B9-A244F7EE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서비스 이름이 없는 장애 요청을 감지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6268F-9CAB-4AF4-A815-F8244504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auth 기본값 적용을 제거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93C4B-733D-4612-B459-57C8DE56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실제 조회 대신 대상 확인 안내를 반환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1C0E3-1224-4ADD-A7C3-A9409278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507317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35913-6FC5-4D44-9971-34A98A76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3 전 · 정상 web에 DB 장애 절차를 연결했다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E221A-69F9-4314-AE72-34BD906F9A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b3585aaeb4ca7"/>
          <a:stretch xmlns:a="http://schemas.openxmlformats.org/drawingml/2006/main"/>
        </p:blipFill>
        <p:spPr>
          <a:xfrm xmlns:a="http://schemas.openxmlformats.org/drawingml/2006/main">
            <a:off x="304800" y="978429"/>
            <a:ext cx="7219950" cy="524404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9FC06-31AD-4630-AB81-39034991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web-01: healthy·알림 0건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선택 문서: db-down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6A1DC-C7DF-4417-924A-9D975563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정상인데 장애 문서 선택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auth 조사도 누락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22F43-88D3-4995-BDE1-5C8086EB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“DB Down 대응 절차”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CFEA3-E1BF-4424-9CCC-BD82BE3E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617781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6DBB7-23F9-450D-9D78-7D3FB23F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3 후 · 정상·장애를 서비스별로 구분했다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93C2D-873E-4765-8586-0F2CE3A332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63b139e494c8d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4F15A-6543-418A-88B4-BCD34B00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상태·활성 알림으로 정상·장애·정보 부족을 구분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0CF07-6CEB-4445-B96A-78A19A0E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정상·정보 부족은 장애 매뉴얼 검색을 생략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12DAD-B96C-4336-84FF-789252FF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해당 서비스에서 확인한 알림으로 매뉴얼 검색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690E8-9D0F-461F-9273-2F9EC19E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783284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C6EE9-6651-42F0-813F-8A6390E3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4 전 · 로그 미수집인데 분석 결과처럼 답했다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494B2-CD69-464E-B427-B8AC8162FB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b4470b2f64a7c"/>
          <a:stretch xmlns:a="http://schemas.openxmlformats.org/drawingml/2006/main"/>
        </p:blipFill>
        <p:spPr>
          <a:xfrm xmlns:a="http://schemas.openxmlformats.org/drawingml/2006/main">
            <a:off x="473611" y="914400"/>
            <a:ext cx="6882329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3202D-33EC-41D3-AF55-1E152CC9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로그 조회 없이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분석 결과처럼 답변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E6115-E751-4521-B134-4A2D12FE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수집 자료: 지표·매뉴얼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로그 분석 근거는 없음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380E4-2120-4CBA-A383-29D7DE82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“로그 분석 결과</a:t>
            </a:r>
          </a:p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특이 패턴 없음.”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FB438-DDE8-45E0-AA78-D4CA8DA1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135406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70F45-8AB2-4FF7-86AD-AC230372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4 후 · 조회 결과와 매뉴얼 원문으로 보고했다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9E20F-BC6B-433E-8049-11C30CD96B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51d8fb8834c14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31845-11E7-4123-8FD4-6944A8B1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JSON에 서비스·수치·문서·절차 번호만 출력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B7780-9108-4CB9-84F5-AE40C6E5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수집된 대상·수치·문서·절차 번호와 대조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352F3-C1BB-4646-9BB4-B9E4B9A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317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3. 검증 후 매뉴얼 원문으로 출력해 조치 조건 유지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8EBDF-80DF-4C74-BC57-1D3AC53A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675103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BAEE3-9AAB-4C5E-9F36-926496A8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대화 개선 전 · 사용자 이름을 자기소개에 섞었다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F5CF7-C6CD-4183-A50F-4C1567252E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87b226deb44de"/>
          <a:stretch xmlns:a="http://schemas.openxmlformats.org/drawingml/2006/main"/>
        </p:blipFill>
        <p:spPr>
          <a:xfrm xmlns:a="http://schemas.openxmlformats.org/drawingml/2006/main">
            <a:off x="932377" y="914400"/>
            <a:ext cx="5964796" cy="5372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5BFB9-A6D1-44FD-B809-22E025FC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0492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사용자 이름 민수가</a:t>
            </a:r>
          </a:p>
          <a:p xmlns:a="http://schemas.openxmlformats.org/drawingml/2006/main">
            <a:pPr>
              <a:def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비서의 자기소개에 섞임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54C86-2BE8-4771-8A1A-09555731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사용자와 비서 이름 혼동</a:t>
            </a:r>
          </a:p>
          <a:p xmlns:a="http://schemas.openxmlformats.org/drawingml/2006/main">
            <a:pPr>
              <a:def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사용자 역할의 선언만 읽기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0A605-5CBA-411E-BC8A-7E952776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“민수라는 이름으로…”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675F2-8D5C-47E2-A2B9-F2C7DC9E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139499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B8145-703D-4883-80C3-DD858E64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대화 개선 후 · 사용자 이름을 올바르게 답한다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14404-BD0B-4CD5-B49C-4082092E94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3c9c1139743db"/>
          <a:stretch xmlns:a="http://schemas.openxmlformats.org/drawingml/2006/main"/>
        </p:blipFill>
        <p:spPr>
          <a:xfrm xmlns:a="http://schemas.openxmlformats.org/drawingml/2006/main">
            <a:off x="1865268" y="819150"/>
            <a:ext cx="846146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4E9B9-CED3-4210-A2E7-043FC042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1. 사용자 역할의 이름 선언만 추출, 이름 질문·비서 발화는 제외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660ED-3968-4BF1-978F-37DEB435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2. 같은 대화 이력에서 사용자가 밝힌 이름을 조회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11EA8-F092-4B1D-8794-B04AB571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387722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99172-D0EA-48A3-BE1A-8FE6736D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추가 1 · 증상에 맞는 매뉴얼을 검색한다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96446-B718-4906-976A-F6CF11BF09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b068ffa47444d"/>
          <a:stretch xmlns:a="http://schemas.openxmlformats.org/drawingml/2006/main"/>
        </p:blipFill>
        <p:spPr>
          <a:xfrm xmlns:a="http://schemas.openxmlformats.org/drawingml/2006/main">
            <a:off x="304800" y="1407757"/>
            <a:ext cx="7791450" cy="438538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FE93B-EBBE-429E-9EFA-80BEC4BA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0668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0368F-E0F3-4384-BB5B-09AC7BFD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716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1. 알림·문서를 bge-m3로 벡터화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45989-577D-45E3-BB1E-4940712C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479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2. SQLite에서 유사한 문서 검색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FF211-B869-442B-AC9A-537A05BF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242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3. MCP로 매뉴얼 원문 조회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B143C-9452-4B12-9FFB-784360CF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95825"/>
            <a:ext cx="3295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실제 실행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log-service → disk-full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유사도 0.673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4AB57-CAD8-409B-9C26-1F1BDAC4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검색기를 의존성으로 분리해 교체·단위 테스트 가능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1B049-62C6-4EE0-8041-EF806F16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909854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DED6A-B059-4D79-9503-FE0E3ACC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추가 2 · 답변에 사용한 근거를 화면에 표시한다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4B07C-0BB8-4C84-8040-27502E5649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9872bfa3a4bb6"/>
          <a:stretch xmlns:a="http://schemas.openxmlformats.org/drawingml/2006/main"/>
        </p:blipFill>
        <p:spPr>
          <a:xfrm xmlns:a="http://schemas.openxmlformats.org/drawingml/2006/main">
            <a:off x="304800" y="1407757"/>
            <a:ext cx="7791450" cy="438538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4971A-8C96-4C43-9D11-C2C4717C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0668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DC933-9D08-415D-9CB7-9F786B9C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716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1. 조회한 근거를</a:t>
            </a:r>
          </a:p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답변과 함께 전송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C64C4-ABDA-4AA2-8B51-3EB7A6CC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479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2. 서비스·수치·문서를</a:t>
            </a:r>
          </a:p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표로 표시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E3083-283E-4876-8C42-21659458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242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3. 미확인 항목과</a:t>
            </a:r>
          </a:p>
          <a:p xmlns:a="http://schemas.openxmlformats.org/drawingml/2006/main">
            <a:pPr>
              <a:def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조치 미실행 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6B3F8-CCE6-4253-8699-8C8DFC09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95825"/>
            <a:ext cx="3295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실제 실행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web: 매뉴얼 없음</a:t>
            </a:r>
          </a:p>
          <a:p xmlns:a="http://schemas.openxmlformats.org/drawingml/2006/main">
            <a:pPr>
              <a:def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auth: 지연 매뉴얼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5A0C8-E0FC-4289-9D2E-4C5954A8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943759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ED0E8-317F-42E6-8EC2-14947F37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추가 3 · 같은 질문의 결과를 자동 비교한다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5CA81-B02F-4489-BD36-90F1266AFD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bece434e7456d"/>
          <a:stretch xmlns:a="http://schemas.openxmlformats.org/drawingml/2006/main"/>
        </p:blipFill>
        <p:spPr>
          <a:xfrm xmlns:a="http://schemas.openxmlformats.org/drawingml/2006/main">
            <a:off x="1236133" y="819150"/>
            <a:ext cx="9719733" cy="5467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0C47A-E5AE-4CFE-AB32-4CE12F10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고정 질문 20개로 전후 비교, 단위 테스트 31개로 분기·검증 점검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0C891-B7F3-4715-AF42-C41C6069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041420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6BB3E-4BA7-4723-9C6A-15AA6F1E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개선 전후 측정 결과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36BC6A68-168D-43B5-8902-58A9C57852C7}"/>
              </a:ext>
            </a:extLst>
          </p:cNvPr>
          <p:cNvGraphicFramePr/>
          <p:nvPr/>
        </p:nvGraphicFramePr>
        <p:xfrm>
          <a:off xmlns:a="http://schemas.openxmlformats.org/drawingml/2006/main" x="457200" y="1028700"/>
          <a:ext xmlns:a="http://schemas.openxmlformats.org/drawingml/2006/main" cx="5295900" cy="2162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ce5b048e484ae0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5E403-C2C5-47AA-B92C-CE094085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필요한 등록 서비스와 실제 조회 목록을 대조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C809E7D-D81F-4EF3-A8E7-76EBFB7DDF4D}"/>
              </a:ext>
            </a:extLst>
          </p:cNvPr>
          <p:cNvGraphicFramePr/>
          <p:nvPr/>
        </p:nvGraphicFramePr>
        <p:xfrm>
          <a:off xmlns:a="http://schemas.openxmlformats.org/drawingml/2006/main" x="6438900" y="1028700"/>
          <a:ext xmlns:a="http://schemas.openxmlformats.org/drawingml/2006/main" cx="5295900" cy="2162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c4b5827208490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6E18F-6822-4757-A5C5-D43CA06A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90875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누락과 불필요한 대체 조회가 모두 없는 질문 수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9C2B06C-1E9D-446B-9D6C-AFD3D325133D}"/>
              </a:ext>
            </a:extLst>
          </p:cNvPr>
          <p:cNvGraphicFramePr/>
          <p:nvPr/>
        </p:nvGraphicFramePr>
        <p:xfrm>
          <a:off xmlns:a="http://schemas.openxmlformats.org/drawingml/2006/main" x="457200" y="3409950"/>
          <a:ext xmlns:a="http://schemas.openxmlformats.org/drawingml/2006/main" cx="5295900" cy="2162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eddbb627d5477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50629-C029-4827-A4A4-68737187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첫 선택 문서가 기대 문서와 같은 질문 수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7EB29DE3-A8FF-4A59-9750-8782E841C97D}"/>
              </a:ext>
            </a:extLst>
          </p:cNvPr>
          <p:cNvGraphicFramePr/>
          <p:nvPr/>
        </p:nvGraphicFramePr>
        <p:xfrm>
          <a:off xmlns:a="http://schemas.openxmlformats.org/drawingml/2006/main" x="6438900" y="3409950"/>
          <a:ext xmlns:a="http://schemas.openxmlformats.org/drawingml/2006/main" cx="5295900" cy="2162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25d2252f484d6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0DA07-9A88-4D1C-9C9B-3309F11A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72125"/>
            <a:ext cx="529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전후 모두 완료한 같은 질문의 그래프 실행 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21DD4-A79F-4C32-8D30-1976BE14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고정 질문 20개·같은 모델·같은 모니터링 지표로 비교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A6638-C8B9-4426-9BBD-6342D98C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57925"/>
            <a:ext cx="10839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시간은 전후 모두 완료한 16문항 기준. 생성 설정·출력 방식도 함께 변경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77717-9477-4F7D-8A5B-CADFD540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549431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E1091-F4AB-46F7-9CFF-7D397C6F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2E40"/>
                </a:solidFill>
                <a:latin typeface="Apple SD Gothic Neo"/>
                <a:ea typeface="Apple SD Gothic Neo"/>
                <a:cs typeface="Apple SD Gothic Neo"/>
              </a:rPr>
              <a:t>한계와 다음 개선 방향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39545-D139-434F-9FD0-99C5973A1D91}"/>
              </a:ext>
            </a:extLst>
          </p:cNvPr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12776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8039100"/>
              </a:tblGrid>
              <a:tr h="75009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2786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한계·대가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T w="9525">
                      <a:solidFill>
                        <a:srgbClr val="D8E2E6"/>
                      </a:solidFill>
                      <a:prstDash val="solid"/>
                    </a:lnT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ECF3F4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임베딩·문서 검색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지연·오검색 가능성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문서 6개·모의 지표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운영 성능·일반화 미검증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구조화·원문 출력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2E6"/>
                      </a:solidFill>
                      <a:prstDash val="solid"/>
                    </a:lnL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E4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자유로운 종합 설명 범위 제한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2E6"/>
                      </a:solidFill>
                      <a:prstDash val="solid"/>
                    </a:lnR>
                    <a:lnB w="9525">
                      <a:solidFill>
                        <a:srgbClr val="D8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D584D-2E38-4392-8FC2-843011A7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11277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786D"/>
                </a:solidFill>
                <a:latin typeface="Apple SD Gothic Neo"/>
                <a:ea typeface="Apple SD Gothic Neo"/>
                <a:cs typeface="Apple SD Gothic Neo"/>
              </a:rPr>
              <a:t>다음 단계: 실제 로그·시계열 자료 수집과 독립 질문 평가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6B519-ED1A-4615-9AC7-2A62FDE5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8652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26877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28160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2026-10-22T01:53:04.0460000Z</dcterms:created>
  <dcterms:modified xsi:type="dcterms:W3CDTF">2026-10-22T01:53:04.0460000Z</dcterms:modified>
</coreProperties>
</file>