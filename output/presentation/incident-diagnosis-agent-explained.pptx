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76d3b3eeb54777" /><Relationship Type="http://schemas.openxmlformats.org/officeDocument/2006/relationships/extended-properties" Target="/docProps/app.xml" Id="R9b152b4f129e48b0" /><Relationship Type="http://schemas.openxmlformats.org/officeDocument/2006/relationships/officeDocument" Target="/ppt/presentation.xml" Id="R517430d51a0d47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072ff48555445de"/>
  </p:sldMasterIdLst>
  <p:notesMasterIdLst>
    <p:notesMasterId xmlns:r="http://schemas.openxmlformats.org/officeDocument/2006/relationships" r:id="R7d96c61138014c5a"/>
  </p:notesMasterIdLst>
  <p:sldIdLst>
    <p:sldId xmlns:r="http://schemas.openxmlformats.org/officeDocument/2006/relationships" id="256" r:id="R1bc9344035ef4133"/>
    <p:sldId xmlns:r="http://schemas.openxmlformats.org/officeDocument/2006/relationships" id="257" r:id="Rb51dd28f36bf4164"/>
    <p:sldId xmlns:r="http://schemas.openxmlformats.org/officeDocument/2006/relationships" id="258" r:id="R759471b6c6754242"/>
    <p:sldId xmlns:r="http://schemas.openxmlformats.org/officeDocument/2006/relationships" id="259" r:id="R3acfe178ae7240c8"/>
    <p:sldId xmlns:r="http://schemas.openxmlformats.org/officeDocument/2006/relationships" id="260" r:id="Re041242622a84f4b"/>
    <p:sldId xmlns:r="http://schemas.openxmlformats.org/officeDocument/2006/relationships" id="261" r:id="Rd1513e2c1af54b56"/>
    <p:sldId xmlns:r="http://schemas.openxmlformats.org/officeDocument/2006/relationships" id="262" r:id="Rc59a8f2986bd4745"/>
    <p:sldId xmlns:r="http://schemas.openxmlformats.org/officeDocument/2006/relationships" id="263" r:id="Rf852444c9dae4ae1"/>
    <p:sldId xmlns:r="http://schemas.openxmlformats.org/officeDocument/2006/relationships" id="264" r:id="R88711ab515ba4f5e"/>
    <p:sldId xmlns:r="http://schemas.openxmlformats.org/officeDocument/2006/relationships" id="265" r:id="R3928af7b2025477e"/>
    <p:sldId xmlns:r="http://schemas.openxmlformats.org/officeDocument/2006/relationships" id="266" r:id="R9fa24329f23e466a"/>
    <p:sldId xmlns:r="http://schemas.openxmlformats.org/officeDocument/2006/relationships" id="267" r:id="R11390120f2de47b5"/>
    <p:sldId xmlns:r="http://schemas.openxmlformats.org/officeDocument/2006/relationships" id="268" r:id="Ra4018256cd1649a0"/>
    <p:sldId xmlns:r="http://schemas.openxmlformats.org/officeDocument/2006/relationships" id="269" r:id="R0d24ff9825d24143"/>
    <p:sldId xmlns:r="http://schemas.openxmlformats.org/officeDocument/2006/relationships" id="270" r:id="R44272d0428ce4ce7"/>
    <p:sldId xmlns:r="http://schemas.openxmlformats.org/officeDocument/2006/relationships" id="271" r:id="R788698222ce149d3"/>
    <p:sldId xmlns:r="http://schemas.openxmlformats.org/officeDocument/2006/relationships" id="272" r:id="R3ca3c75963044de6"/>
    <p:sldId xmlns:r="http://schemas.openxmlformats.org/officeDocument/2006/relationships" id="273" r:id="Rb6bb058833554933"/>
    <p:sldId xmlns:r="http://schemas.openxmlformats.org/officeDocument/2006/relationships" id="274" r:id="R9d2cc47f324341d4"/>
    <p:sldId xmlns:r="http://schemas.openxmlformats.org/officeDocument/2006/relationships" id="275" r:id="Re05333fef41f4324"/>
    <p:sldId xmlns:r="http://schemas.openxmlformats.org/officeDocument/2006/relationships" id="276" r:id="R972460bfad3843d7"/>
    <p:sldId xmlns:r="http://schemas.openxmlformats.org/officeDocument/2006/relationships" id="277" r:id="R6c47ae4157634874"/>
    <p:sldId xmlns:r="http://schemas.openxmlformats.org/officeDocument/2006/relationships" id="278" r:id="R86b3ad15c6e0467c"/>
    <p:sldId xmlns:r="http://schemas.openxmlformats.org/officeDocument/2006/relationships" id="279" r:id="R3754d0418add458e"/>
    <p:sldId xmlns:r="http://schemas.openxmlformats.org/officeDocument/2006/relationships" id="280" r:id="Ra147e153b9d14617"/>
    <p:sldId xmlns:r="http://schemas.openxmlformats.org/officeDocument/2006/relationships" id="281" r:id="R26d36a659687470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422e715cddc494a" /><Relationship Type="http://schemas.openxmlformats.org/officeDocument/2006/relationships/slideMaster" Target="/ppt/slideMasters/slideMaster1.xml" Id="Ra072ff48555445de" /><Relationship Type="http://schemas.openxmlformats.org/officeDocument/2006/relationships/notesMaster" Target="/ppt/notesMasters/notesMaster1.xml" Id="R7d96c61138014c5a" /><Relationship Type="http://schemas.openxmlformats.org/officeDocument/2006/relationships/presProps" Target="/ppt/presProps.xml" Id="R55885a1bc7d14d7c" /><Relationship Type="http://schemas.openxmlformats.org/officeDocument/2006/relationships/tableStyles" Target="/ppt/tableStyles.xml" Id="R2cfdbf5c5e204c23" /><Relationship Type="http://schemas.openxmlformats.org/officeDocument/2006/relationships/slide" Target="/ppt/slides/slide1.xml" Id="R1bc9344035ef4133" /><Relationship Type="http://schemas.openxmlformats.org/officeDocument/2006/relationships/slide" Target="/ppt/slides/slide2.xml" Id="Rb51dd28f36bf4164" /><Relationship Type="http://schemas.openxmlformats.org/officeDocument/2006/relationships/slide" Target="/ppt/slides/slide3.xml" Id="R759471b6c6754242" /><Relationship Type="http://schemas.openxmlformats.org/officeDocument/2006/relationships/slide" Target="/ppt/slides/slide4.xml" Id="R3acfe178ae7240c8" /><Relationship Type="http://schemas.openxmlformats.org/officeDocument/2006/relationships/slide" Target="/ppt/slides/slide5.xml" Id="Re041242622a84f4b" /><Relationship Type="http://schemas.openxmlformats.org/officeDocument/2006/relationships/slide" Target="/ppt/slides/slide6.xml" Id="Rd1513e2c1af54b56" /><Relationship Type="http://schemas.openxmlformats.org/officeDocument/2006/relationships/slide" Target="/ppt/slides/slide7.xml" Id="Rc59a8f2986bd4745" /><Relationship Type="http://schemas.openxmlformats.org/officeDocument/2006/relationships/slide" Target="/ppt/slides/slide8.xml" Id="Rf852444c9dae4ae1" /><Relationship Type="http://schemas.openxmlformats.org/officeDocument/2006/relationships/slide" Target="/ppt/slides/slide9.xml" Id="R88711ab515ba4f5e" /><Relationship Type="http://schemas.openxmlformats.org/officeDocument/2006/relationships/slide" Target="/ppt/slides/slide10.xml" Id="R3928af7b2025477e" /><Relationship Type="http://schemas.openxmlformats.org/officeDocument/2006/relationships/slide" Target="/ppt/slides/slide11.xml" Id="R9fa24329f23e466a" /><Relationship Type="http://schemas.openxmlformats.org/officeDocument/2006/relationships/slide" Target="/ppt/slides/slide12.xml" Id="R11390120f2de47b5" /><Relationship Type="http://schemas.openxmlformats.org/officeDocument/2006/relationships/slide" Target="/ppt/slides/slide13.xml" Id="Ra4018256cd1649a0" /><Relationship Type="http://schemas.openxmlformats.org/officeDocument/2006/relationships/slide" Target="/ppt/slides/slide14.xml" Id="R0d24ff9825d24143" /><Relationship Type="http://schemas.openxmlformats.org/officeDocument/2006/relationships/slide" Target="/ppt/slides/slide15.xml" Id="R44272d0428ce4ce7" /><Relationship Type="http://schemas.openxmlformats.org/officeDocument/2006/relationships/slide" Target="/ppt/slides/slide16.xml" Id="R788698222ce149d3" /><Relationship Type="http://schemas.openxmlformats.org/officeDocument/2006/relationships/slide" Target="/ppt/slides/slide17.xml" Id="R3ca3c75963044de6" /><Relationship Type="http://schemas.openxmlformats.org/officeDocument/2006/relationships/slide" Target="/ppt/slides/slide18.xml" Id="Rb6bb058833554933" /><Relationship Type="http://schemas.openxmlformats.org/officeDocument/2006/relationships/slide" Target="/ppt/slides/slide19.xml" Id="R9d2cc47f324341d4" /><Relationship Type="http://schemas.openxmlformats.org/officeDocument/2006/relationships/slide" Target="/ppt/slides/slide20.xml" Id="Re05333fef41f4324" /><Relationship Type="http://schemas.openxmlformats.org/officeDocument/2006/relationships/slide" Target="/ppt/slides/slide21.xml" Id="R972460bfad3843d7" /><Relationship Type="http://schemas.openxmlformats.org/officeDocument/2006/relationships/slide" Target="/ppt/slides/slide22.xml" Id="R6c47ae4157634874" /><Relationship Type="http://schemas.openxmlformats.org/officeDocument/2006/relationships/slide" Target="/ppt/slides/slide23.xml" Id="R86b3ad15c6e0467c" /><Relationship Type="http://schemas.openxmlformats.org/officeDocument/2006/relationships/slide" Target="/ppt/slides/slide24.xml" Id="R3754d0418add458e" /><Relationship Type="http://schemas.openxmlformats.org/officeDocument/2006/relationships/slide" Target="/ppt/slides/slide25.xml" Id="Ra147e153b9d14617" /><Relationship Type="http://schemas.openxmlformats.org/officeDocument/2006/relationships/slide" Target="/ppt/slides/slide26.xml" Id="R26d36a65968747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e526848fe24e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ple SD Gothic Neo"/>
        <a:ea typeface=""/>
        <a:cs typeface=""/>
      </a:majorFont>
      <a:minorFont>
        <a:latin typeface="Apple SD Gothic Neo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af50b5b0254b34" /><Relationship Type="http://schemas.openxmlformats.org/officeDocument/2006/relationships/notesMaster" Target="/ppt/notesMasters/notesMaster1.xml" Id="R8d8c0fd4890a48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831326927c49b9" /><Relationship Type="http://schemas.openxmlformats.org/officeDocument/2006/relationships/notesMaster" Target="/ppt/notesMasters/notesMaster1.xml" Id="Rc4d8c1f573814f1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379bfd793604085" /><Relationship Type="http://schemas.openxmlformats.org/officeDocument/2006/relationships/notesMaster" Target="/ppt/notesMasters/notesMaster1.xml" Id="R1143da97aa904f9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c9169e6c3724aa9" /><Relationship Type="http://schemas.openxmlformats.org/officeDocument/2006/relationships/notesMaster" Target="/ppt/notesMasters/notesMaster1.xml" Id="R7790349009ce495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b89aee0392467f" /><Relationship Type="http://schemas.openxmlformats.org/officeDocument/2006/relationships/notesMaster" Target="/ppt/notesMasters/notesMaster1.xml" Id="R9f36f0848edc46f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e8404b2f5a7432d" /><Relationship Type="http://schemas.openxmlformats.org/officeDocument/2006/relationships/notesMaster" Target="/ppt/notesMasters/notesMaster1.xml" Id="R980961d39fa8445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214764a2b3f41cd" /><Relationship Type="http://schemas.openxmlformats.org/officeDocument/2006/relationships/notesMaster" Target="/ppt/notesMasters/notesMaster1.xml" Id="R1f0ff2cf672e469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c0f2c9cb84d46de" /><Relationship Type="http://schemas.openxmlformats.org/officeDocument/2006/relationships/notesMaster" Target="/ppt/notesMasters/notesMaster1.xml" Id="R0a8f0e9c8f9d442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85c839afb164018" /><Relationship Type="http://schemas.openxmlformats.org/officeDocument/2006/relationships/notesMaster" Target="/ppt/notesMasters/notesMaster1.xml" Id="Rcf112963ea5f455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993ac93b58d4fe8" /><Relationship Type="http://schemas.openxmlformats.org/officeDocument/2006/relationships/notesMaster" Target="/ppt/notesMasters/notesMaster1.xml" Id="Rb7cf369a69c8427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78e780f27ed477c" /><Relationship Type="http://schemas.openxmlformats.org/officeDocument/2006/relationships/notesMaster" Target="/ppt/notesMasters/notesMaster1.xml" Id="R6f0fd0e113af4f1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0aa32f45aa04b97" /><Relationship Type="http://schemas.openxmlformats.org/officeDocument/2006/relationships/notesMaster" Target="/ppt/notesMasters/notesMaster1.xml" Id="R121c6aeb808245b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12810cf47b64a0e" /><Relationship Type="http://schemas.openxmlformats.org/officeDocument/2006/relationships/notesMaster" Target="/ppt/notesMasters/notesMaster1.xml" Id="R9a328f0f8669413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41c1a921c434a6c" /><Relationship Type="http://schemas.openxmlformats.org/officeDocument/2006/relationships/notesMaster" Target="/ppt/notesMasters/notesMaster1.xml" Id="Ree1f39800b1b44a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0370c5c249d4dc7" /><Relationship Type="http://schemas.openxmlformats.org/officeDocument/2006/relationships/notesMaster" Target="/ppt/notesMasters/notesMaster1.xml" Id="R418dc94a3452491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78fc7b246fa44be" /><Relationship Type="http://schemas.openxmlformats.org/officeDocument/2006/relationships/notesMaster" Target="/ppt/notesMasters/notesMaster1.xml" Id="Rafc583ecdb12408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189841fd6eb496b" /><Relationship Type="http://schemas.openxmlformats.org/officeDocument/2006/relationships/notesMaster" Target="/ppt/notesMasters/notesMaster1.xml" Id="R5a0341fc7f19453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0759bc3f2184980" /><Relationship Type="http://schemas.openxmlformats.org/officeDocument/2006/relationships/notesMaster" Target="/ppt/notesMasters/notesMaster1.xml" Id="R3a631510e9994db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b9a2f635d2741c9" /><Relationship Type="http://schemas.openxmlformats.org/officeDocument/2006/relationships/notesMaster" Target="/ppt/notesMasters/notesMaster1.xml" Id="R392b7ffe9c6d400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397d0bc8894492e" /><Relationship Type="http://schemas.openxmlformats.org/officeDocument/2006/relationships/notesMaster" Target="/ppt/notesMasters/notesMaster1.xml" Id="R6ac59efb89c44d8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88a5594806b4a6d" /><Relationship Type="http://schemas.openxmlformats.org/officeDocument/2006/relationships/notesMaster" Target="/ppt/notesMasters/notesMaster1.xml" Id="R4e0252f6b33c4b8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1b148360ef9432f" /><Relationship Type="http://schemas.openxmlformats.org/officeDocument/2006/relationships/notesMaster" Target="/ppt/notesMasters/notesMaster1.xml" Id="R4296e529501f41f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1c45ca3bad14a21" /><Relationship Type="http://schemas.openxmlformats.org/officeDocument/2006/relationships/notesMaster" Target="/ppt/notesMasters/notesMaster1.xml" Id="R9dd849426d864b4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a23bbd6cbea4294" /><Relationship Type="http://schemas.openxmlformats.org/officeDocument/2006/relationships/notesMaster" Target="/ppt/notesMasters/notesMaster1.xml" Id="R6a1ddc62a61e4b8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6e3f9982c584596" /><Relationship Type="http://schemas.openxmlformats.org/officeDocument/2006/relationships/notesMaster" Target="/ppt/notesMasters/notesMaster1.xml" Id="R7c5c462ff38c498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42c865921484819" /><Relationship Type="http://schemas.openxmlformats.org/officeDocument/2006/relationships/notesMaster" Target="/ppt/notesMasters/notesMaster1.xml" Id="Rf58b90a73bd54b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안녕하세요. 실습 일 번, 베이스 프로젝트 개선을 선택한 이진형입니다.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베이스는 all_total_vue 운영 인시던트 대응 에이전트입니다. 사용자가 서비스와 증상을 입력하면 LLM이 조사 계획을 세우고, MCP로 지표와 매뉴얼을 조회해 보고서를 작성합니다. 이 프로젝트의 조사와 답변을 개선했습니다.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기존 프로젝트: 수업에서 제공한 all_total_vue다. FastAPI 서버, LangGraph v2 그래프, MCP Tool·Resource·Prompt, Vue 채팅 화면, SQLite 대화 이력이 이미 있다.</a:t>
            </a:r>
          </a:p>
          <a:p xmlns:a="http://schemas.openxmlformats.org/drawingml/2006/main">
            <a:r>
              <a:t>2. 원래 흐름은 route → plan → gate → research → replan_check → analysis → write → validate → finalize다. 일반 대화는 조사 파이프라인을 건너뛴다.</a:t>
            </a:r>
          </a:p>
          <a:p xmlns:a="http://schemas.openxmlformats.org/drawingml/2006/main">
            <a:r>
              <a:t>3. 이번 개선에서 실제로 검증한 모델은 Ollama의 qwen3:0.6b/8b다. 모니터링은 교육용 모의 데이터이며 실제 운영 로그·서버 조치는 없다. 기존 기반 전체를 새로 개발했다고 말하지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day1/baseline/original_v2/doc/README.md; day1/baseline/original_v2/agent/graph.py; day1/baseline/original_v2/server.py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결제와 캐시를 함께 물었는데 결제만 조회했습니다. 캐시 자료 없이 원인을 추정했습니다.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원본의 _extract_system_name은 최초 언급 서비스 하나만 MCP 계획 문맥으로 넘긴다. 이후 실제 조사 목록은 LLM tasks에 의존해 cache가 빠질 수 있었다.</a:t>
            </a:r>
          </a:p>
          <a:p xmlns:a="http://schemas.openxmlformats.org/drawingml/2006/main">
            <a:r>
              <a:t>2. 사진에서는 수집된 사실에 payments만 있고 cache 자료가 없다. 공통 원인을 확정할 근거도 부족하다.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day1/evidence/user-screenshots/04-payments-cache.png; day1/evidence/OBSERVATIONS.md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요청에서 전체 서비스를 뽑고, 그 목록으로 조회 작업을 다시 구성했습니다. LLM 계획에서 빠져도 두 서비스 모두 조사합니다.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agent/targets.py의 select_targets가 등록 목록과 요청 텍스트를 대조해 알려진 대상 전체와 미등록 대상을 나눈다.</a:t>
            </a:r>
          </a:p>
          <a:p xmlns:a="http://schemas.openxmlformats.org/drawingml/2006/main">
            <a:r>
              <a:t>2. repair_plan은 모델의 tasks를 그대로 실행하지 않고, 확정된 대상마다 monitor-{service} 작업을 다시 만든다. scope_node·plan_node가 이 목록을 보존한다.</a:t>
            </a:r>
          </a:p>
          <a:p xmlns:a="http://schemas.openxmlformats.org/drawingml/2006/main">
            <a:r>
              <a:t>3. agent/research.py의 collect_monitoring은 확정된 targets 전체를 asyncio.gather로 조회한다. 각 조회의 오류를 개별 기록해 다른 서비스 수집을 취소하지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day2/evidence/review-q06-first.jpg; day2/results/contextual-captures/a19f84a4-7221-45f6-938e-f8dac295ea28-eca497a3.json; all_total_vue_student/agent/targets.py; all_total_vue_student/agent/research.py; all_total_vue_student/agent/nodes.py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공유 의존 관계나 로그를 조사하지 않았으므로 공통 원인은 미확인으로 남깁니다.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기존 모델 기반 패턴 추정을 공통 원인 확정 근거로 사용하지 않는다. analysis_node는 현재 도구가 수집하지 않는 로그·시계열·의존 관계의 한계를 명시한다.</a:t>
            </a:r>
          </a:p>
          <a:p xmlns:a="http://schemas.openxmlformats.org/drawingml/2006/main">
            <a:r>
              <a:t>2. render_report는 두 서비스 이상이면 공통 원인은 미확인이라는 안내를 붙인다. 두 서비스 조사 완료와 공통 원인 규명 성공은 다르다.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day2/evidence/review-q06-second.jpg; day2/results/contextual-captures/a19f84a4-7221-45f6-938e-f8dac295ea28-eca497a3.json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게이트웨이에서 결제로 가는 요청도 한쪽만 조사했습니다.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gateway·payments 질문의 원본은 gateway 알림만 조회했다. 네트워크 문서 선택 자체보다 상대 서비스 누락을 추가 사례로 설명한다.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day1/evidence/user-screenshots/01-gateway-payments.png; day1/evidence/OBSERVATIONS.md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같은 대상 보정 처리를 적용해 요청을 보내는 쪽과 받는 쪽을 모두 조회했습니다.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payments·cache와 동일한 대상 추출·작업 재구성 로직을 사용한다. gateway의 network-timeout과 payments의 cpu-spike를 서비스별로 연결한다.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day2/evidence/review-q04-first.jpg; day2/results/contextual-captures/f7d637e2-c911-417e-bf3f-3845fed685fa-33205f03.json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조회는 서비스별로 처리해 일부 실패가 다른 결과를 지우지 않게 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서비스별 수집·오류 분리로 일부 실패가 전체 결과를 지우지 않는다. 이 캡처는 두 서비스가 성공한 사례이며, 부분 실패 분기는 단위 테스트에서 따로 확인했다.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day2/evidence/review-q04-second.jpg; day2/results/contextual-captures/f7d637e2-c911-417e-bf3f-3845fed685fa-33205f03.json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빌링을 물었는데 인증 서비스인 auth를 조회했습니다. 대상이 바뀐 것입니다.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원본의 미등록·미명시 auth fallback은 기존 설계다. 사용자의 대상과 실제 조사 대상을 일치시키기 위한 정책 변경으로 설명한다.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day1/evidence/user-screenshots/06-billing.png; day1/evidence/OBSERVATIONS.md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등록 목록과 먼저 대조합니다. 미등록이면 조회와 보고 생성을 건너뛰고, 다른 서비스로 바꾸지 않고 이름을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select_targets가 서비스처럼 보이지만 등록 목록에 없는 billing-service를 unknown에 넣는다. targets가 비면 plan_node가 보고 모델의 계획을 호출하지 않고, 모니터링 수집도 비어 있다.</a:t>
            </a:r>
          </a:p>
          <a:p xmlns:a="http://schemas.openxmlformats.org/drawingml/2006/main">
            <a:r>
              <a:t>2. 문서·관측이 없으면 write_node가 보고 생성을 생략하고 render_report가 등록 이름 확인 안내를 만든다. 안내는 LLM이 작성한 진단 성공으로 세지 않는다.</a:t>
            </a:r>
          </a:p>
          <a:p xmlns:a="http://schemas.openxmlformats.org/drawingml/2006/main">
            <a:r>
              <a:t>3. 등록·미등록 혼합 요청은 등록된 대상은 조사하고, 미등록 대상은 따로 표시한다.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day2/evidence/context-unknown-frame.jpg; day2/results/contextual-captures/55c381af-5efe-447d-9430-bf83a5b11c9d-c848919a.json; all_total_vue_student/agent/targets.py; all_total_vue_student/agent/evidence.py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로그인이라는 말만으로 auth를 가정하던 정책도 바꿨습니다.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로그인이라는 표현만으로 auth를 선택하던 기본 정책을 변경했다. 등록 별칭을 추가하는 기능은 구현하지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day1/evidence/user-screenshots/05-login.png; day1/evidence/OBSERVATIONS.md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서비스명이 없으면 auth를 기본값으로 쓰던 처리를 없애고, 대상 확인 안내를 반환합니다.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장애 문맥은 인식하지만 명시한 등록 대상이 없으면 빈 target 목록을 유지한다. render_report가 어느 서비스를 확인할지 묻는다.</a:t>
            </a:r>
          </a:p>
          <a:p xmlns:a="http://schemas.openxmlformats.org/drawingml/2006/main">
            <a:r>
              <a:t>2. 이 처리는 새 별칭이나 오타를 자동 해석하는 기능이 아니라 대상 확인 정책이다.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day2/evidence/review-q07-answer.jpg; day2/results/contextual-captures/f4e83364-7451-4377-a65d-6adaac6d4a8f-3fba43e9.json; all_total_vue_student/agent/targets.py; all_total_vue_student/agent/nodes.py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정상인 web에 DB 장애 문서를 골랐고, 함께 요청한 auth도 빠졌습니다.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원본은 모니터링 알림의 키워드가 맞지 않으면 db-down으로 대체했다. healthy·알림 없음인 web에 DB 문서를 적용한 사진이다.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day1/evidence/user-screenshots/03-web-auth.png; day1/evidence/OBSERVATIONS.md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지표와 알림으로 상태를 먼저 나눕니다. 정상이나 정보 부족이면 문서를 붙이지 않고, 장애 대상은 해당 서비스 알림으로 매뉴얼을 검색합니다.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agent/evidence.py의 monitoring_state는 상태·CPU·메모리 유효성·활성 알림을 확인한다. healthy이고 알림이 없으면 healthy, 유효하지만 활성 알림이 없으면 insufficient, 조사 근거가 있으면 investigate다.</a:t>
            </a:r>
          </a:p>
          <a:p xmlns:a="http://schemas.openxmlformats.org/drawingml/2006/main">
            <a:r>
              <a:t>2. collect_runbooks는 investigate 서비스만 검색한다. 정상·정보 부족·유효하지 않은 관측은 장애 문서를 임의로 붙이지 않는다.</a:t>
            </a:r>
          </a:p>
          <a:p xmlns:a="http://schemas.openxmlformats.org/drawingml/2006/main">
            <a:r>
              <a:t>3. 검색 입력은 서비스별 상태와 실제 활성 알림이다. 검색 방법의 상세 구현은 추가 기능 RAG에서 설명한다.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day2/evidence/context-healthy-answer.jpg; day2/results/contextual-captures/49ebc8c8-65fc-4aec-bc42-fd1829f048e9.json; all_total_vue_student/agent/evidence.py; all_total_vue_student/agent/research.py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로그 분석 결과라고 답했지만 실제 로그 조회는 없었습니다.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원본의 분석 결과 문장을 수집된 사실처럼 최종 프롬프트에 포함하던 문제다. 실제 도구에는 로그 조회가 없다.</a:t>
            </a:r>
          </a:p>
          <a:p xmlns:a="http://schemas.openxmlformats.org/drawingml/2006/main">
            <a:r>
              <a:t>2. 원본 validate_node는 30자 이상과 1) 포함 여부만 확인했다. 수치·서비스·원인 주장의 근거 검증은 아니었다.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day1/evidence/user-screenshots/02-payments-cpu.png; day1/evidence/OBSERVATIONS.md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모델은 수치·문서·절차 번호를 JSON으로 고르게 했습니다. 코드가 근거와 대조하고, 통과한 절차를 원문으로 출력해 조치 조건이 바뀌지 않게 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StructuredReportLLM은 sections JSON으로 서비스 이름·CPU·메모리·runbook_id·step_ids·cause_confirmed만 출력하도록 한다.</a:t>
            </a:r>
          </a:p>
          <a:p xmlns:a="http://schemas.openxmlformats.org/drawingml/2006/main">
            <a:r>
              <a:t>2. validate_draft는 누락·중복·범위 밖 서비스, 잘못된 수치, 없는 문서·절차, 원인 확정, 자유 필드를 거절한다.</a:t>
            </a:r>
          </a:p>
          <a:p xmlns:a="http://schemas.openxmlformats.org/drawingml/2006/main">
            <a:r>
              <a:t>3. 검증 후 render_report가 선택된 절차의 원문을 가져온다. 원문의 90% 초과·지속 등의 조건을 모델이 바꿔 쓰지 않는다.</a:t>
            </a:r>
          </a:p>
          <a:p xmlns:a="http://schemas.openxmlformats.org/drawingml/2006/main">
            <a:r>
              <a:t>4. 모든 자유 문장의 의미를 판정하거나 현재 조치 조건 충족을 자동 판단하는 기능은 아니다. 실제 조치도 실행하지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day2/evidence/review-q01-answer.jpg; day2/results/contextual-captures/3e26b7de-a591-4252-a03e-e3b7abfd824e-8df47df5.json; all_total_vue_student/agent/reporting.py; all_total_vue_student/agent/validation.py; all_total_vue_student/agent/evidence.py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사용자 이름 민수를 비서 자신의 이름처럼 답한 문제도 있었습니다.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초기 계획의 주요 기능으로 늘리지 않고 실행 중 발견한 추가 보완으로 구분한다. 사용자 민수와 비서의 자기소개가 섞인 사례다.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day1/evidence/user-screenshots/07-name-recall.png; day1/evidence/OBSERVATIONS.md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이름은 사용자 역할의 선언에서만 읽습니다. 이름 질문과 비서의 자기소개는 제외합니다. 이 부분은 계획 외에 보완한 대화 처리입니다.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remembered_name은 history에서 role=user인 메시지와 현재 입력만 읽고, '제 이름은 ...입니다' 같은 선언형만 추출한다. assistant 발화와 '이름이 뭐였죠' 질문은 이름 선언으로 보지 않는다.</a:t>
            </a:r>
          </a:p>
          <a:p xmlns:a="http://schemas.openxmlformats.org/drawingml/2006/main">
            <a:r>
              <a:t>2. 추출한 이름의 별도 메모리 DB를 새로 만든 것이 아니다. 기존 SQLite 대화 이력을 활용하고 같은 대화의 최근 사용자 선언을 읽는다.</a:t>
            </a:r>
          </a:p>
          <a:p xmlns:a="http://schemas.openxmlformats.org/drawingml/2006/main">
            <a:r>
              <a:t>3. 서버 재시작 뒤 같은 DB·thread의 이름 응답도 별도 기록으로 검증했다. 캡처 자체가 재시작 과정을 보여주는 것은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day2/evidence/review-q10-answer.jpg; day2/results/contextual-captures/review-suite.json; all_total_vue_student/agent/targets.py; all_total_vue_student/agent/session_store.py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분석 중 시간 초과가 나면 최종 응답도 실패 안내도 없었습니다.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이 화면은 보존한 베이스를 다시 실행한 진행 화면이다. 분석 단계 ReadTimeout은 연결된 실행 기록으로 확인했다. 화면의 레이아웃 깨짐을 실패 근거로 쓰지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day2/evidence/before-main-viewport.jpg; day2/evidence/ui-capture-context.json; day2/evidence/ui-capture-context.json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생성량과 호출·요청 시간을 제한하고, 검증에 두 번 실패하면 강제 통과 대신 수집 사실을 안내합니다. 팔 초로 낮춘 지연 시험에서도 부분 근거를 남겼습니다.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Ollama 생성 num_predict=512, 호출 25초, 전체 요청 60초를 기본으로 둔다. write·validate는 최대 두 번으로 제한한다.</a:t>
            </a:r>
          </a:p>
          <a:p xmlns:a="http://schemas.openxmlformats.org/drawingml/2006/main">
            <a:r>
              <a:t>2. 원본은 세 번째 검증 실패를 강제 합격 처리했지만 개선은 fallback으로 분리한다. server.py의 전체 시간 제한 처리도 수집된 collected를 보존해 안내한다.</a:t>
            </a:r>
          </a:p>
          <a:p xmlns:a="http://schemas.openxmlformats.org/drawingml/2006/main">
            <a:r>
              <a:t>3. 같은 payments·cache 질문의 지연 시험은 보고 의존성 30초 지연·전체 상한 8초로 설정했다. 실제 8.004초에 안내했고 이 값은 일반 성능 20건에 합산하지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day2/evidence/story-timeout-first.jpg; day2/results/story-timeout/timeout.json; all_total_vue_student/server.py; all_total_vue_student/agent/nodes.py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이미 수집한 두 서비스의 지표도 남깁니다. 다음은 추가 기능입니다.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제한·실패 안내도 화면에 응답을 반환하지만 검증된 LLM 보고 성공은 아니다. 두 서비스의 관측 보존을 확인하는 연속 화면이다.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day2/evidence/story-timeout-second.jpg; day2/results/story-timeout/timeout.json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첫 추가 기능은 RAG 검색입니다. 서비스별 알림과 매뉴얼을 bge-m3로 벡터화하고 SQLite에서 유사도를 비교합니다. 선택한 문서는 MCP로 원문을 읽어 답변에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기존 6개 runbook 본문과 한·영 증상 메타데이터를 bge-m3로 임베딩하고 SQLite에 캐시한다. 문서 변경 시 digest를 확인해 인덱스를 갱신한다.</a:t>
            </a:r>
          </a:p>
          <a:p xmlns:a="http://schemas.openxmlformats.org/drawingml/2006/main">
            <a:r>
              <a:t>2. 서비스별 활성 알림을 임베딩하고 정규화한 벡터의 코사인 유사도로 검색한다. 임계값 0.35, 후보 상위 2개 중 첫 문서를 실제 원문과 연결한다.</a:t>
            </a:r>
          </a:p>
          <a:p xmlns:a="http://schemas.openxmlformats.org/drawingml/2006/main">
            <a:r>
              <a:t>3. 검색기는 기존 SupervisorDeps에 추가한 searcher로 주입한다. 실행 시 MCP 검색 Tool을 사용하고 고정 데이터 평가에서는 검색 어댑터를 사용한다.</a:t>
            </a:r>
          </a:p>
          <a:p xmlns:a="http://schemas.openxmlformats.org/drawingml/2006/main">
            <a:r>
              <a:t>4. 유사도 0.673은 정답 확률이 아니다. 문서 6개 전수 비교이며 대규모 ANN 검색이나 운영 부하 검증은 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day2/evidence/review-q03-answer.jpg; all_total_vue_student/agent/retrieval.py; all_total_vue_student/agent/research.py; all_total_vue_student/mcp_server.py; day2/results/contextual-captures/cc4c77a5-5311-4797-9942-36ec51f66841-17dcde1e.json; all_total_vue_student/agent/deps.py; all_total_vue_student/agent/research.py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두 번째는 근거 화면입니다. 서버가 실제 수집한 객체를 최종 이벤트에 넣고, 화면이 서비스·수치·문서와 미확인 항목을 표로 표시합니다.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evidence_payload는 실제 collected에서 서비스·관측·runbook·미등록·미확인·오류를 구성한다. server.py가 FinalAnswer.evidence에 담고 web_chat.html이 그 객체로 표를 그린다.</a:t>
            </a:r>
          </a:p>
          <a:p xmlns:a="http://schemas.openxmlformats.org/drawingml/2006/main">
            <a:r>
              <a:t>2. 모델이 출력한 출처 문자열을 그대로 화면 근거로 쓰지 않는다. 정상 web은 문서 없음, auth는 지연 매뉴얼·유사도가 표시된다.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day2/evidence/context-healthy-evidence.jpg; all_total_vue_student/agent/evidence.py; all_total_vue_student/server.py; all_total_vue_student/web_chat.html; day2/results/contextual-captures/49ebc8c8-65fc-4aec-bc42-fd1829f048e9.json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세 번째는 자동 비교입니다. 같은 질문과 고정 지표로 전후 실행하고, 실제 호출 목록·문서·시간을 기록해 집계합니다. 단위 테스트 서른한 개로 분기와 검증도 확인했습니다.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평가 정의 cases.json의 expected_targets·expected_runbooks와 실제 calls·elapsed_seconds를 대조한다. 대상 수집은 서비스 수, 범위 일치는 대상 집합이 같은 질문 수, 문서 Top-1은 정답 문서가 하나인 질문만 계산한다.</a:t>
            </a:r>
          </a:p>
          <a:p xmlns:a="http://schemas.openxmlformats.org/drawingml/2006/main">
            <a:r>
              <a:t>2. 고정 데이터 그래프 평가 20건과 실제 MCP·SSE·UI 검증은 구분한다. 이 보고서는 보존된 전후 결과 JSON을 집계한 것이며 새 20건 벤치마크를 실행한 것은 아니다.</a:t>
            </a:r>
          </a:p>
          <a:p xmlns:a="http://schemas.openxmlformats.org/drawingml/2006/main">
            <a:r>
              <a:t>3. 단위 테스트 31개는 대상 추출·검증·부분 실패·시간 제한·이름 역할 등의 분기다. 20건 실제 모델 평가와 다른 검증이다.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day2/evidence/evaluation-cases.jpg; day2/scripts/build_evaluation_evidence.py; day1/results/baseline-ollama/results.json; day2/results/improved-ollama/results.json; day2/tests/unit-tests-story.txt; all_total_vue_student/tests/test_core.py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필요한 서비스 수집은 스무 개 중 열일곱에서 스무 개로, 단일 정답 문서는 열두 건 중 열한 건에서 열두 건으로 늘었습니다. 양쪽 완료한 같은 열여섯 건의 실행 시간 중앙값은 약 삼십육 초에서 사 점 사오 초입니다. 생성 설정도 함께 바꾼 결과입니다.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등록 대상 수집 17/20→20/20은 서비스 수다. D05 payments, D06 cache, D07 auth 누락을 보완했다. 조회 범위 일치는 15/20→20/20이며 auth 대체 조회 2건도 포함한다.</a:t>
            </a:r>
          </a:p>
          <a:p xmlns:a="http://schemas.openxmlformats.org/drawingml/2006/main">
            <a:r>
              <a:t>2. 단일 정답 문서 11/12→12/12는 D07의 db-down을 high-latency로 바꾼 결과다. 같은 모델·고정 지표·질문을 사용했다.</a:t>
            </a:r>
          </a:p>
          <a:p xmlns:a="http://schemas.openxmlformats.org/drawingml/2006/main">
            <a:r>
              <a:t>3. 양쪽 완료한 동일 16건 중앙값은 35.936→4.454초다. 네트워크 전송·UI 표시·워밍업·인덱스 구축은 제외한다. 생성 설정·분기·출력 형식도 바뀌어 RAG만의 효과가 아니다.</a:t>
            </a:r>
          </a:p>
          <a:p xmlns:a="http://schemas.openxmlformats.org/drawingml/2006/main">
            <a:r>
              <a:t>4. 개선 20건은 검증13·관측/확인안내4·대화2·검증실패안내1이다. 응답 완료가 전체 답변의 정확도100%라는 뜻은 아니다. 이후 화면·안내 문구 수정 뒤 전체 시간은 재측정하지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day2/evidence/evaluation-criteria.jpg; day2/scripts/build_evaluation_evidence.py; day1/evaluation/cases.json; day1/scripts/run_baseline.py; day2/results/comparison/summary.json; day1/results/baseline-ollama/results.json; day2/results/improved-ollama/results.json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문서 여섯 개와 모의 지표라 운영 성능으로 일반화할 수 없습니다. 검색은 지연·오검색을 더하고 원문 출력은 설명의 자유도를 줄입니다. 다음은 실제 로그와 독립 질문으로 검증하겠습니다. 감사합니다.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문서 6개·모의 지표·관측한 시험 세트이므로 독립 질문과 실제 운영 자료가 필요하다.</a:t>
            </a:r>
          </a:p>
          <a:p xmlns:a="http://schemas.openxmlformats.org/drawingml/2006/main">
            <a:r>
              <a:t>2. 검색·임베딩의 처리 부담과 오검색, 원문 출력의 표현 제약, 시간·생성량 상한 때문에 안내로 끝나는 요청이 트레이드오프다.</a:t>
            </a:r>
          </a:p>
          <a:p xmlns:a="http://schemas.openxmlformats.org/drawingml/2006/main">
            <a:r>
              <a:t>3. 실제 로그·시계열·서비스 의존 관계 수집, 복합 장애 검색과 독립 평가가 다음 과제다. 자동 복구를 구현했다고 말하지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4d7293fbff4ae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287b1ed2614ee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de0c323928476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1c61569da3460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c9a84f3c604a1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ca49271c09482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91F2C13-E4BA-4F4A-BD66-E4ABBF8D1C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2D7C653-7CBC-4757-B2B4-A625DFC2F15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375654F-C8E1-4C69-96E9-3FED075AC3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54442C0-6873-4CAD-819D-26457A76BC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ABBC1A1-D06F-4CA8-A7F2-8860803FA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2B935E5-0359-4DE4-8DF4-97F2535B64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B56E8C9-812D-4C8F-8AB0-54C4B12FA9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A75FBF5-E855-40E8-843C-82E52DCA532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8F50A21-32DE-4D11-A355-7E796B4D5D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27E1659-2562-42D5-B304-0D08B611A51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bb3873fbe54357" /><Relationship Type="http://schemas.openxmlformats.org/officeDocument/2006/relationships/slideLayout" Target="/ppt/slideLayouts/slideLayout1.xml" Id="R960d9f0e0c79478a" /><Relationship Type="http://schemas.openxmlformats.org/officeDocument/2006/relationships/slideLayout" Target="/ppt/slideLayouts/slideLayout2.xml" Id="Ra5332c84c5884e16" /><Relationship Type="http://schemas.openxmlformats.org/officeDocument/2006/relationships/slideLayout" Target="/ppt/slideLayouts/slideLayout3.xml" Id="Ra80277dc47684292" /><Relationship Type="http://schemas.openxmlformats.org/officeDocument/2006/relationships/slideLayout" Target="/ppt/slideLayouts/slideLayout4.xml" Id="Reb5e995d1c4941f5" /><Relationship Type="http://schemas.openxmlformats.org/officeDocument/2006/relationships/slideLayout" Target="/ppt/slideLayouts/slideLayout5.xml" Id="R0b1931f00ca24871" /><Relationship Type="http://schemas.openxmlformats.org/officeDocument/2006/relationships/slideLayout" Target="/ppt/slideLayouts/slideLayout6.xml" Id="R8310fda9210444d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0d9f0e0c79478a"/>
    <p:sldLayoutId xmlns:r="http://schemas.openxmlformats.org/officeDocument/2006/relationships" id="2147483650" r:id="Ra5332c84c5884e16"/>
    <p:sldLayoutId xmlns:r="http://schemas.openxmlformats.org/officeDocument/2006/relationships" id="2147483651" r:id="Ra80277dc47684292"/>
    <p:sldLayoutId xmlns:r="http://schemas.openxmlformats.org/officeDocument/2006/relationships" id="2147483652" r:id="Reb5e995d1c4941f5"/>
    <p:sldLayoutId xmlns:r="http://schemas.openxmlformats.org/officeDocument/2006/relationships" id="2147483653" r:id="R0b1931f00ca24871"/>
    <p:sldLayoutId xmlns:r="http://schemas.openxmlformats.org/officeDocument/2006/relationships" id="2147483654" r:id="R8310fda9210444d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ple SD Gothic Neo"/>
        <a:ea typeface=""/>
        <a:cs typeface=""/>
      </a:majorFont>
      <a:minorFont>
        <a:latin typeface="Apple SD Gothic Neo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b8aab9a2be462b" /><Relationship Type="http://schemas.openxmlformats.org/officeDocument/2006/relationships/notesSlide" Target="/ppt/notesSlides/notesSlide1.xml" Id="R37a47da7cf6e46a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35874c4c464f44" /><Relationship Type="http://schemas.openxmlformats.org/officeDocument/2006/relationships/notesSlide" Target="/ppt/notesSlides/notesSlide2.xml" Id="Ra55268ddac2a4e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cbcb070b844b53" /><Relationship Type="http://schemas.openxmlformats.org/officeDocument/2006/relationships/image" Target="/ppt/media/image.png" Id="R261601987c8f4e7e" /><Relationship Type="http://schemas.openxmlformats.org/officeDocument/2006/relationships/notesSlide" Target="/ppt/notesSlides/notesSlide3.xml" Id="R7c7342556e1740c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ed860145484545" /><Relationship Type="http://schemas.openxmlformats.org/officeDocument/2006/relationships/image" Target="/ppt/media/image.jpeg" Id="Rc8ccd331a4ee4e9c" /><Relationship Type="http://schemas.openxmlformats.org/officeDocument/2006/relationships/notesSlide" Target="/ppt/notesSlides/notesSlide4.xml" Id="Rcbe2d0509963451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6b6000db714869" /><Relationship Type="http://schemas.openxmlformats.org/officeDocument/2006/relationships/image" Target="/ppt/media/image2.jpeg" Id="Rd6d0e196effc421e" /><Relationship Type="http://schemas.openxmlformats.org/officeDocument/2006/relationships/notesSlide" Target="/ppt/notesSlides/notesSlide5.xml" Id="R43ea8da17c35412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b59ad8f4cd4720" /><Relationship Type="http://schemas.openxmlformats.org/officeDocument/2006/relationships/image" Target="/ppt/media/image2.png" Id="R00b5bca4e34044b4" /><Relationship Type="http://schemas.openxmlformats.org/officeDocument/2006/relationships/notesSlide" Target="/ppt/notesSlides/notesSlide6.xml" Id="R92bdaf6010c74f9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2b79e0e1a149c6" /><Relationship Type="http://schemas.openxmlformats.org/officeDocument/2006/relationships/image" Target="/ppt/media/image3.jpeg" Id="R7c27e504b9bc4788" /><Relationship Type="http://schemas.openxmlformats.org/officeDocument/2006/relationships/notesSlide" Target="/ppt/notesSlides/notesSlide7.xml" Id="R676a7d25b1dc4cf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db87ba69894a1d" /><Relationship Type="http://schemas.openxmlformats.org/officeDocument/2006/relationships/image" Target="/ppt/media/image4.jpeg" Id="Rb9c15d9d587f4cd5" /><Relationship Type="http://schemas.openxmlformats.org/officeDocument/2006/relationships/notesSlide" Target="/ppt/notesSlides/notesSlide8.xml" Id="Re2ba6e15fbf5450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a53c28d7cf4f41" /><Relationship Type="http://schemas.openxmlformats.org/officeDocument/2006/relationships/image" Target="/ppt/media/image3.png" Id="R0216fae2e0ac4ee3" /><Relationship Type="http://schemas.openxmlformats.org/officeDocument/2006/relationships/notesSlide" Target="/ppt/notesSlides/notesSlide9.xml" Id="Rad559f71ca55414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a2157b7bce4f56" /><Relationship Type="http://schemas.openxmlformats.org/officeDocument/2006/relationships/image" Target="/ppt/media/image5.jpeg" Id="R3cd59b9be9094c97" /><Relationship Type="http://schemas.openxmlformats.org/officeDocument/2006/relationships/notesSlide" Target="/ppt/notesSlides/notesSlide10.xml" Id="Rc0fb3edfacf84cd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839e759efd41a8" /><Relationship Type="http://schemas.openxmlformats.org/officeDocument/2006/relationships/image" Target="/ppt/media/image4.png" Id="R234162a794034029" /><Relationship Type="http://schemas.openxmlformats.org/officeDocument/2006/relationships/notesSlide" Target="/ppt/notesSlides/notesSlide11.xml" Id="Rf799d71545c4407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53497369f94651" /><Relationship Type="http://schemas.openxmlformats.org/officeDocument/2006/relationships/image" Target="/ppt/media/image6.jpeg" Id="R421454c159f9477e" /><Relationship Type="http://schemas.openxmlformats.org/officeDocument/2006/relationships/notesSlide" Target="/ppt/notesSlides/notesSlide12.xml" Id="R3ee2753f86bf48e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4ed74766e44616" /><Relationship Type="http://schemas.openxmlformats.org/officeDocument/2006/relationships/image" Target="/ppt/media/image5.png" Id="Rf96d7f78d5764e11" /><Relationship Type="http://schemas.openxmlformats.org/officeDocument/2006/relationships/notesSlide" Target="/ppt/notesSlides/notesSlide13.xml" Id="Ree48332d14d342b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01bbd341654e8a" /><Relationship Type="http://schemas.openxmlformats.org/officeDocument/2006/relationships/image" Target="/ppt/media/image7.jpeg" Id="Rb060b27e5fac411b" /><Relationship Type="http://schemas.openxmlformats.org/officeDocument/2006/relationships/notesSlide" Target="/ppt/notesSlides/notesSlide14.xml" Id="R16d0980c4d02466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9c04861f314aae" /><Relationship Type="http://schemas.openxmlformats.org/officeDocument/2006/relationships/image" Target="/ppt/media/image6.png" Id="R97b4250f41ac416f" /><Relationship Type="http://schemas.openxmlformats.org/officeDocument/2006/relationships/notesSlide" Target="/ppt/notesSlides/notesSlide15.xml" Id="R557f7f6328064b5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8638525e414654" /><Relationship Type="http://schemas.openxmlformats.org/officeDocument/2006/relationships/image" Target="/ppt/media/image8.jpeg" Id="Rcae444412db849c7" /><Relationship Type="http://schemas.openxmlformats.org/officeDocument/2006/relationships/notesSlide" Target="/ppt/notesSlides/notesSlide16.xml" Id="R2760dd09ce46486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377575e5db4d98" /><Relationship Type="http://schemas.openxmlformats.org/officeDocument/2006/relationships/image" Target="/ppt/media/image7.png" Id="R4064ec97159b4623" /><Relationship Type="http://schemas.openxmlformats.org/officeDocument/2006/relationships/notesSlide" Target="/ppt/notesSlides/notesSlide17.xml" Id="Ra50aa05376ff429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f86b2c431944a8" /><Relationship Type="http://schemas.openxmlformats.org/officeDocument/2006/relationships/image" Target="/ppt/media/image9.jpeg" Id="R483adcce6d79445d" /><Relationship Type="http://schemas.openxmlformats.org/officeDocument/2006/relationships/notesSlide" Target="/ppt/notesSlides/notesSlide18.xml" Id="R668755207ff3449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4fca0e6c4a4512" /><Relationship Type="http://schemas.openxmlformats.org/officeDocument/2006/relationships/image" Target="/ppt/media/image10.jpeg" Id="Ra2881d648e4e4ed2" /><Relationship Type="http://schemas.openxmlformats.org/officeDocument/2006/relationships/notesSlide" Target="/ppt/notesSlides/notesSlide19.xml" Id="R7a1f85ce65e94cb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ff29bde2ec4faa" /><Relationship Type="http://schemas.openxmlformats.org/officeDocument/2006/relationships/image" Target="/ppt/media/image11.jpeg" Id="Redd9ce27a2924a5f" /><Relationship Type="http://schemas.openxmlformats.org/officeDocument/2006/relationships/notesSlide" Target="/ppt/notesSlides/notesSlide20.xml" Id="R4ccaf5a294a04ba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291de535c3477d" /><Relationship Type="http://schemas.openxmlformats.org/officeDocument/2006/relationships/image" Target="/ppt/media/image12.jpeg" Id="R22ee0e406fbf4cd8" /><Relationship Type="http://schemas.openxmlformats.org/officeDocument/2006/relationships/notesSlide" Target="/ppt/notesSlides/notesSlide21.xml" Id="R2fd5c1403fbd4f2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f66ac476384407" /><Relationship Type="http://schemas.openxmlformats.org/officeDocument/2006/relationships/image" Target="/ppt/media/image13.jpeg" Id="Rfb60123023144044" /><Relationship Type="http://schemas.openxmlformats.org/officeDocument/2006/relationships/notesSlide" Target="/ppt/notesSlides/notesSlide22.xml" Id="R4cdad783186d407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4f9efe27da4b6e" /><Relationship Type="http://schemas.openxmlformats.org/officeDocument/2006/relationships/image" Target="/ppt/media/image14.jpeg" Id="R2b38c622bb5d4141" /><Relationship Type="http://schemas.openxmlformats.org/officeDocument/2006/relationships/notesSlide" Target="/ppt/notesSlides/notesSlide23.xml" Id="Rb60a5c21a17d462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c567d813ce4400" /><Relationship Type="http://schemas.openxmlformats.org/officeDocument/2006/relationships/image" Target="/ppt/media/image15.jpeg" Id="Rb52d7c46f32c4724" /><Relationship Type="http://schemas.openxmlformats.org/officeDocument/2006/relationships/notesSlide" Target="/ppt/notesSlides/notesSlide24.xml" Id="R371a5f319dc4471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0bc02097814713" /><Relationship Type="http://schemas.openxmlformats.org/officeDocument/2006/relationships/image" Target="/ppt/media/image16.jpeg" Id="R63da3b399f7a4408" /><Relationship Type="http://schemas.openxmlformats.org/officeDocument/2006/relationships/notesSlide" Target="/ppt/notesSlides/notesSlide25.xml" Id="R5f76b370bd7a4cc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beb5871f93414b" /><Relationship Type="http://schemas.openxmlformats.org/officeDocument/2006/relationships/notesSlide" Target="/ppt/notesSlides/notesSlide26.xml" Id="Re940e1ded35145e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E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5235CD-5DDF-426D-9AC6-5B485E772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90575"/>
            <a:ext cx="1051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rPr>
              <a:t>AI 서비스 개발 Mini-project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93AB68-F20D-467D-90A6-ECA91F1E1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9775"/>
            <a:ext cx="105156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6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6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6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6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6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6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6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6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6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6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6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운영 장애 진단</a:t>
            </a:r>
          </a:p>
          <a:p xmlns:a="http://schemas.openxmlformats.org/drawingml/2006/main">
            <a:pPr>
              <a:defRPr sz="6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AI 에이전트 개선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A08023-64C7-439A-9993-A33F95DED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695825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4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4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4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4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4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4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4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4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4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rPr>
              <a:t>모니터링 지표와 대응 매뉴얼 기반 장애 진단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11A8D2-5CAA-4F91-A7E6-7B9DD910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60070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실습 1  Base AI Project 개선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A01E02-1111-497E-81D3-52C5791B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60769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이진형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884244-61C8-4815-BE75-1747EFBF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07695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rPr>
              <a:t>2026.10</a:t>
            </a:r>
          </a:p>
        </p:txBody>
      </p:sp>
    </p:spTree>
    <p:extLst>
      <p:ext uri="{BB962C8B-B14F-4D97-AF65-F5344CB8AC3E}">
        <p14:creationId xmlns:p14="http://schemas.microsoft.com/office/powerpoint/2010/main" val="11080741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23407D-F46B-4F9D-AFCB-ACE968D5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실습 1 · Base AI Project 개선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98DCDC-BDA8-4DF0-9E84-F490B9A8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71550"/>
            <a:ext cx="11277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all_total_vue · 운영 인시던트 대응 에이전트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723662-6F57-40E6-8802-F336190B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서비스 장애를 자연어로 질문하면 모니터링 지표와 대응 매뉴얼을 조회하고</a:t>
            </a:r>
          </a:p>
          <a:p xmlns:a="http://schemas.openxmlformats.org/drawingml/2006/main">
            <a:pPr>
              <a:defRPr sz="21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현재 상태와 대응 절차를 진단 보고서로 작성하는 웹 서비스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FB8FCE-67CE-45BB-97D5-5EC33829B1D3}"/>
              </a:ext>
            </a:extLst>
          </p:cNvPr>
          <p:cNvGraphicFramePr/>
          <p:nvPr/>
        </p:nvGraphicFramePr>
        <p:xfrm>
          <a:off xmlns:a="http://schemas.openxmlformats.org/drawingml/2006/main" x="457200" y="2714625"/>
          <a:ext xmlns:a="http://schemas.openxmlformats.org/drawingml/2006/main" cx="11277600" cy="2428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8562975"/>
              </a:tblGrid>
              <a:tr h="607219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2786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기존 역할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6"/>
                      </a:solidFill>
                      <a:prstDash val="solid"/>
                    </a:lnL>
                    <a:lnR w="9525">
                      <a:solidFill>
                        <a:srgbClr val="D8E2E6"/>
                      </a:solidFill>
                      <a:prstDash val="solid"/>
                    </a:lnR>
                    <a:lnT w="9525">
                      <a:solidFill>
                        <a:srgbClr val="D8E2E6"/>
                      </a:solidFill>
                      <a:prstDash val="solid"/>
                    </a:lnT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EC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2786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동작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T w="9525">
                      <a:solidFill>
                        <a:srgbClr val="D8E2E6"/>
                      </a:solidFill>
                      <a:prstDash val="solid"/>
                    </a:lnT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ECF3F4"/>
                    </a:solidFill>
                  </a:tcPr>
                </a:tc>
              </a:tr>
              <a:tr h="607219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LLM·LangGraph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6"/>
                      </a:solidFill>
                      <a:prstDash val="solid"/>
                    </a:lnL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일반 대화 / 장애 요청 구분, 조사 계획·보고·검증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7219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MCP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6"/>
                      </a:solidFill>
                      <a:prstDash val="solid"/>
                    </a:lnL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서비스 모니터링 지표와 대응 매뉴얼 조회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7219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웹 채팅·SQLite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6"/>
                      </a:solidFill>
                      <a:prstDash val="solid"/>
                    </a:lnL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진행 과정과 최종 응답 표시, 대화 이력 유지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64D66D-7274-4862-B063-53119105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14975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기존 구조를 활용해 조사 대상·매뉴얼 선택·답변 검증을 개선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FD1967-D2D9-4F6D-BE3E-A248FFAA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025571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EB248D-DB00-42BE-967F-C09C3B742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1 전 · cache를 조회하지 않고 원인을 추정했다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18CDA1-017E-48B1-96A7-09B9C012F6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1601987c8f4e7e"/>
          <a:stretch xmlns:a="http://schemas.openxmlformats.org/drawingml/2006/main"/>
        </p:blipFill>
        <p:spPr>
          <a:xfrm xmlns:a="http://schemas.openxmlformats.org/drawingml/2006/main">
            <a:off x="898632" y="914400"/>
            <a:ext cx="6032286" cy="53721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835534-15B0-43E6-B943-53A7835F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304925"/>
            <a:ext cx="3810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두 서비스를 요청했지만</a:t>
            </a:r>
          </a:p>
          <a:p xmlns:a="http://schemas.openxmlformats.org/drawingml/2006/main">
            <a: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payments만 조회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42216D-4D57-4E9B-9E59-DD4A27742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48000"/>
            <a:ext cx="3810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cache 지표 없음</a:t>
            </a:r>
          </a:p>
          <a:p xmlns:a="http://schemas.openxmlformats.org/drawingml/2006/main">
            <a: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공유 의존 관계도 미확인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516A7A-238F-4527-8F0F-0B986A40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95850"/>
            <a:ext cx="3810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“트래픽 급증 또는</a:t>
            </a:r>
          </a:p>
          <a:p xmlns:a="http://schemas.openxmlformats.org/drawingml/2006/main">
            <a: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특정 요청 패턴”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BFBC1C-4316-4C87-8746-500C98DE3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431994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48B0B4-2E97-481F-A256-6A3798FC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1 후 · 두 서비스를 각각 조사했다 1/2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FF2904-E61F-4D23-B1FD-2FB44D4AD6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ccd331a4ee4e9c"/>
          <a:stretch xmlns:a="http://schemas.openxmlformats.org/drawingml/2006/main"/>
        </p:blipFill>
        <p:spPr>
          <a:xfrm xmlns:a="http://schemas.openxmlformats.org/drawingml/2006/main">
            <a:off x="1865268" y="819150"/>
            <a:ext cx="8461464" cy="4762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699EE6-A696-4967-AEF0-0610770A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86425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1. 질문에서 등록 서비스 전체를 추출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184F52-729B-4EC5-9A6F-399588D2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2. LLM 계획에 맡기지 않고 대상별 조회 작업을 재구성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B73348-AFD7-48AB-B285-A2D11CFD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53175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3. 확정한 대상 목록으로 각 서비스의 모니터링 조회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65FDEF-FE03-48AB-BFF6-0691C98D7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150606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B5224F-2E9A-4F21-9EE9-75F2FBA0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1 후 · 공통 원인은 미확인으로 남겼다 2/2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F422D9-BCA4-4F3A-A18E-DC0AB40365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d0e196effc421e"/>
          <a:stretch xmlns:a="http://schemas.openxmlformats.org/drawingml/2006/main"/>
        </p:blipFill>
        <p:spPr>
          <a:xfrm xmlns:a="http://schemas.openxmlformats.org/drawingml/2006/main">
            <a:off x="1239120" y="819150"/>
            <a:ext cx="9713761" cy="5467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F99FCB-BB58-4A6F-A3B4-44060D35D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083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서비스별 근거는 제시하고, 공통 원인 확정은 보류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5BC908-050E-4AB7-B9FB-1D7F21098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738118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7433E4-88EA-4EF3-A17C-7E2F9E498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1 전 · gateway만 조회했다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B0A70E-5842-48A5-9469-2ED3BD9425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b5bca4e34044b4"/>
          <a:stretch xmlns:a="http://schemas.openxmlformats.org/drawingml/2006/main"/>
        </p:blipFill>
        <p:spPr>
          <a:xfrm xmlns:a="http://schemas.openxmlformats.org/drawingml/2006/main">
            <a:off x="569422" y="914400"/>
            <a:ext cx="6690706" cy="53721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26623C-276A-493A-BECA-40C51D604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304925"/>
            <a:ext cx="3810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gateway만 조회</a:t>
            </a:r>
          </a:p>
          <a:p xmlns:a="http://schemas.openxmlformats.org/drawingml/2006/main">
            <a: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payments 상태는 미수집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F3B536-5B68-46C6-9E5C-D0DA222A2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48000"/>
            <a:ext cx="3810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연결된 두 서비스 중</a:t>
            </a:r>
          </a:p>
          <a:p xmlns:a="http://schemas.openxmlformats.org/drawingml/2006/main">
            <a: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상대 서비스의 근거가 빠짐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A597F1-12E5-4215-9145-6C50D016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95850"/>
            <a:ext cx="3810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수집된 사실: 모니터링 gateway-service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B630EF-02D2-4576-AC0A-C07040EA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893664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E863FC-CD1D-4972-8026-581DE9C33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1 후 · 요청을 주고받는 두 서비스를 조회했다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3A9A44-B217-4495-BB81-B3E8CA9A21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27e504b9bc4788"/>
          <a:stretch xmlns:a="http://schemas.openxmlformats.org/drawingml/2006/main"/>
        </p:blipFill>
        <p:spPr>
          <a:xfrm xmlns:a="http://schemas.openxmlformats.org/drawingml/2006/main">
            <a:off x="1239120" y="819150"/>
            <a:ext cx="9713761" cy="5467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EDD427-4930-49E3-B5C0-395C66A01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083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명시한 두 서비스의 조사 작업을 각각 보완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10B042-679E-4F3A-AD07-90DDE7EF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246165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294191-5E3E-4886-8686-F23637C1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1 후 · 두 서비스의 결과와 근거를 제시했다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87A5E7-4E72-4B48-B9FD-1D149F3E0A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c15d9d587f4cd5"/>
          <a:stretch xmlns:a="http://schemas.openxmlformats.org/drawingml/2006/main"/>
        </p:blipFill>
        <p:spPr>
          <a:xfrm xmlns:a="http://schemas.openxmlformats.org/drawingml/2006/main">
            <a:off x="1239120" y="819150"/>
            <a:ext cx="9713761" cy="5467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34406D-E56C-4F4C-A47E-E7122033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083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두 서비스의 관측과 참고 매뉴얼을 각각 제시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93D234-2645-4BE3-AA6E-3BEAD3D1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538222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D8EA47-2B1F-472A-B3D4-36512883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2 전 · billing을 묻자 auth를 조회했다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7E407A-511C-44E9-8259-D3D0A709ED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16fae2e0ac4ee3"/>
          <a:stretch xmlns:a="http://schemas.openxmlformats.org/drawingml/2006/main"/>
        </p:blipFill>
        <p:spPr>
          <a:xfrm xmlns:a="http://schemas.openxmlformats.org/drawingml/2006/main">
            <a:off x="457200" y="1029811"/>
            <a:ext cx="11277600" cy="3864928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058B8E-479F-47BA-B553-5620263D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62550"/>
            <a:ext cx="5334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요청: billing-service</a:t>
            </a:r>
          </a:p>
          <a:p xmlns:a="http://schemas.openxmlformats.org/drawingml/2006/main">
            <a: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실제 조회: auth-service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19D214-DBCF-4741-8ED0-670A18BBD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62550"/>
            <a:ext cx="5334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원래 정책: 미등록 이름은 auth 기본 처리</a:t>
            </a:r>
          </a:p>
          <a:p xmlns:a="http://schemas.openxmlformats.org/drawingml/2006/main">
            <a: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문제: 사용자가 요청한 대상과 불일치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5208DF-26E2-43AA-9619-656B9E3B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6996189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C0B4D6-1AC7-44D6-8C0D-90954CB6D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2 후 · 미등록이면 등록 이름을 다시 묻는다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A761FE-597B-43EB-86E7-18E1FE33A7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d59b9be9094c97"/>
          <a:stretch xmlns:a="http://schemas.openxmlformats.org/drawingml/2006/main"/>
        </p:blipFill>
        <p:spPr>
          <a:xfrm xmlns:a="http://schemas.openxmlformats.org/drawingml/2006/main">
            <a:off x="1865268" y="819150"/>
            <a:ext cx="8461464" cy="4762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702844-0C73-49CA-9B9D-F1217D1C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86425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1. 입력한 서비스와 등록 목록을 대조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D83F2C-EC36-4990-B9C3-F88EF92D6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2. 미등록이면 모니터링과 보고 생성을 생략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08F62B-A21C-4FBB-B7DF-36270EBED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53175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3. 다른 서비스로 바꾸지 않고 등록 이름을 확인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949BD3-16D1-42DD-8178-46B172A3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9231547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9566C4-FCB8-4175-8582-3CC4883F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2 전 · 로그인만으로 auth를 조회했다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B315BB-BBE3-4245-AE8D-842221A622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4162a794034029"/>
          <a:stretch xmlns:a="http://schemas.openxmlformats.org/drawingml/2006/main"/>
        </p:blipFill>
        <p:spPr>
          <a:xfrm xmlns:a="http://schemas.openxmlformats.org/drawingml/2006/main">
            <a:off x="457200" y="994569"/>
            <a:ext cx="11277600" cy="3935413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B7D793-CCAE-475B-BC28-AFE9619A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62550"/>
            <a:ext cx="5334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서비스 이름이 없는데</a:t>
            </a:r>
          </a:p>
          <a:p xmlns:a="http://schemas.openxmlformats.org/drawingml/2006/main">
            <a: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auth-service로 조회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C4406B-31E3-4DD1-B6B4-DCC4E7CBA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62550"/>
            <a:ext cx="5334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원래 auth 기본 정책을</a:t>
            </a:r>
          </a:p>
          <a:p xmlns:a="http://schemas.openxmlformats.org/drawingml/2006/main">
            <a: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대상 이름 확인 요청으로 변경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7EB56C-7E3C-4E1F-BF68-C6306F70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1245933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8BD36F-A213-45C5-8ADD-E5E31659F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2 후 · 서비스 이름을 먼저 확인한다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5309BD-CD7E-4356-BAFE-F38F4A1160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1454c159f9477e"/>
          <a:stretch xmlns:a="http://schemas.openxmlformats.org/drawingml/2006/main"/>
        </p:blipFill>
        <p:spPr>
          <a:xfrm xmlns:a="http://schemas.openxmlformats.org/drawingml/2006/main">
            <a:off x="1865268" y="819150"/>
            <a:ext cx="8461464" cy="4762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16C237-9AE8-469D-8328-382D9EE9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86425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1. 서비스 이름이 없는 장애 요청을 감지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135716-03F3-4482-86FB-84BB7BBD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2. auth 기본값 적용을 제거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AFC39F-2605-4CDE-A0D7-CDD6B4C1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53175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3. 실제 조회 대신 대상 확인 안내를 반환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08FEA2-B814-43A7-B4CB-0C7132094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5379060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CD205B-5462-42FE-9B58-AFB2E085A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3 전 · 정상 web에 DB 장애 절차를 연결했다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AD0812-B93C-489C-AB19-B5A918941B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6d7f78d5764e11"/>
          <a:stretch xmlns:a="http://schemas.openxmlformats.org/drawingml/2006/main"/>
        </p:blipFill>
        <p:spPr>
          <a:xfrm xmlns:a="http://schemas.openxmlformats.org/drawingml/2006/main">
            <a:off x="304800" y="978429"/>
            <a:ext cx="7219950" cy="5244043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B9FB88-18B9-4514-8851-D0D172AB3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304925"/>
            <a:ext cx="3810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web-01: healthy·알림 0건</a:t>
            </a:r>
          </a:p>
          <a:p xmlns:a="http://schemas.openxmlformats.org/drawingml/2006/main">
            <a: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선택 문서: db-down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70CBA9-54AB-44F6-B39D-5EFC0D27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48000"/>
            <a:ext cx="3810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정상인데 장애 문서 선택</a:t>
            </a:r>
          </a:p>
          <a:p xmlns:a="http://schemas.openxmlformats.org/drawingml/2006/main">
            <a: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auth 조사도 누락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120E07-F5B3-47CA-B36E-218A7568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95850"/>
            <a:ext cx="3810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“DB Down 대응 절차”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F99122-9BF1-47B3-B84C-97797E32B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53538703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D30103-592F-43BC-B555-D768A9DB6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3 후 · 정상·장애를 서비스별로 구분했다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BE8205-1D14-4911-A619-2400CCA5B0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60b27e5fac411b"/>
          <a:stretch xmlns:a="http://schemas.openxmlformats.org/drawingml/2006/main"/>
        </p:blipFill>
        <p:spPr>
          <a:xfrm xmlns:a="http://schemas.openxmlformats.org/drawingml/2006/main">
            <a:off x="1865268" y="819150"/>
            <a:ext cx="8461464" cy="4762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B07050-87C5-4521-8332-758268D4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86425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1. 상태·활성 알림으로 정상·장애·정보 부족을 구분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DF9AAC-FFF1-437A-A597-C61D1CEFA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2. 정상·정보 부족은 장애 매뉴얼 검색을 생략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4B4D42-0E35-4DF9-8690-4CB2F17C7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53175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3. 조사할 서비스의 관측 알림으로 매뉴얼 검색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51436E-9425-4178-B9D8-0BD590C8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70190107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29C2F8-DC59-4A3D-A807-5FDEDEFF7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4 전 · 로그 미수집인데 분석 결과처럼 답했다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FD8C9B-66C1-483D-943A-022461BF6B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b4250f41ac416f"/>
          <a:stretch xmlns:a="http://schemas.openxmlformats.org/drawingml/2006/main"/>
        </p:blipFill>
        <p:spPr>
          <a:xfrm xmlns:a="http://schemas.openxmlformats.org/drawingml/2006/main">
            <a:off x="473611" y="914400"/>
            <a:ext cx="6882329" cy="53721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F5C9FF-1B4B-4DD8-849D-7F6FDEDD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304925"/>
            <a:ext cx="3810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로그 조회 없이</a:t>
            </a:r>
          </a:p>
          <a:p xmlns:a="http://schemas.openxmlformats.org/drawingml/2006/main">
            <a: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분석 결과처럼 답변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E6930A-6AF8-4E2B-ADDB-0889045D4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48000"/>
            <a:ext cx="3810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수집 자료: 지표·매뉴얼</a:t>
            </a:r>
          </a:p>
          <a:p xmlns:a="http://schemas.openxmlformats.org/drawingml/2006/main">
            <a: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로그 분석 근거는 없음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8F55E2-71FB-4D6F-BBEF-2C9AC7E5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95850"/>
            <a:ext cx="3810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“로그 분석 결과</a:t>
            </a:r>
          </a:p>
          <a:p xmlns:a="http://schemas.openxmlformats.org/drawingml/2006/main">
            <a: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특이 패턴 없음.”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B146A8-BFD3-4EF1-9B6D-4639C345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72359863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2667B6-108D-4BB1-A367-93318177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4 후 · 관측과 매뉴얼 원문으로 보고했다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FBF4FC-CDEC-4F99-8ED1-F680FACA22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e444412db849c7"/>
          <a:stretch xmlns:a="http://schemas.openxmlformats.org/drawingml/2006/main"/>
        </p:blipFill>
        <p:spPr>
          <a:xfrm xmlns:a="http://schemas.openxmlformats.org/drawingml/2006/main">
            <a:off x="1865268" y="819150"/>
            <a:ext cx="8461464" cy="4762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889C48-2F70-41C6-9005-251B3BE2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86425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1. 모델 출력을 서비스·수치·문서·절차 ID의 JSON으로 제한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9D71C2-03DE-49F6-AA59-39E8AD396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2. 수집된 대상·수치·문서·절차 번호와 대조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B3ED1A-7DB5-4AF0-8060-1D8913EF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53175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3. 검증 후 매뉴얼 원문으로 출력해 조치 조건 유지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A57A26-B030-45AF-B427-7C6842C3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6487038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FAF224-DB0C-453E-A0DB-0AA66BBE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대화 개선 전 · 사용자 이름을 자기소개에 섞었다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5FCCC1-780B-4389-841E-4AB5A5E3CB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64ec97159b4623"/>
          <a:stretch xmlns:a="http://schemas.openxmlformats.org/drawingml/2006/main"/>
        </p:blipFill>
        <p:spPr>
          <a:xfrm xmlns:a="http://schemas.openxmlformats.org/drawingml/2006/main">
            <a:off x="932377" y="914400"/>
            <a:ext cx="5964796" cy="53721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7CF74C-C62B-4C26-AA37-E67DD917A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304925"/>
            <a:ext cx="3810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사용자 이름 민수가</a:t>
            </a:r>
          </a:p>
          <a:p xmlns:a="http://schemas.openxmlformats.org/drawingml/2006/main">
            <a: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비서의 자기소개에 섞임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972B49-CA6A-412D-BE53-3BBB895E8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48000"/>
            <a:ext cx="3810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사용자와 비서 이름 혼동</a:t>
            </a:r>
          </a:p>
          <a:p xmlns:a="http://schemas.openxmlformats.org/drawingml/2006/main">
            <a: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사용자 역할의 선언만 읽기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49445F-D99B-4A89-A46E-5CAFE7A94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95850"/>
            <a:ext cx="3810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“민수라는 이름으로…”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3184DD-EE67-4F28-AD6E-B82814AAC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61325423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966E28-9930-40A0-A4FB-D0DB4288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대화 개선 후 · 사용자 이름을 올바르게 답한다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A06935-EF83-4A4F-9269-91C5FCF0D0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3adcce6d79445d"/>
          <a:stretch xmlns:a="http://schemas.openxmlformats.org/drawingml/2006/main"/>
        </p:blipFill>
        <p:spPr>
          <a:xfrm xmlns:a="http://schemas.openxmlformats.org/drawingml/2006/main">
            <a:off x="1865268" y="819150"/>
            <a:ext cx="8461464" cy="4762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06CF89-BC2D-4F70-99E9-7FA5DD30D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86425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1. 사용자 역할의 이름 선언만 추출, 이름 질문·비서 발화는 제외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3602BF-ACC2-470F-9949-D2C3F161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2. 같은 대화 이력에서 사용자가 밝힌 이름을 조회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6DDD48-B114-4245-8B8B-66D012DC9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02842245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7150AC-D3DA-4E0F-9BEF-BFBEE82A9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5 전 · 시간 초과 뒤 안내가 없었다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3016AC-73B3-4499-A3D0-38F6F93EC4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881d648e4e4ed2"/>
          <a:stretch xmlns:a="http://schemas.openxmlformats.org/drawingml/2006/main"/>
        </p:blipFill>
        <p:spPr>
          <a:xfrm xmlns:a="http://schemas.openxmlformats.org/drawingml/2006/main">
            <a:off x="304800" y="1569839"/>
            <a:ext cx="7219950" cy="4061222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332851-9FB4-42FE-A82E-9017058A3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304925"/>
            <a:ext cx="3810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분석 단계 시간 초과</a:t>
            </a:r>
          </a:p>
          <a:p xmlns:a="http://schemas.openxmlformats.org/drawingml/2006/main">
            <a: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최종 응답·실패 안내 없음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62BE22-73D2-455B-8A26-EAFD0F2D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48000"/>
            <a:ext cx="3810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실패 원인을 알 수 없음</a:t>
            </a:r>
          </a:p>
          <a:p xmlns:a="http://schemas.openxmlformats.org/drawingml/2006/main">
            <a: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수집한 지표도 확인 불가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C87B01-A82C-4BEE-9964-3C1A58E4A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95850"/>
            <a:ext cx="3810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조회 후 최종 응답 없음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51F819-9D19-4895-A7E6-84653ED82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34961077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773609-45B0-4057-830D-74901BC84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5 후 · 시간 제한을 알리고 근거를 보존했다 1/2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9BBE44-C2BC-45E8-B036-FE7DEB5C32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d9ce27a2924a5f"/>
          <a:stretch xmlns:a="http://schemas.openxmlformats.org/drawingml/2006/main"/>
        </p:blipFill>
        <p:spPr>
          <a:xfrm xmlns:a="http://schemas.openxmlformats.org/drawingml/2006/main">
            <a:off x="1865268" y="819150"/>
            <a:ext cx="8461464" cy="4762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5B7D90-8B9B-43B1-90DA-7B023204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86425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1. 생성 512토큰·호출 25초·전체 60초 제한 (시연은 전체 8초)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852644-0BBF-4AA7-B44D-778EE183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2. 최대 2회 검증, 실패한 초안을 강제 통과시키지 않음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64B8D6-9EAF-48B0-B9CB-F27903B6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53175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3. 시간 초과·검증 실패는 이미 수집한 관측으로 안내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DD6242-59A3-4640-926E-F3021A21A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93043115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4CEEED-13A2-4789-ADE2-06FC6051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5 후 · 두 서비스의 관측을 남겼다 2/2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D8AF8B-C718-4714-BE03-EB2C33E2DA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ee0e406fbf4cd8"/>
          <a:stretch xmlns:a="http://schemas.openxmlformats.org/drawingml/2006/main"/>
        </p:blipFill>
        <p:spPr>
          <a:xfrm xmlns:a="http://schemas.openxmlformats.org/drawingml/2006/main">
            <a:off x="1239120" y="819150"/>
            <a:ext cx="9713761" cy="5467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D09868-3553-4F8C-9D58-5963B802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083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시간 초과 시 이미 수집한 서비스별 관측과 미확인 사항 보존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C54157-0DF5-4C44-B6A9-E1BD41ED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36731133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7DF69A-E038-4D37-91BC-E061B2FDD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추가 1 · 증상에 맞는 매뉴얼을 검색한다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C499C5-543D-4158-82C4-F03A15AB0E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60123023144044"/>
          <a:stretch xmlns:a="http://schemas.openxmlformats.org/drawingml/2006/main"/>
        </p:blipFill>
        <p:spPr>
          <a:xfrm xmlns:a="http://schemas.openxmlformats.org/drawingml/2006/main">
            <a:off x="304800" y="1407757"/>
            <a:ext cx="7791450" cy="438538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C7A3BF-167E-4B77-8814-AC7134C32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066800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구현 방식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648126-D940-4130-A217-A6BE4841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571625"/>
            <a:ext cx="3295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1. 알림·문서를 bge-m3로 벡터화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3657F3-2D7B-40AE-93A2-1486E073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47925"/>
            <a:ext cx="3295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2. SQLite에서 유사한 문서 검색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671C7E-379C-4220-81EE-EA145BEE3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24225"/>
            <a:ext cx="3295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3. MCP로 매뉴얼 원문 조회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B05A5D-F21E-45A7-AD39-8BF45EA11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695825"/>
            <a:ext cx="32956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실제 실행</a:t>
            </a:r>
          </a:p>
          <a:p xmlns:a="http://schemas.openxmlformats.org/drawingml/2006/main">
            <a: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log-service → disk-full</a:t>
            </a:r>
          </a:p>
          <a:p xmlns:a="http://schemas.openxmlformats.org/drawingml/2006/main">
            <a: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유사도 0.673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48FDAF-45FF-4BD0-AAB8-F5DD687D9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083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검색기를 의존성으로 분리해 교체·단위 테스트 가능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C3A1C8-B8AD-4DCC-B338-E0E3617F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36377790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662EF7-0582-47E4-8C55-5AEDD3E9F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추가 2 · 답변에 사용한 근거를 화면에 표시한다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B5F1FA-6E4D-436E-81BD-7856CB9D6C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38c622bb5d4141"/>
          <a:stretch xmlns:a="http://schemas.openxmlformats.org/drawingml/2006/main"/>
        </p:blipFill>
        <p:spPr>
          <a:xfrm xmlns:a="http://schemas.openxmlformats.org/drawingml/2006/main">
            <a:off x="304800" y="1407757"/>
            <a:ext cx="7791450" cy="438538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15998C-09AE-4647-B0D2-764CCC86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066800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구현 방식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82FF97-7E51-4394-A070-EDEEB2344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571625"/>
            <a:ext cx="3295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1. 수집 객체를 최종 이벤트에 포함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13D6EA-680D-4362-99ED-CF12B910A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47925"/>
            <a:ext cx="3295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2. 서비스·수치·문서를</a:t>
            </a:r>
          </a:p>
          <a:p xmlns:a="http://schemas.openxmlformats.org/drawingml/2006/main">
            <a: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표로 표시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4B02EC-2957-47A3-A2B6-AD2E159F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24225"/>
            <a:ext cx="3295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3. 미확인 항목과</a:t>
            </a:r>
          </a:p>
          <a:p xmlns:a="http://schemas.openxmlformats.org/drawingml/2006/main">
            <a: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조치 미실행 표시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E1B94E-0403-4FC3-9765-2FCA0F91C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695825"/>
            <a:ext cx="32956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실제 실행</a:t>
            </a:r>
          </a:p>
          <a:p xmlns:a="http://schemas.openxmlformats.org/drawingml/2006/main">
            <a: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web: 매뉴얼 없음</a:t>
            </a:r>
          </a:p>
          <a:p xmlns:a="http://schemas.openxmlformats.org/drawingml/2006/main">
            <a: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auth: 지연 매뉴얼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B177B2-4E6F-4646-B5FB-18740C6DC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91160151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1C3483-E9D2-4F39-A37F-58444E3E3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추가 3 · 같은 질문의 결과를 자동 비교한다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2E88F4-5F50-4A25-980F-208F0DC6C7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2d7c46f32c4724"/>
          <a:stretch xmlns:a="http://schemas.openxmlformats.org/drawingml/2006/main"/>
        </p:blipFill>
        <p:spPr>
          <a:xfrm xmlns:a="http://schemas.openxmlformats.org/drawingml/2006/main">
            <a:off x="1236133" y="819150"/>
            <a:ext cx="9719733" cy="5467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97A5C4-6E7B-4966-A1DA-BF966BC7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083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고정 질문 20개로 전후 비교, 단위 테스트 31개로 분기·검증 점검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CDCFE3-CDC0-4700-9A54-412D07731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09126982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71B276-ACFF-4901-B0F5-C4118441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측정 기준과 전후 결과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B94D2D-2835-47F0-8839-CF5A19B8C7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da3b399f7a4408"/>
          <a:stretch xmlns:a="http://schemas.openxmlformats.org/drawingml/2006/main"/>
        </p:blipFill>
        <p:spPr>
          <a:xfrm xmlns:a="http://schemas.openxmlformats.org/drawingml/2006/main">
            <a:off x="1236133" y="819150"/>
            <a:ext cx="9719733" cy="5467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517690-8786-4559-B545-CE118369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4231715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0FF915-9B0A-49F6-A459-BB97E4CE3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한계와 다음 개선 방향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B6E604-BFE8-422A-BA4A-969096FC4C48}"/>
              </a:ext>
            </a:extLst>
          </p:cNvPr>
          <p:cNvGraphicFramePr/>
          <p:nvPr/>
        </p:nvGraphicFramePr>
        <p:xfrm>
          <a:off xmlns:a="http://schemas.openxmlformats.org/drawingml/2006/main" x="457200" y="1428750"/>
          <a:ext xmlns:a="http://schemas.openxmlformats.org/drawingml/2006/main" cx="112776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8039100"/>
              </a:tblGrid>
              <a:tr h="6953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2786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선택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6"/>
                      </a:solidFill>
                      <a:prstDash val="solid"/>
                    </a:lnL>
                    <a:lnR w="9525">
                      <a:solidFill>
                        <a:srgbClr val="D8E2E6"/>
                      </a:solidFill>
                      <a:prstDash val="solid"/>
                    </a:lnR>
                    <a:lnT w="9525">
                      <a:solidFill>
                        <a:srgbClr val="D8E2E6"/>
                      </a:solidFill>
                      <a:prstDash val="solid"/>
                    </a:lnT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EC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2786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한계·대가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T w="9525">
                      <a:solidFill>
                        <a:srgbClr val="D8E2E6"/>
                      </a:solidFill>
                      <a:prstDash val="solid"/>
                    </a:lnT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ECF3F4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임베딩·문서 검색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6"/>
                      </a:solidFill>
                      <a:prstDash val="solid"/>
                    </a:lnL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검색 지연·오검색 가능성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문서 6개·모의 지표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6"/>
                      </a:solidFill>
                      <a:prstDash val="solid"/>
                    </a:lnL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실제 운영 성능·일반화 미검증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구조화·원문 출력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6"/>
                      </a:solidFill>
                      <a:prstDash val="solid"/>
                    </a:lnL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자유로운 종합 설명 범위 제한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생성·시간 상한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6"/>
                      </a:solidFill>
                      <a:prstDash val="solid"/>
                    </a:lnL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일부 요청은 관측 안내로 종료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DD641D-23ED-4125-8244-DEDDD853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00650"/>
            <a:ext cx="11277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다음 단계: 실제 로그·시계열 자료 수집과 독립 질문 평가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26318A-132C-47F8-9C64-F794B414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0676088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ple SD Gothic Neo"/>
        <a:ea typeface=""/>
        <a:cs typeface=""/>
      </a:majorFont>
      <a:minorFont>
        <a:latin typeface="Apple SD Gothic Neo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2026-10-22T01:07:13.7650000Z</dcterms:created>
  <dcterms:modified xsi:type="dcterms:W3CDTF">2026-10-22T01:07:13.7650000Z</dcterms:modified>
</coreProperties>
</file>