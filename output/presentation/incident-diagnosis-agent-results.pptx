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e5fff9d6d74a38" /><Relationship Type="http://schemas.openxmlformats.org/officeDocument/2006/relationships/extended-properties" Target="/docProps/app.xml" Id="R5919205408fd4427" /><Relationship Type="http://schemas.openxmlformats.org/officeDocument/2006/relationships/officeDocument" Target="/ppt/presentation.xml" Id="R49348a6591d84e80" /></Relationships>
</file>

<file path=ppt/presentation.xml><?xml version="1.0" encoding="utf-8"?>
<p:presentation xmlns:p="http://schemas.openxmlformats.org/presentationml/2006/main">
  <p:sldMasterIdLst>
    <p:sldMasterId xmlns:r="http://schemas.openxmlformats.org/officeDocument/2006/relationships" id="2147483648" r:id="Rab150a88c7ee4d22"/>
  </p:sldMasterIdLst>
  <p:notesMasterIdLst>
    <p:notesMasterId xmlns:r="http://schemas.openxmlformats.org/officeDocument/2006/relationships" r:id="Rfb234623639b439d"/>
  </p:notesMasterIdLst>
  <p:sldIdLst>
    <p:sldId xmlns:r="http://schemas.openxmlformats.org/officeDocument/2006/relationships" id="256" r:id="R1d2414b1e89b4eba"/>
    <p:sldId xmlns:r="http://schemas.openxmlformats.org/officeDocument/2006/relationships" id="257" r:id="Rc98a6b67ce894817"/>
    <p:sldId xmlns:r="http://schemas.openxmlformats.org/officeDocument/2006/relationships" id="258" r:id="Rc41698d678c84073"/>
    <p:sldId xmlns:r="http://schemas.openxmlformats.org/officeDocument/2006/relationships" id="259" r:id="R502c2e85858c4097"/>
    <p:sldId xmlns:r="http://schemas.openxmlformats.org/officeDocument/2006/relationships" id="260" r:id="Rb2cb8222488a4fe7"/>
    <p:sldId xmlns:r="http://schemas.openxmlformats.org/officeDocument/2006/relationships" id="261" r:id="Rc7b1f1ff7f4b40d2"/>
    <p:sldId xmlns:r="http://schemas.openxmlformats.org/officeDocument/2006/relationships" id="262" r:id="Rc38913f299874953"/>
    <p:sldId xmlns:r="http://schemas.openxmlformats.org/officeDocument/2006/relationships" id="263" r:id="Rdacef1011caa4668"/>
    <p:sldId xmlns:r="http://schemas.openxmlformats.org/officeDocument/2006/relationships" id="264" r:id="R5d1eef1aed89451d"/>
    <p:sldId xmlns:r="http://schemas.openxmlformats.org/officeDocument/2006/relationships" id="265" r:id="R9a9b1d17816f4aff"/>
    <p:sldId xmlns:r="http://schemas.openxmlformats.org/officeDocument/2006/relationships" id="266" r:id="R0eba1a2f9f744bc0"/>
    <p:sldId xmlns:r="http://schemas.openxmlformats.org/officeDocument/2006/relationships" id="267" r:id="Rd916a970c0ca4b70"/>
    <p:sldId xmlns:r="http://schemas.openxmlformats.org/officeDocument/2006/relationships" id="268" r:id="Rba44a93a378a4c10"/>
    <p:sldId xmlns:r="http://schemas.openxmlformats.org/officeDocument/2006/relationships" id="269" r:id="R79242ed764354568"/>
    <p:sldId xmlns:r="http://schemas.openxmlformats.org/officeDocument/2006/relationships" id="270" r:id="Ra7caf1d7448b49d2"/>
    <p:sldId xmlns:r="http://schemas.openxmlformats.org/officeDocument/2006/relationships" id="271" r:id="Rb21efd13e66547f4"/>
    <p:sldId xmlns:r="http://schemas.openxmlformats.org/officeDocument/2006/relationships" id="272" r:id="R0e4b03b768f04353"/>
    <p:sldId xmlns:r="http://schemas.openxmlformats.org/officeDocument/2006/relationships" id="273" r:id="Rbad9c4f779184163"/>
    <p:sldId xmlns:r="http://schemas.openxmlformats.org/officeDocument/2006/relationships" id="274" r:id="R7ae03a4105c44ad4"/>
    <p:sldId xmlns:r="http://schemas.openxmlformats.org/officeDocument/2006/relationships" id="275" r:id="R5d8322e8657a4752"/>
    <p:sldId xmlns:r="http://schemas.openxmlformats.org/officeDocument/2006/relationships" id="276" r:id="R7be8b520b4c44f1a"/>
    <p:sldId xmlns:r="http://schemas.openxmlformats.org/officeDocument/2006/relationships" id="277" r:id="R8296953587914f2e"/>
    <p:sldId xmlns:r="http://schemas.openxmlformats.org/officeDocument/2006/relationships" id="278" r:id="R8cf8bdf5cc184c0f"/>
    <p:sldId xmlns:r="http://schemas.openxmlformats.org/officeDocument/2006/relationships" id="279" r:id="R5dbdab9618ec40d1"/>
    <p:sldId xmlns:r="http://schemas.openxmlformats.org/officeDocument/2006/relationships" id="280" r:id="R21c82468684e410f"/>
    <p:sldId xmlns:r="http://schemas.openxmlformats.org/officeDocument/2006/relationships" id="281" r:id="Rd4e2631585ce48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b5130a097a4a6a" /><Relationship Type="http://schemas.openxmlformats.org/officeDocument/2006/relationships/slideMaster" Target="/ppt/slideMasters/slideMaster1.xml" Id="Rab150a88c7ee4d22" /><Relationship Type="http://schemas.openxmlformats.org/officeDocument/2006/relationships/notesMaster" Target="/ppt/notesMasters/notesMaster1.xml" Id="Rfb234623639b439d" /><Relationship Type="http://schemas.openxmlformats.org/officeDocument/2006/relationships/presProps" Target="/ppt/presProps.xml" Id="R86973732ea904a76" /><Relationship Type="http://schemas.openxmlformats.org/officeDocument/2006/relationships/tableStyles" Target="/ppt/tableStyles.xml" Id="Rc20c18255dd84733" /><Relationship Type="http://schemas.openxmlformats.org/officeDocument/2006/relationships/slide" Target="/ppt/slides/slide1.xml" Id="R1d2414b1e89b4eba" /><Relationship Type="http://schemas.openxmlformats.org/officeDocument/2006/relationships/slide" Target="/ppt/slides/slide2.xml" Id="Rc98a6b67ce894817" /><Relationship Type="http://schemas.openxmlformats.org/officeDocument/2006/relationships/slide" Target="/ppt/slides/slide3.xml" Id="Rc41698d678c84073" /><Relationship Type="http://schemas.openxmlformats.org/officeDocument/2006/relationships/slide" Target="/ppt/slides/slide4.xml" Id="R502c2e85858c4097" /><Relationship Type="http://schemas.openxmlformats.org/officeDocument/2006/relationships/slide" Target="/ppt/slides/slide5.xml" Id="Rb2cb8222488a4fe7" /><Relationship Type="http://schemas.openxmlformats.org/officeDocument/2006/relationships/slide" Target="/ppt/slides/slide6.xml" Id="Rc7b1f1ff7f4b40d2" /><Relationship Type="http://schemas.openxmlformats.org/officeDocument/2006/relationships/slide" Target="/ppt/slides/slide7.xml" Id="Rc38913f299874953" /><Relationship Type="http://schemas.openxmlformats.org/officeDocument/2006/relationships/slide" Target="/ppt/slides/slide8.xml" Id="Rdacef1011caa4668" /><Relationship Type="http://schemas.openxmlformats.org/officeDocument/2006/relationships/slide" Target="/ppt/slides/slide9.xml" Id="R5d1eef1aed89451d" /><Relationship Type="http://schemas.openxmlformats.org/officeDocument/2006/relationships/slide" Target="/ppt/slides/slide10.xml" Id="R9a9b1d17816f4aff" /><Relationship Type="http://schemas.openxmlformats.org/officeDocument/2006/relationships/slide" Target="/ppt/slides/slide11.xml" Id="R0eba1a2f9f744bc0" /><Relationship Type="http://schemas.openxmlformats.org/officeDocument/2006/relationships/slide" Target="/ppt/slides/slide12.xml" Id="Rd916a970c0ca4b70" /><Relationship Type="http://schemas.openxmlformats.org/officeDocument/2006/relationships/slide" Target="/ppt/slides/slide13.xml" Id="Rba44a93a378a4c10" /><Relationship Type="http://schemas.openxmlformats.org/officeDocument/2006/relationships/slide" Target="/ppt/slides/slide14.xml" Id="R79242ed764354568" /><Relationship Type="http://schemas.openxmlformats.org/officeDocument/2006/relationships/slide" Target="/ppt/slides/slide15.xml" Id="Ra7caf1d7448b49d2" /><Relationship Type="http://schemas.openxmlformats.org/officeDocument/2006/relationships/slide" Target="/ppt/slides/slide16.xml" Id="Rb21efd13e66547f4" /><Relationship Type="http://schemas.openxmlformats.org/officeDocument/2006/relationships/slide" Target="/ppt/slides/slide17.xml" Id="R0e4b03b768f04353" /><Relationship Type="http://schemas.openxmlformats.org/officeDocument/2006/relationships/slide" Target="/ppt/slides/slide18.xml" Id="Rbad9c4f779184163" /><Relationship Type="http://schemas.openxmlformats.org/officeDocument/2006/relationships/slide" Target="/ppt/slides/slide19.xml" Id="R7ae03a4105c44ad4" /><Relationship Type="http://schemas.openxmlformats.org/officeDocument/2006/relationships/slide" Target="/ppt/slides/slide20.xml" Id="R5d8322e8657a4752" /><Relationship Type="http://schemas.openxmlformats.org/officeDocument/2006/relationships/slide" Target="/ppt/slides/slide21.xml" Id="R7be8b520b4c44f1a" /><Relationship Type="http://schemas.openxmlformats.org/officeDocument/2006/relationships/slide" Target="/ppt/slides/slide22.xml" Id="R8296953587914f2e" /><Relationship Type="http://schemas.openxmlformats.org/officeDocument/2006/relationships/slide" Target="/ppt/slides/slide23.xml" Id="R8cf8bdf5cc184c0f" /><Relationship Type="http://schemas.openxmlformats.org/officeDocument/2006/relationships/slide" Target="/ppt/slides/slide24.xml" Id="R5dbdab9618ec40d1" /><Relationship Type="http://schemas.openxmlformats.org/officeDocument/2006/relationships/slide" Target="/ppt/slides/slide25.xml" Id="R21c82468684e410f" /><Relationship Type="http://schemas.openxmlformats.org/officeDocument/2006/relationships/slide" Target="/ppt/slides/slide26.xml" Id="Rd4e2631585ce48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d229aeb4494a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6f502dbfdc404a" /><Relationship Type="http://schemas.openxmlformats.org/officeDocument/2006/relationships/notesMaster" Target="/ppt/notesMasters/notesMaster1.xml" Id="Ra76386fd22264c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83b21d423c4c65" /><Relationship Type="http://schemas.openxmlformats.org/officeDocument/2006/relationships/notesMaster" Target="/ppt/notesMasters/notesMaster1.xml" Id="R5e6e5100cbba47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268abd8e74488b" /><Relationship Type="http://schemas.openxmlformats.org/officeDocument/2006/relationships/notesMaster" Target="/ppt/notesMasters/notesMaster1.xml" Id="R85f7e3d7d37b4a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a36dc08dc44589" /><Relationship Type="http://schemas.openxmlformats.org/officeDocument/2006/relationships/notesMaster" Target="/ppt/notesMasters/notesMaster1.xml" Id="Re4b027528bcf44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d7e4fd4c154a3b" /><Relationship Type="http://schemas.openxmlformats.org/officeDocument/2006/relationships/notesMaster" Target="/ppt/notesMasters/notesMaster1.xml" Id="R74ccea0a2ebf40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46eecb94174975" /><Relationship Type="http://schemas.openxmlformats.org/officeDocument/2006/relationships/notesMaster" Target="/ppt/notesMasters/notesMaster1.xml" Id="Rf6dbcbdfcce248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667e9839004bbf" /><Relationship Type="http://schemas.openxmlformats.org/officeDocument/2006/relationships/notesMaster" Target="/ppt/notesMasters/notesMaster1.xml" Id="R6643d39e82ee45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7c20834bda48ae" /><Relationship Type="http://schemas.openxmlformats.org/officeDocument/2006/relationships/notesMaster" Target="/ppt/notesMasters/notesMaster1.xml" Id="Rf9d5171fed9c49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ebd603d36d41cb" /><Relationship Type="http://schemas.openxmlformats.org/officeDocument/2006/relationships/notesMaster" Target="/ppt/notesMasters/notesMaster1.xml" Id="R6b94a38fd5d24e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56adbb15c54b5f" /><Relationship Type="http://schemas.openxmlformats.org/officeDocument/2006/relationships/notesMaster" Target="/ppt/notesMasters/notesMaster1.xml" Id="Rb60262fb428c48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608df9a7084322" /><Relationship Type="http://schemas.openxmlformats.org/officeDocument/2006/relationships/notesMaster" Target="/ppt/notesMasters/notesMaster1.xml" Id="R27b7de67df154b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5106491c9b4155" /><Relationship Type="http://schemas.openxmlformats.org/officeDocument/2006/relationships/notesMaster" Target="/ppt/notesMasters/notesMaster1.xml" Id="Rc7374260b8114a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c3b8f4eca245d2" /><Relationship Type="http://schemas.openxmlformats.org/officeDocument/2006/relationships/notesMaster" Target="/ppt/notesMasters/notesMaster1.xml" Id="Rc3bce9d9bf3e43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ae9602253f4d38" /><Relationship Type="http://schemas.openxmlformats.org/officeDocument/2006/relationships/notesMaster" Target="/ppt/notesMasters/notesMaster1.xml" Id="R1243970fe95b47a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9d2f5f11734379" /><Relationship Type="http://schemas.openxmlformats.org/officeDocument/2006/relationships/notesMaster" Target="/ppt/notesMasters/notesMaster1.xml" Id="Re2f749a94d3c42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3ff86b96cd4d30" /><Relationship Type="http://schemas.openxmlformats.org/officeDocument/2006/relationships/notesMaster" Target="/ppt/notesMasters/notesMaster1.xml" Id="R1968b8ddfa65424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78cf70a5df43c5" /><Relationship Type="http://schemas.openxmlformats.org/officeDocument/2006/relationships/notesMaster" Target="/ppt/notesMasters/notesMaster1.xml" Id="R862d9006d37344d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45494d2667d4a74" /><Relationship Type="http://schemas.openxmlformats.org/officeDocument/2006/relationships/notesMaster" Target="/ppt/notesMasters/notesMaster1.xml" Id="R97a314ff010646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bf4067ceceb4b0b" /><Relationship Type="http://schemas.openxmlformats.org/officeDocument/2006/relationships/notesMaster" Target="/ppt/notesMasters/notesMaster1.xml" Id="R1e2af72768ef45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b4d8d2390c4139" /><Relationship Type="http://schemas.openxmlformats.org/officeDocument/2006/relationships/notesMaster" Target="/ppt/notesMasters/notesMaster1.xml" Id="Ra63f92f24ee340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de03decf4e4b17" /><Relationship Type="http://schemas.openxmlformats.org/officeDocument/2006/relationships/notesMaster" Target="/ppt/notesMasters/notesMaster1.xml" Id="Rd2b09f3d793f49c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0ba1812602b4fc9" /><Relationship Type="http://schemas.openxmlformats.org/officeDocument/2006/relationships/notesMaster" Target="/ppt/notesMasters/notesMaster1.xml" Id="R46eebeaf3e3042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4295bf78b3f4103" /><Relationship Type="http://schemas.openxmlformats.org/officeDocument/2006/relationships/notesMaster" Target="/ppt/notesMasters/notesMaster1.xml" Id="R689bfa0d61af402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864e79467d54a4c" /><Relationship Type="http://schemas.openxmlformats.org/officeDocument/2006/relationships/notesMaster" Target="/ppt/notesMasters/notesMaster1.xml" Id="Rcae25631c545405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12974f538874ead" /><Relationship Type="http://schemas.openxmlformats.org/officeDocument/2006/relationships/notesMaster" Target="/ppt/notesMasters/notesMaster1.xml" Id="Rdd85c65d46e944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2c6be846172492a" /><Relationship Type="http://schemas.openxmlformats.org/officeDocument/2006/relationships/notesMaster" Target="/ppt/notesMasters/notesMaster1.xml" Id="Rf063c0df928b4e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[6초] 제공된 Base AI Project의 실제 응답에서 문제를 찾아 개선했습니다. 이진형입니다.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[11초] 서비스와 증상을 입력하면 MCP로 지표와 매뉴얼을 조회하고 보고합니다. 처음 실행한 응답의 문제와 같은 질문의 개선 결과를 보여드리겠습니다. 두 화면의 수치는 다른 시점입니다.</a:t>
            </a:r>
          </a:p>
          <a:p xmlns:a="http://schemas.openxmlformats.org/drawingml/2006/main">
            <a:r>
              <a:t/>
            </a:r>
          </a:p>
          <a:p xmlns:a="http://schemas.openxmlformats.org/drawingml/2006/main">
            <a:r>
              <a:t>출처: day1/baseline/original_v2/agent; all_total_vue_student/doc/regression_test_queries.md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[11초] payments와 cache를 함께 물었지만 수집 사실에는 payments만 있습니다. cache를 조회하지 않고 공통 원인을 추측했습니다.</a:t>
            </a:r>
          </a:p>
          <a:p xmlns:a="http://schemas.openxmlformats.org/drawingml/2006/main">
            <a:r>
              <a:t/>
            </a:r>
          </a:p>
          <a:p xmlns:a="http://schemas.openxmlformats.org/drawingml/2006/main">
            <a:r>
              <a:t>출처: day1/evidence/user-screenshots/04-payments-cache.png;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[11초] 요청 대상 목록을 계획과 대조해 빠진 조사를 보완했습니다. 같은 질문에 두 서비스를 각각 조회합니다. 수치 하락을 개선 효과로 해석하지 않습니다.</a:t>
            </a:r>
          </a:p>
          <a:p xmlns:a="http://schemas.openxmlformats.org/drawingml/2006/main">
            <a:r>
              <a:t/>
            </a:r>
          </a:p>
          <a:p xmlns:a="http://schemas.openxmlformats.org/drawingml/2006/main">
            <a:r>
              <a:t>출처: day2/evidence/review-q06-first.jpg; day2/results/contextual-captures/a19f84a4-7221-45f6-938e-f8dac295ea28-eca497a3.json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[6초] 같은 응답의 다음 화면입니다. 두 서비스의 근거를 남기고 공통 원인은 미확인으로 표시합니다.</a:t>
            </a:r>
          </a:p>
          <a:p xmlns:a="http://schemas.openxmlformats.org/drawingml/2006/main">
            <a:r>
              <a:t/>
            </a:r>
          </a:p>
          <a:p xmlns:a="http://schemas.openxmlformats.org/drawingml/2006/main">
            <a:r>
              <a:t>출처: day2/evidence/review-q06-second.jpg; day2/results/contextual-captures/a19f84a4-7221-45f6-938e-f8dac295ea28-eca497a3.json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[8초] gateway에서 payments로 가는 타임아웃도 gateway만 조회했습니다. 같은 대상 누락 문제가 다른 질문에도 나타났습니다.</a:t>
            </a:r>
          </a:p>
          <a:p xmlns:a="http://schemas.openxmlformats.org/drawingml/2006/main">
            <a:r>
              <a:t/>
            </a:r>
          </a:p>
          <a:p xmlns:a="http://schemas.openxmlformats.org/drawingml/2006/main">
            <a:r>
              <a:t>출처: day1/evidence/user-screenshots/01-gateway-payments.png;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[8초] 개선 후 gateway와 payments를 각각 조사합니다. 서비스마다 관측한 알림에 맞춰 문서를 찾습니다.</a:t>
            </a:r>
          </a:p>
          <a:p xmlns:a="http://schemas.openxmlformats.org/drawingml/2006/main">
            <a:r>
              <a:t/>
            </a:r>
          </a:p>
          <a:p xmlns:a="http://schemas.openxmlformats.org/drawingml/2006/main">
            <a:r>
              <a:t>출처: day2/evidence/review-q04-first.jpg;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[5초] 이어지는 화면에 두 서비스와 문서가 표시됩니다. 의존 관계의 원인은 확정하지 않습니다.</a:t>
            </a:r>
          </a:p>
          <a:p xmlns:a="http://schemas.openxmlformats.org/drawingml/2006/main">
            <a:r>
              <a:t/>
            </a:r>
          </a:p>
          <a:p xmlns:a="http://schemas.openxmlformats.org/drawingml/2006/main">
            <a:r>
              <a:t>출처: day2/evidence/review-q04-second.jpg;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[9초] billing을 요청했지만 auth를 조회했습니다. 원래 기본 정책을 요청 대상 확인 정책으로 변경했습니다.</a:t>
            </a:r>
          </a:p>
          <a:p xmlns:a="http://schemas.openxmlformats.org/drawingml/2006/main">
            <a:r>
              <a:t/>
            </a:r>
          </a:p>
          <a:p xmlns:a="http://schemas.openxmlformats.org/drawingml/2006/main">
            <a:r>
              <a:t>출처: day1/evidence/user-screenshots/06-billing.png;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[9초] 미등록 서비스는 대체 조회하지 않고 등록 이름을 다시 묻습니다. 실제 조회가 없다는 점도 표시합니다.</a:t>
            </a:r>
          </a:p>
          <a:p xmlns:a="http://schemas.openxmlformats.org/drawingml/2006/main">
            <a:r>
              <a:t/>
            </a:r>
          </a:p>
          <a:p xmlns:a="http://schemas.openxmlformats.org/drawingml/2006/main">
            <a:r>
              <a:t>출처: day2/evidence/context-unknown-frame.jpg; day2/results/contextual-captures/55c381af-5efe-447d-9430-bf83a5b11c9d-c848919a.json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[7초] 로그인이라는 말만으로 auth를 조회하던 기본 정책도 같은 문제였습니다.</a:t>
            </a:r>
          </a:p>
          <a:p xmlns:a="http://schemas.openxmlformats.org/drawingml/2006/main">
            <a:r>
              <a:t/>
            </a:r>
          </a:p>
          <a:p xmlns:a="http://schemas.openxmlformats.org/drawingml/2006/main">
            <a:r>
              <a:t>출처: day1/evidence/user-screenshots/05-login.png;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[7초] 개선 후에는 서비스 이름을 먼저 묻습니다. 확인 안내는 코드 응답이며 보고 모델을 호출하지 않습니다.</a:t>
            </a:r>
          </a:p>
          <a:p xmlns:a="http://schemas.openxmlformats.org/drawingml/2006/main">
            <a:r>
              <a:t/>
            </a:r>
          </a:p>
          <a:p xmlns:a="http://schemas.openxmlformats.org/drawingml/2006/main">
            <a:r>
              <a:t>출처: day2/evidence/review-q07-answer.jpg; day2/results/contextual-captures/f4e83364-7451-4377-a65d-6adaac6d4a8f-3fba43e9.json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[11초] 원래 web은 정상이고 알림도 없는데 DB Down 문서를 선택했습니다. auth 조사도 빠져 있습니다.</a:t>
            </a:r>
          </a:p>
          <a:p xmlns:a="http://schemas.openxmlformats.org/drawingml/2006/main">
            <a:r>
              <a:t/>
            </a:r>
          </a:p>
          <a:p xmlns:a="http://schemas.openxmlformats.org/drawingml/2006/main">
            <a:r>
              <a:t>출처: day1/evidence/user-screenshots/03-web-auth.png;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[12초] 정상·장애·정보 부족을 구분합니다. 정상 web은 문서를 생략하고 auth는 지연 문서를 연결합니다. 최초 사진과 수치가 다른 별도 실행입니다.</a:t>
            </a:r>
          </a:p>
          <a:p xmlns:a="http://schemas.openxmlformats.org/drawingml/2006/main">
            <a:r>
              <a:t/>
            </a:r>
          </a:p>
          <a:p xmlns:a="http://schemas.openxmlformats.org/drawingml/2006/main">
            <a:r>
              <a:t>출처: day2/evidence/context-healthy-answer.jpg;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[12초] payments 답변에는 로그 분석 결과라고 쓰였지만 실제 로그 조회가 없습니다. 추론을 수집한 사실처럼 표현한 문제입니다.</a:t>
            </a:r>
          </a:p>
          <a:p xmlns:a="http://schemas.openxmlformats.org/drawingml/2006/main">
            <a:r>
              <a:t/>
            </a:r>
          </a:p>
          <a:p xmlns:a="http://schemas.openxmlformats.org/drawingml/2006/main">
            <a:r>
              <a:t>출처: day1/evidence/user-screenshots/02-payments-cpu.png;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[16초] 모델이 서비스·수치·문서·절차 번호를 JSON으로 선택하면 코드가 근거와 대조합니다. 통과 후 매뉴얼 원문을 표시해 조치 조건을 보존하고, 로그 미수집과 조치 미실행도 밝힙니다.</a:t>
            </a:r>
          </a:p>
          <a:p xmlns:a="http://schemas.openxmlformats.org/drawingml/2006/main">
            <a:r>
              <a:t/>
            </a:r>
          </a:p>
          <a:p xmlns:a="http://schemas.openxmlformats.org/drawingml/2006/main">
            <a:r>
              <a:t>출처: day2/evidence/review-q01-answer.jpg; day2/results/contextual-captures/3e26b7de-a591-4252-a03e-e3b7abfd824e-8df47df5.json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[7초] 이름 질문에서는 사용자 이름 민수를 비서 자기소개에 섞었습니다. 이 사례도 회귀 검증에 넣었습니다.</a:t>
            </a:r>
          </a:p>
          <a:p xmlns:a="http://schemas.openxmlformats.org/drawingml/2006/main">
            <a:r>
              <a:t/>
            </a:r>
          </a:p>
          <a:p xmlns:a="http://schemas.openxmlformats.org/drawingml/2006/main">
            <a:r>
              <a:t>출처: day1/evidence/user-screenshots/07-name-recall.png;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[9초] 사용자 역할의 이름 선언만 이력에서 읽도록 바꿨습니다. 같은 두 턴에 민수라고 답합니다. 모델의 장기 기억 성능을 측정한 것은 아닙니다.</a:t>
            </a:r>
          </a:p>
          <a:p xmlns:a="http://schemas.openxmlformats.org/drawingml/2006/main">
            <a:r>
              <a:t/>
            </a:r>
          </a:p>
          <a:p xmlns:a="http://schemas.openxmlformats.org/drawingml/2006/main">
            <a:r>
              <a:t>출처: day2/evidence/review-q10-answer.jpg; day2/results/contextual-captures/review-suite.json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[9초] 별도 원본 재현에서는 같은 payments·cache 질문이 분석 단계 ReadTimeout으로 끝났습니다. 최초 성공 응답 사진과 다른 실행입니다.</a:t>
            </a:r>
          </a:p>
          <a:p xmlns:a="http://schemas.openxmlformats.org/drawingml/2006/main">
            <a:r>
              <a:t/>
            </a:r>
          </a:p>
          <a:p xmlns:a="http://schemas.openxmlformats.org/drawingml/2006/main">
            <a:r>
              <a:t>출처: day2/evidence/before-main-viewport.jpg; day2/evidence/ui-capture-context.json; day2/evidence/ui-capture-context.json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[12초] 같은 질문에 보고 의존성 지연을 주고 시험 상한을 8초로 낮췄습니다. 8.004초에 제한 안내와 수집 근거를 반환했습니다. 기본 상한은 60초입니다.</a:t>
            </a:r>
          </a:p>
          <a:p xmlns:a="http://schemas.openxmlformats.org/drawingml/2006/main">
            <a:r>
              <a:t/>
            </a:r>
          </a:p>
          <a:p xmlns:a="http://schemas.openxmlformats.org/drawingml/2006/main">
            <a:r>
              <a:t>출처: day2/evidence/story-timeout-first.jpg; day2/results/story-timeout/timeout.json; all_total_vue_student/server.py; all_total_vue_student/agent/nodes.py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[5초] 이어지는 화면에 두 서비스의 관측을 보존했습니다. 여기까지 기존 동작 개선입니다.</a:t>
            </a:r>
          </a:p>
          <a:p xmlns:a="http://schemas.openxmlformats.org/drawingml/2006/main">
            <a:r>
              <a:t/>
            </a:r>
          </a:p>
          <a:p xmlns:a="http://schemas.openxmlformats.org/drawingml/2006/main">
            <a:r>
              <a:t>출처: day2/evidence/story-timeout-second.jpg; day2/results/story-timeout/timeout.json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[22초] 첫 추가 기능은 RAG입니다. 서비스별 알림을 bge-m3로 임베딩해 SQLite의 6개 문서와 코사인 유사도를 계산합니다. 기준 이상 후보의 첫 문서를 MCP Resource로 읽습니다. 실제 log 질문에 disk-full이 연결됩니다. 유사도는 정답 확률이 아닙니다.</a:t>
            </a:r>
          </a:p>
          <a:p xmlns:a="http://schemas.openxmlformats.org/drawingml/2006/main">
            <a:r>
              <a:t/>
            </a:r>
          </a:p>
          <a:p xmlns:a="http://schemas.openxmlformats.org/drawingml/2006/main">
            <a:r>
              <a:t>출처: day2/evidence/review-q03-answer.jpg; all_total_vue_student/agent/retrieval.py; all_total_vue_student/agent/research.py; all_total_vue_student/mcp_server.py; day2/results/contextual-captures/cc4c77a5-5311-4797-9942-36ec51f66841-17dcde1e.json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[17초] 두 번째는 근거 화면입니다. 실제 수집 객체를 최종 이벤트에 넣고 화면에서 표로 만듭니다. 실제 조회 서비스·수치·참고 매뉴얼과 미확인 사항을 보여줍니다.</a:t>
            </a:r>
          </a:p>
          <a:p xmlns:a="http://schemas.openxmlformats.org/drawingml/2006/main">
            <a:r>
              <a:t/>
            </a:r>
          </a:p>
          <a:p xmlns:a="http://schemas.openxmlformats.org/drawingml/2006/main">
            <a:r>
              <a:t>출처: day2/evidence/context-healthy-evidence.jpg; all_total_vue_student/agent/evidence.py; all_total_vue_student/server.py; all_total_vue_student/web_chat.html;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[19초] 세 번째는 회귀·비교 실행기입니다. 같은 질문과 고정 지표로 전후 실행하고 실제 조회 목록·문서·시간을 기록합니다. 화면은 그 기록에서 생성한 보고서입니다. D05부터 D07에서 payments·cache·auth 누락 세 개를 보완했고, D07의 DB 장애 문서를 지연 문서로 바꿨습니다. 앞의 채팅 화면에서도 같은 동작을 확인했습니다.</a:t>
            </a:r>
          </a:p>
          <a:p xmlns:a="http://schemas.openxmlformats.org/drawingml/2006/main">
            <a:r>
              <a:t/>
            </a:r>
          </a:p>
          <a:p xmlns:a="http://schemas.openxmlformats.org/drawingml/2006/main">
            <a:r>
              <a:t>출처: day2/evidence/evaluation-cases.jpg; day2/scripts/build_evaluation_evidence.py; day1/results/baseline-ollama/results.json; day2/results/improved-ollama/results.json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[26초] 같은 질문 20개와 고정 지표로 실제 모델·그래프를 실행했습니다. 필요한 서비스 수집은 서비스 기준 17/20에서 20/20, 조회 범위가 정확히 맞는 질문은 15/20에서 20/20입니다. 단일 정답 매뉴얼은 11/12에서 12/12입니다. 양쪽 완료한 동일 16건 실행 시간 중앙값은 35.94초에서 4.45초입니다. 화면 표시·통신 시간은 제외했고 생성 설정도 바뀌었습니다. 응답 반환 20건에는 실패 안내도 포함돼 전체 답변 정확도는 아닙니다.</a:t>
            </a:r>
          </a:p>
          <a:p xmlns:a="http://schemas.openxmlformats.org/drawingml/2006/main">
            <a:r>
              <a:t/>
            </a:r>
          </a:p>
          <a:p xmlns:a="http://schemas.openxmlformats.org/drawingml/2006/main">
            <a:r>
              <a:t>출처: day2/evidence/evaluation-criteria.jpg; day2/scripts/build_evaluation_evidence.py; day1/evaluation/cases.json; day1/scripts/run_baseline.py; day2/results/comparison/summary.json; day1/results/baseline-ollama/results.json; day2/results/improved-ollama/results.json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[22초] 문서 6개와 교육용 지표로 확인해 운영 환경으로 일반화하기 어렵습니다. 검색은 지연과 오검색 부담을 더하고, 원문 출력은 설명의 자유도를 줄입니다. 시간 상한 때문에 안내로 끝나기도 합니다. 다음은 실제 로그·시계열·의존 관계와 독립 질문으로 검증하는 것입니다.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425f422ba346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1c600f2f2a45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32e62b8be347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91d647a51b84e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beec7cb9ce47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8901bf42134c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461DF6-89E2-4D10-A4E1-0DFCDE81C5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706003-C270-444B-9E67-D284324905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363829-CDF2-4FF4-B0D8-9B257C3267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67CCAF-0463-42FB-AB0D-770D61DBA8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F20CBC-71E7-4353-B1B0-AC5DEC5646A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C5067E1-0079-4308-A4CD-77E1A66DF4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82F163-2AD7-4075-9767-FE660ED0DC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1D05AB-8470-43D8-987E-3044939799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DCDDD2-829F-4175-A0BA-9F27492E8F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9416CE-B5EC-46A9-9940-EA4BDFF719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d5860d5d0e4e71" /><Relationship Type="http://schemas.openxmlformats.org/officeDocument/2006/relationships/slideLayout" Target="/ppt/slideLayouts/slideLayout1.xml" Id="R2d3fb2100d63462f" /><Relationship Type="http://schemas.openxmlformats.org/officeDocument/2006/relationships/slideLayout" Target="/ppt/slideLayouts/slideLayout2.xml" Id="R0c84f336a72247bc" /><Relationship Type="http://schemas.openxmlformats.org/officeDocument/2006/relationships/slideLayout" Target="/ppt/slideLayouts/slideLayout3.xml" Id="R130583588aea483a" /><Relationship Type="http://schemas.openxmlformats.org/officeDocument/2006/relationships/slideLayout" Target="/ppt/slideLayouts/slideLayout4.xml" Id="Re4dfd940840b4aa9" /><Relationship Type="http://schemas.openxmlformats.org/officeDocument/2006/relationships/slideLayout" Target="/ppt/slideLayouts/slideLayout5.xml" Id="R340c4246211a4444" /><Relationship Type="http://schemas.openxmlformats.org/officeDocument/2006/relationships/slideLayout" Target="/ppt/slideLayouts/slideLayout6.xml" Id="Rd79cf6130bed48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3fb2100d63462f"/>
    <p:sldLayoutId xmlns:r="http://schemas.openxmlformats.org/officeDocument/2006/relationships" id="2147483650" r:id="R0c84f336a72247bc"/>
    <p:sldLayoutId xmlns:r="http://schemas.openxmlformats.org/officeDocument/2006/relationships" id="2147483651" r:id="R130583588aea483a"/>
    <p:sldLayoutId xmlns:r="http://schemas.openxmlformats.org/officeDocument/2006/relationships" id="2147483652" r:id="Re4dfd940840b4aa9"/>
    <p:sldLayoutId xmlns:r="http://schemas.openxmlformats.org/officeDocument/2006/relationships" id="2147483653" r:id="R340c4246211a4444"/>
    <p:sldLayoutId xmlns:r="http://schemas.openxmlformats.org/officeDocument/2006/relationships" id="2147483654" r:id="Rd79cf6130bed48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91a4515a13436e" /><Relationship Type="http://schemas.openxmlformats.org/officeDocument/2006/relationships/notesSlide" Target="/ppt/notesSlides/notesSlide1.xml" Id="R8ceaa64223734e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20e3ec6e74427c" /><Relationship Type="http://schemas.openxmlformats.org/officeDocument/2006/relationships/notesSlide" Target="/ppt/notesSlides/notesSlide2.xml" Id="Re7d80d0000d64f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dad5dec3054601" /><Relationship Type="http://schemas.openxmlformats.org/officeDocument/2006/relationships/image" Target="/ppt/media/image.png" Id="Rd5e0dfa1439a4e32" /><Relationship Type="http://schemas.openxmlformats.org/officeDocument/2006/relationships/notesSlide" Target="/ppt/notesSlides/notesSlide3.xml" Id="Rb356a15026294b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72824d66174602" /><Relationship Type="http://schemas.openxmlformats.org/officeDocument/2006/relationships/image" Target="/ppt/media/image.jpeg" Id="Re1c4148ca6854c40" /><Relationship Type="http://schemas.openxmlformats.org/officeDocument/2006/relationships/notesSlide" Target="/ppt/notesSlides/notesSlide4.xml" Id="R4b9d1433430742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77bb9518244e2b" /><Relationship Type="http://schemas.openxmlformats.org/officeDocument/2006/relationships/image" Target="/ppt/media/image2.jpeg" Id="R2d95194bc1f94a1b" /><Relationship Type="http://schemas.openxmlformats.org/officeDocument/2006/relationships/notesSlide" Target="/ppt/notesSlides/notesSlide5.xml" Id="Rc3f176dca72d4c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5845a2619f46de" /><Relationship Type="http://schemas.openxmlformats.org/officeDocument/2006/relationships/image" Target="/ppt/media/image2.png" Id="R1f230bb0b2234b3d" /><Relationship Type="http://schemas.openxmlformats.org/officeDocument/2006/relationships/notesSlide" Target="/ppt/notesSlides/notesSlide6.xml" Id="R9a75bfe4a4cd4d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d871a364d554f4c" /><Relationship Type="http://schemas.openxmlformats.org/officeDocument/2006/relationships/image" Target="/ppt/media/image3.jpeg" Id="R544362b302c74688" /><Relationship Type="http://schemas.openxmlformats.org/officeDocument/2006/relationships/notesSlide" Target="/ppt/notesSlides/notesSlide7.xml" Id="R0965ada7c4db46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0401369bbc446a" /><Relationship Type="http://schemas.openxmlformats.org/officeDocument/2006/relationships/image" Target="/ppt/media/image4.jpeg" Id="R349e0994cbec49b0" /><Relationship Type="http://schemas.openxmlformats.org/officeDocument/2006/relationships/notesSlide" Target="/ppt/notesSlides/notesSlide8.xml" Id="Rc6cc2b6814b945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8ac971685b6406d" /><Relationship Type="http://schemas.openxmlformats.org/officeDocument/2006/relationships/image" Target="/ppt/media/image3.png" Id="R43afaf7f1d754d4a" /><Relationship Type="http://schemas.openxmlformats.org/officeDocument/2006/relationships/notesSlide" Target="/ppt/notesSlides/notesSlide9.xml" Id="R3de6cd3a4e5a48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16b000a10ca4c5d" /><Relationship Type="http://schemas.openxmlformats.org/officeDocument/2006/relationships/image" Target="/ppt/media/image5.jpeg" Id="R5fcb2e33dfe24a8f" /><Relationship Type="http://schemas.openxmlformats.org/officeDocument/2006/relationships/notesSlide" Target="/ppt/notesSlides/notesSlide10.xml" Id="R009bde664da749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0db39bfa814439e" /><Relationship Type="http://schemas.openxmlformats.org/officeDocument/2006/relationships/image" Target="/ppt/media/image4.png" Id="R64596a72160b446a" /><Relationship Type="http://schemas.openxmlformats.org/officeDocument/2006/relationships/notesSlide" Target="/ppt/notesSlides/notesSlide11.xml" Id="R097541d962084a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ab7dfac31c47c4" /><Relationship Type="http://schemas.openxmlformats.org/officeDocument/2006/relationships/image" Target="/ppt/media/image6.jpeg" Id="R489a6c919e024671" /><Relationship Type="http://schemas.openxmlformats.org/officeDocument/2006/relationships/notesSlide" Target="/ppt/notesSlides/notesSlide12.xml" Id="Ra2ee656d932b42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879b0ba5aa54761" /><Relationship Type="http://schemas.openxmlformats.org/officeDocument/2006/relationships/image" Target="/ppt/media/image5.png" Id="R64e714ee72534bf7" /><Relationship Type="http://schemas.openxmlformats.org/officeDocument/2006/relationships/notesSlide" Target="/ppt/notesSlides/notesSlide13.xml" Id="R6cdf22c7dc344c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53f0092eade4363" /><Relationship Type="http://schemas.openxmlformats.org/officeDocument/2006/relationships/image" Target="/ppt/media/image7.jpeg" Id="R811d44317b7b4e0a" /><Relationship Type="http://schemas.openxmlformats.org/officeDocument/2006/relationships/notesSlide" Target="/ppt/notesSlides/notesSlide14.xml" Id="Ra3e0688a9cdd46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554a6f339bb49d7" /><Relationship Type="http://schemas.openxmlformats.org/officeDocument/2006/relationships/image" Target="/ppt/media/image6.png" Id="R35843813a4874550" /><Relationship Type="http://schemas.openxmlformats.org/officeDocument/2006/relationships/notesSlide" Target="/ppt/notesSlides/notesSlide15.xml" Id="R039ded3d933a440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a7b4269b4eb42f1" /><Relationship Type="http://schemas.openxmlformats.org/officeDocument/2006/relationships/image" Target="/ppt/media/image8.jpeg" Id="R72db7b2ab7fc4e5c" /><Relationship Type="http://schemas.openxmlformats.org/officeDocument/2006/relationships/notesSlide" Target="/ppt/notesSlides/notesSlide16.xml" Id="R723de2a7412f40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23217c52ff84166" /><Relationship Type="http://schemas.openxmlformats.org/officeDocument/2006/relationships/image" Target="/ppt/media/image7.png" Id="Rc7ef4014058e44fd" /><Relationship Type="http://schemas.openxmlformats.org/officeDocument/2006/relationships/notesSlide" Target="/ppt/notesSlides/notesSlide17.xml" Id="R42d00c8eb1aa4b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7149bbbca9d4f6d" /><Relationship Type="http://schemas.openxmlformats.org/officeDocument/2006/relationships/image" Target="/ppt/media/image9.jpeg" Id="Rc9bd3810b58e4a79" /><Relationship Type="http://schemas.openxmlformats.org/officeDocument/2006/relationships/notesSlide" Target="/ppt/notesSlides/notesSlide18.xml" Id="Re28aa5ca43124f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7ddbfd19569431c" /><Relationship Type="http://schemas.openxmlformats.org/officeDocument/2006/relationships/image" Target="/ppt/media/image10.jpeg" Id="Refce538f2d364d22" /><Relationship Type="http://schemas.openxmlformats.org/officeDocument/2006/relationships/notesSlide" Target="/ppt/notesSlides/notesSlide19.xml" Id="Rc401ec5511e5403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1b56768d896471c" /><Relationship Type="http://schemas.openxmlformats.org/officeDocument/2006/relationships/image" Target="/ppt/media/image11.jpeg" Id="R4d9e8eb0c4fa4119" /><Relationship Type="http://schemas.openxmlformats.org/officeDocument/2006/relationships/notesSlide" Target="/ppt/notesSlides/notesSlide20.xml" Id="R59d70365ba37426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8350948b08047aa" /><Relationship Type="http://schemas.openxmlformats.org/officeDocument/2006/relationships/image" Target="/ppt/media/image12.jpeg" Id="R42741d7636b94faf" /><Relationship Type="http://schemas.openxmlformats.org/officeDocument/2006/relationships/notesSlide" Target="/ppt/notesSlides/notesSlide21.xml" Id="Rd759b7dc4402497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400bb16a68a45ba" /><Relationship Type="http://schemas.openxmlformats.org/officeDocument/2006/relationships/image" Target="/ppt/media/image13.jpeg" Id="R01ff042a8c0e4700" /><Relationship Type="http://schemas.openxmlformats.org/officeDocument/2006/relationships/notesSlide" Target="/ppt/notesSlides/notesSlide22.xml" Id="Re5013e1919564f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aa26ec7e88343df" /><Relationship Type="http://schemas.openxmlformats.org/officeDocument/2006/relationships/image" Target="/ppt/media/image14.jpeg" Id="R46b9ccc5144441ce" /><Relationship Type="http://schemas.openxmlformats.org/officeDocument/2006/relationships/notesSlide" Target="/ppt/notesSlides/notesSlide23.xml" Id="Rb786fea7146041d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f06ea6ae8e3449f" /><Relationship Type="http://schemas.openxmlformats.org/officeDocument/2006/relationships/image" Target="/ppt/media/image15.jpeg" Id="R6b588af323844e20" /><Relationship Type="http://schemas.openxmlformats.org/officeDocument/2006/relationships/notesSlide" Target="/ppt/notesSlides/notesSlide24.xml" Id="Rc60f4a538774499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a55ab0c38af4e7e" /><Relationship Type="http://schemas.openxmlformats.org/officeDocument/2006/relationships/image" Target="/ppt/media/image16.jpeg" Id="Redefd082a55b4b28" /><Relationship Type="http://schemas.openxmlformats.org/officeDocument/2006/relationships/notesSlide" Target="/ppt/notesSlides/notesSlide25.xml" Id="Rbbe70617d2094df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3e5a1cf76994c09" /><Relationship Type="http://schemas.openxmlformats.org/officeDocument/2006/relationships/notesSlide" Target="/ppt/notesSlides/notesSlide26.xml" Id="R4736241e912c48de" /></Relationships>
</file>

<file path=ppt/slides/slide1.xml><?xml version="1.0" encoding="utf-8"?>
<p:sld xmlns:p="http://schemas.openxmlformats.org/presentationml/2006/main">
  <p:cSld>
    <p:bg>
      <p:bgPr>
        <a:solidFill xmlns:a="http://schemas.openxmlformats.org/drawingml/2006/main">
          <a:srgbClr val="172E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43E220-61C7-45FC-A977-FDE6FB3F8634}"/>
              </a:ext>
            </a:extLst>
          </p:cNvPr>
          <p:cNvSpPr>
            <a:spLocks xmlns:a="http://schemas.openxmlformats.org/drawingml/2006/main" noGrp="1"/>
          </p:cNvSpPr>
          <p:nvPr/>
        </p:nvSpPr>
        <p:spPr>
          <a:xfrm xmlns:a="http://schemas.openxmlformats.org/drawingml/2006/main">
            <a:off x="838200" y="790575"/>
            <a:ext cx="1051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BDD1D9"/>
                </a:solidFill>
                <a:latin typeface="Apple SD Gothic Neo"/>
                <a:ea typeface="Apple SD Gothic Neo"/>
                <a:cs typeface="Apple SD Gothic Neo"/>
              </a:defRPr>
            </a:defPPr>
            <a:lvl1pPr>
              <a:defRPr sz="2100" b="0">
                <a:solidFill>
                  <a:srgbClr val="BDD1D9"/>
                </a:solidFill>
                <a:latin typeface="Apple SD Gothic Neo"/>
                <a:ea typeface="Apple SD Gothic Neo"/>
                <a:cs typeface="Apple SD Gothic Neo"/>
              </a:defRPr>
            </a:lvl1pPr>
            <a:lvl2pPr>
              <a:defRPr sz="2100" b="0">
                <a:solidFill>
                  <a:srgbClr val="BDD1D9"/>
                </a:solidFill>
                <a:latin typeface="Apple SD Gothic Neo"/>
                <a:ea typeface="Apple SD Gothic Neo"/>
                <a:cs typeface="Apple SD Gothic Neo"/>
              </a:defRPr>
            </a:lvl2pPr>
            <a:lvl3pPr>
              <a:defRPr sz="2100" b="0">
                <a:solidFill>
                  <a:srgbClr val="BDD1D9"/>
                </a:solidFill>
                <a:latin typeface="Apple SD Gothic Neo"/>
                <a:ea typeface="Apple SD Gothic Neo"/>
                <a:cs typeface="Apple SD Gothic Neo"/>
              </a:defRPr>
            </a:lvl3pPr>
            <a:lvl4pPr>
              <a:defRPr sz="2100" b="0">
                <a:solidFill>
                  <a:srgbClr val="BDD1D9"/>
                </a:solidFill>
                <a:latin typeface="Apple SD Gothic Neo"/>
                <a:ea typeface="Apple SD Gothic Neo"/>
                <a:cs typeface="Apple SD Gothic Neo"/>
              </a:defRPr>
            </a:lvl4pPr>
            <a:lvl5pPr>
              <a:defRPr sz="2100" b="0">
                <a:solidFill>
                  <a:srgbClr val="BDD1D9"/>
                </a:solidFill>
                <a:latin typeface="Apple SD Gothic Neo"/>
                <a:ea typeface="Apple SD Gothic Neo"/>
                <a:cs typeface="Apple SD Gothic Neo"/>
              </a:defRPr>
            </a:lvl5pPr>
            <a:lvl6pPr>
              <a:defRPr sz="2100" b="0">
                <a:solidFill>
                  <a:srgbClr val="BDD1D9"/>
                </a:solidFill>
                <a:latin typeface="Apple SD Gothic Neo"/>
                <a:ea typeface="Apple SD Gothic Neo"/>
                <a:cs typeface="Apple SD Gothic Neo"/>
              </a:defRPr>
            </a:lvl6pPr>
            <a:lvl7pPr>
              <a:defRPr sz="2100" b="0">
                <a:solidFill>
                  <a:srgbClr val="BDD1D9"/>
                </a:solidFill>
                <a:latin typeface="Apple SD Gothic Neo"/>
                <a:ea typeface="Apple SD Gothic Neo"/>
                <a:cs typeface="Apple SD Gothic Neo"/>
              </a:defRPr>
            </a:lvl7pPr>
            <a:lvl8pPr>
              <a:defRPr sz="2100" b="0">
                <a:solidFill>
                  <a:srgbClr val="BDD1D9"/>
                </a:solidFill>
                <a:latin typeface="Apple SD Gothic Neo"/>
                <a:ea typeface="Apple SD Gothic Neo"/>
                <a:cs typeface="Apple SD Gothic Neo"/>
              </a:defRPr>
            </a:lvl8pPr>
            <a:lvl9pPr>
              <a:defRPr sz="2100" b="0">
                <a:solidFill>
                  <a:srgbClr val="BDD1D9"/>
                </a:solidFill>
                <a:latin typeface="Apple SD Gothic Neo"/>
                <a:ea typeface="Apple SD Gothic Neo"/>
                <a:cs typeface="Apple SD Gothic Neo"/>
              </a:defRPr>
            </a:lvl9pPr>
          </a:lstStyle>
          <a:p xmlns:a="http://schemas.openxmlformats.org/drawingml/2006/main">
            <a:pPr>
              <a:defRPr sz="2100" b="0">
                <a:solidFill>
                  <a:srgbClr val="BDD1D9"/>
                </a:solidFill>
                <a:latin typeface="Apple SD Gothic Neo"/>
                <a:ea typeface="Apple SD Gothic Neo"/>
                <a:cs typeface="Apple SD Gothic Neo"/>
              </a:defRPr>
            </a:pPr>
            <a:r>
              <a:rPr sz="2100" b="0">
                <a:solidFill>
                  <a:srgbClr val="BDD1D9"/>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0A21F05C-BA20-4A6A-A775-04B27D2EF01D}"/>
              </a:ext>
            </a:extLst>
          </p:cNvPr>
          <p:cNvSpPr>
            <a:spLocks xmlns:a="http://schemas.openxmlformats.org/drawingml/2006/main" noGrp="1"/>
          </p:cNvSpPr>
          <p:nvPr/>
        </p:nvSpPr>
        <p:spPr>
          <a:xfrm xmlns:a="http://schemas.openxmlformats.org/drawingml/2006/main">
            <a:off x="838200" y="2009775"/>
            <a:ext cx="105156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000" b="1">
                <a:solidFill>
                  <a:srgbClr val="FFFFFF"/>
                </a:solidFill>
                <a:latin typeface="Apple SD Gothic Neo"/>
                <a:ea typeface="Apple SD Gothic Neo"/>
                <a:cs typeface="Apple SD Gothic Neo"/>
              </a:defRPr>
            </a:defPPr>
            <a:lvl1pPr>
              <a:defRPr sz="6000" b="1">
                <a:solidFill>
                  <a:srgbClr val="FFFFFF"/>
                </a:solidFill>
                <a:latin typeface="Apple SD Gothic Neo"/>
                <a:ea typeface="Apple SD Gothic Neo"/>
                <a:cs typeface="Apple SD Gothic Neo"/>
              </a:defRPr>
            </a:lvl1pPr>
            <a:lvl2pPr>
              <a:defRPr sz="6000" b="1">
                <a:solidFill>
                  <a:srgbClr val="FFFFFF"/>
                </a:solidFill>
                <a:latin typeface="Apple SD Gothic Neo"/>
                <a:ea typeface="Apple SD Gothic Neo"/>
                <a:cs typeface="Apple SD Gothic Neo"/>
              </a:defRPr>
            </a:lvl2pPr>
            <a:lvl3pPr>
              <a:defRPr sz="6000" b="1">
                <a:solidFill>
                  <a:srgbClr val="FFFFFF"/>
                </a:solidFill>
                <a:latin typeface="Apple SD Gothic Neo"/>
                <a:ea typeface="Apple SD Gothic Neo"/>
                <a:cs typeface="Apple SD Gothic Neo"/>
              </a:defRPr>
            </a:lvl3pPr>
            <a:lvl4pPr>
              <a:defRPr sz="6000" b="1">
                <a:solidFill>
                  <a:srgbClr val="FFFFFF"/>
                </a:solidFill>
                <a:latin typeface="Apple SD Gothic Neo"/>
                <a:ea typeface="Apple SD Gothic Neo"/>
                <a:cs typeface="Apple SD Gothic Neo"/>
              </a:defRPr>
            </a:lvl4pPr>
            <a:lvl5pPr>
              <a:defRPr sz="6000" b="1">
                <a:solidFill>
                  <a:srgbClr val="FFFFFF"/>
                </a:solidFill>
                <a:latin typeface="Apple SD Gothic Neo"/>
                <a:ea typeface="Apple SD Gothic Neo"/>
                <a:cs typeface="Apple SD Gothic Neo"/>
              </a:defRPr>
            </a:lvl5pPr>
            <a:lvl6pPr>
              <a:defRPr sz="6000" b="1">
                <a:solidFill>
                  <a:srgbClr val="FFFFFF"/>
                </a:solidFill>
                <a:latin typeface="Apple SD Gothic Neo"/>
                <a:ea typeface="Apple SD Gothic Neo"/>
                <a:cs typeface="Apple SD Gothic Neo"/>
              </a:defRPr>
            </a:lvl6pPr>
            <a:lvl7pPr>
              <a:defRPr sz="6000" b="1">
                <a:solidFill>
                  <a:srgbClr val="FFFFFF"/>
                </a:solidFill>
                <a:latin typeface="Apple SD Gothic Neo"/>
                <a:ea typeface="Apple SD Gothic Neo"/>
                <a:cs typeface="Apple SD Gothic Neo"/>
              </a:defRPr>
            </a:lvl7pPr>
            <a:lvl8pPr>
              <a:defRPr sz="6000" b="1">
                <a:solidFill>
                  <a:srgbClr val="FFFFFF"/>
                </a:solidFill>
                <a:latin typeface="Apple SD Gothic Neo"/>
                <a:ea typeface="Apple SD Gothic Neo"/>
                <a:cs typeface="Apple SD Gothic Neo"/>
              </a:defRPr>
            </a:lvl8pPr>
            <a:lvl9pPr>
              <a:defRPr sz="6000" b="1">
                <a:solidFill>
                  <a:srgbClr val="FFFFFF"/>
                </a:solidFill>
                <a:latin typeface="Apple SD Gothic Neo"/>
                <a:ea typeface="Apple SD Gothic Neo"/>
                <a:cs typeface="Apple SD Gothic Neo"/>
              </a:defRPr>
            </a:lvl9pPr>
          </a:lstStyle>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운영 장애 진단</a:t>
            </a:r>
          </a:p>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AI 에이전트 개선</a:t>
            </a:r>
          </a:p>
        </p:txBody>
      </p:sp>
      <p:sp>
        <p:nvSpPr>
          <p:cNvPr id="3" name="">
            <a:extLst xmlns:a="http://schemas.openxmlformats.org/drawingml/2006/main">
              <a:ext uri="{FF2B5EF4-FFF2-40B4-BE49-F238E27FC236}">
                <a16:creationId xmlns:a16="http://schemas.microsoft.com/office/drawing/2014/main" id="{CAEAD8FA-7E17-4A36-9D82-B0CE0E76171D}"/>
              </a:ext>
            </a:extLst>
          </p:cNvPr>
          <p:cNvSpPr>
            <a:spLocks xmlns:a="http://schemas.openxmlformats.org/drawingml/2006/main" noGrp="1"/>
          </p:cNvSpPr>
          <p:nvPr/>
        </p:nvSpPr>
        <p:spPr>
          <a:xfrm xmlns:a="http://schemas.openxmlformats.org/drawingml/2006/main">
            <a:off x="885825" y="4695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DD1D9"/>
                </a:solidFill>
                <a:latin typeface="Apple SD Gothic Neo"/>
                <a:ea typeface="Apple SD Gothic Neo"/>
                <a:cs typeface="Apple SD Gothic Neo"/>
              </a:defRPr>
            </a:defPPr>
            <a:lvl1pPr>
              <a:defRPr sz="2400" b="0">
                <a:solidFill>
                  <a:srgbClr val="BDD1D9"/>
                </a:solidFill>
                <a:latin typeface="Apple SD Gothic Neo"/>
                <a:ea typeface="Apple SD Gothic Neo"/>
                <a:cs typeface="Apple SD Gothic Neo"/>
              </a:defRPr>
            </a:lvl1pPr>
            <a:lvl2pPr>
              <a:defRPr sz="2400" b="0">
                <a:solidFill>
                  <a:srgbClr val="BDD1D9"/>
                </a:solidFill>
                <a:latin typeface="Apple SD Gothic Neo"/>
                <a:ea typeface="Apple SD Gothic Neo"/>
                <a:cs typeface="Apple SD Gothic Neo"/>
              </a:defRPr>
            </a:lvl2pPr>
            <a:lvl3pPr>
              <a:defRPr sz="2400" b="0">
                <a:solidFill>
                  <a:srgbClr val="BDD1D9"/>
                </a:solidFill>
                <a:latin typeface="Apple SD Gothic Neo"/>
                <a:ea typeface="Apple SD Gothic Neo"/>
                <a:cs typeface="Apple SD Gothic Neo"/>
              </a:defRPr>
            </a:lvl3pPr>
            <a:lvl4pPr>
              <a:defRPr sz="2400" b="0">
                <a:solidFill>
                  <a:srgbClr val="BDD1D9"/>
                </a:solidFill>
                <a:latin typeface="Apple SD Gothic Neo"/>
                <a:ea typeface="Apple SD Gothic Neo"/>
                <a:cs typeface="Apple SD Gothic Neo"/>
              </a:defRPr>
            </a:lvl4pPr>
            <a:lvl5pPr>
              <a:defRPr sz="2400" b="0">
                <a:solidFill>
                  <a:srgbClr val="BDD1D9"/>
                </a:solidFill>
                <a:latin typeface="Apple SD Gothic Neo"/>
                <a:ea typeface="Apple SD Gothic Neo"/>
                <a:cs typeface="Apple SD Gothic Neo"/>
              </a:defRPr>
            </a:lvl5pPr>
            <a:lvl6pPr>
              <a:defRPr sz="2400" b="0">
                <a:solidFill>
                  <a:srgbClr val="BDD1D9"/>
                </a:solidFill>
                <a:latin typeface="Apple SD Gothic Neo"/>
                <a:ea typeface="Apple SD Gothic Neo"/>
                <a:cs typeface="Apple SD Gothic Neo"/>
              </a:defRPr>
            </a:lvl6pPr>
            <a:lvl7pPr>
              <a:defRPr sz="2400" b="0">
                <a:solidFill>
                  <a:srgbClr val="BDD1D9"/>
                </a:solidFill>
                <a:latin typeface="Apple SD Gothic Neo"/>
                <a:ea typeface="Apple SD Gothic Neo"/>
                <a:cs typeface="Apple SD Gothic Neo"/>
              </a:defRPr>
            </a:lvl7pPr>
            <a:lvl8pPr>
              <a:defRPr sz="2400" b="0">
                <a:solidFill>
                  <a:srgbClr val="BDD1D9"/>
                </a:solidFill>
                <a:latin typeface="Apple SD Gothic Neo"/>
                <a:ea typeface="Apple SD Gothic Neo"/>
                <a:cs typeface="Apple SD Gothic Neo"/>
              </a:defRPr>
            </a:lvl8pPr>
            <a:lvl9pPr>
              <a:defRPr sz="2400" b="0">
                <a:solidFill>
                  <a:srgbClr val="BDD1D9"/>
                </a:solidFill>
                <a:latin typeface="Apple SD Gothic Neo"/>
                <a:ea typeface="Apple SD Gothic Neo"/>
                <a:cs typeface="Apple SD Gothic Neo"/>
              </a:defRPr>
            </a:lvl9pPr>
          </a:lstStyle>
          <a:p xmlns:a="http://schemas.openxmlformats.org/drawingml/2006/main">
            <a:pPr>
              <a:defRPr sz="2400" b="0">
                <a:solidFill>
                  <a:srgbClr val="BDD1D9"/>
                </a:solidFill>
                <a:latin typeface="Apple SD Gothic Neo"/>
                <a:ea typeface="Apple SD Gothic Neo"/>
                <a:cs typeface="Apple SD Gothic Neo"/>
              </a:defRPr>
            </a:pPr>
            <a:r>
              <a:rPr sz="2400" b="0">
                <a:solidFill>
                  <a:srgbClr val="BDD1D9"/>
                </a:solidFill>
                <a:latin typeface="Apple SD Gothic Neo"/>
                <a:ea typeface="Apple SD Gothic Neo"/>
                <a:cs typeface="Apple SD Gothic Neo"/>
              </a:rPr>
              <a:t>모니터링 지표와 대응 매뉴얼 기반 장애 진단</a:t>
            </a:r>
          </a:p>
        </p:txBody>
      </p:sp>
      <p:sp>
        <p:nvSpPr>
          <p:cNvPr id="4" name="">
            <a:extLst xmlns:a="http://schemas.openxmlformats.org/drawingml/2006/main">
              <a:ext uri="{FF2B5EF4-FFF2-40B4-BE49-F238E27FC236}">
                <a16:creationId xmlns:a16="http://schemas.microsoft.com/office/drawing/2014/main" id="{78FB8E6B-F123-4B7E-B041-EBA192792EEF}"/>
              </a:ext>
            </a:extLst>
          </p:cNvPr>
          <p:cNvSpPr>
            <a:spLocks xmlns:a="http://schemas.openxmlformats.org/drawingml/2006/main" noGrp="1"/>
          </p:cNvSpPr>
          <p:nvPr/>
        </p:nvSpPr>
        <p:spPr>
          <a:xfrm xmlns:a="http://schemas.openxmlformats.org/drawingml/2006/main">
            <a:off x="885825" y="56007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과제 1  Base AI Project 개선</a:t>
            </a:r>
          </a:p>
        </p:txBody>
      </p:sp>
      <p:sp>
        <p:nvSpPr>
          <p:cNvPr id="5" name="">
            <a:extLst xmlns:a="http://schemas.openxmlformats.org/drawingml/2006/main">
              <a:ext uri="{FF2B5EF4-FFF2-40B4-BE49-F238E27FC236}">
                <a16:creationId xmlns:a16="http://schemas.microsoft.com/office/drawing/2014/main" id="{53BAA8E5-183F-46C5-8599-C5A5CDC6D55C}"/>
              </a:ext>
            </a:extLst>
          </p:cNvPr>
          <p:cNvSpPr>
            <a:spLocks xmlns:a="http://schemas.openxmlformats.org/drawingml/2006/main" noGrp="1"/>
          </p:cNvSpPr>
          <p:nvPr/>
        </p:nvSpPr>
        <p:spPr>
          <a:xfrm xmlns:a="http://schemas.openxmlformats.org/drawingml/2006/main">
            <a:off x="885825" y="6076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이진형</a:t>
            </a:r>
          </a:p>
        </p:txBody>
      </p:sp>
      <p:sp>
        <p:nvSpPr>
          <p:cNvPr id="6" name="">
            <a:extLst xmlns:a="http://schemas.openxmlformats.org/drawingml/2006/main">
              <a:ext uri="{FF2B5EF4-FFF2-40B4-BE49-F238E27FC236}">
                <a16:creationId xmlns:a16="http://schemas.microsoft.com/office/drawing/2014/main" id="{1C676EC7-FA0C-459E-A1D9-12BFC90E9AF4}"/>
              </a:ext>
            </a:extLst>
          </p:cNvPr>
          <p:cNvSpPr>
            <a:spLocks xmlns:a="http://schemas.openxmlformats.org/drawingml/2006/main" noGrp="1"/>
          </p:cNvSpPr>
          <p:nvPr/>
        </p:nvSpPr>
        <p:spPr>
          <a:xfrm xmlns:a="http://schemas.openxmlformats.org/drawingml/2006/main">
            <a:off x="10001250" y="60769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BDD1D9"/>
                </a:solidFill>
                <a:latin typeface="Apple SD Gothic Neo"/>
                <a:ea typeface="Apple SD Gothic Neo"/>
                <a:cs typeface="Apple SD Gothic Neo"/>
              </a:defRPr>
            </a:defPPr>
            <a:lvl1pPr>
              <a:defRPr sz="1650" b="0">
                <a:solidFill>
                  <a:srgbClr val="BDD1D9"/>
                </a:solidFill>
                <a:latin typeface="Apple SD Gothic Neo"/>
                <a:ea typeface="Apple SD Gothic Neo"/>
                <a:cs typeface="Apple SD Gothic Neo"/>
              </a:defRPr>
            </a:lvl1pPr>
            <a:lvl2pPr>
              <a:defRPr sz="1650" b="0">
                <a:solidFill>
                  <a:srgbClr val="BDD1D9"/>
                </a:solidFill>
                <a:latin typeface="Apple SD Gothic Neo"/>
                <a:ea typeface="Apple SD Gothic Neo"/>
                <a:cs typeface="Apple SD Gothic Neo"/>
              </a:defRPr>
            </a:lvl2pPr>
            <a:lvl3pPr>
              <a:defRPr sz="1650" b="0">
                <a:solidFill>
                  <a:srgbClr val="BDD1D9"/>
                </a:solidFill>
                <a:latin typeface="Apple SD Gothic Neo"/>
                <a:ea typeface="Apple SD Gothic Neo"/>
                <a:cs typeface="Apple SD Gothic Neo"/>
              </a:defRPr>
            </a:lvl3pPr>
            <a:lvl4pPr>
              <a:defRPr sz="1650" b="0">
                <a:solidFill>
                  <a:srgbClr val="BDD1D9"/>
                </a:solidFill>
                <a:latin typeface="Apple SD Gothic Neo"/>
                <a:ea typeface="Apple SD Gothic Neo"/>
                <a:cs typeface="Apple SD Gothic Neo"/>
              </a:defRPr>
            </a:lvl4pPr>
            <a:lvl5pPr>
              <a:defRPr sz="1650" b="0">
                <a:solidFill>
                  <a:srgbClr val="BDD1D9"/>
                </a:solidFill>
                <a:latin typeface="Apple SD Gothic Neo"/>
                <a:ea typeface="Apple SD Gothic Neo"/>
                <a:cs typeface="Apple SD Gothic Neo"/>
              </a:defRPr>
            </a:lvl5pPr>
            <a:lvl6pPr>
              <a:defRPr sz="1650" b="0">
                <a:solidFill>
                  <a:srgbClr val="BDD1D9"/>
                </a:solidFill>
                <a:latin typeface="Apple SD Gothic Neo"/>
                <a:ea typeface="Apple SD Gothic Neo"/>
                <a:cs typeface="Apple SD Gothic Neo"/>
              </a:defRPr>
            </a:lvl6pPr>
            <a:lvl7pPr>
              <a:defRPr sz="1650" b="0">
                <a:solidFill>
                  <a:srgbClr val="BDD1D9"/>
                </a:solidFill>
                <a:latin typeface="Apple SD Gothic Neo"/>
                <a:ea typeface="Apple SD Gothic Neo"/>
                <a:cs typeface="Apple SD Gothic Neo"/>
              </a:defRPr>
            </a:lvl7pPr>
            <a:lvl8pPr>
              <a:defRPr sz="1650" b="0">
                <a:solidFill>
                  <a:srgbClr val="BDD1D9"/>
                </a:solidFill>
                <a:latin typeface="Apple SD Gothic Neo"/>
                <a:ea typeface="Apple SD Gothic Neo"/>
                <a:cs typeface="Apple SD Gothic Neo"/>
              </a:defRPr>
            </a:lvl8pPr>
            <a:lvl9pPr>
              <a:defRPr sz="1650" b="0">
                <a:solidFill>
                  <a:srgbClr val="BDD1D9"/>
                </a:solidFill>
                <a:latin typeface="Apple SD Gothic Neo"/>
                <a:ea typeface="Apple SD Gothic Neo"/>
                <a:cs typeface="Apple SD Gothic Neo"/>
              </a:defRPr>
            </a:lvl9pPr>
          </a:lstStyle>
          <a:p xmlns:a="http://schemas.openxmlformats.org/drawingml/2006/main">
            <a:pPr>
              <a:defRPr sz="1650" b="0">
                <a:solidFill>
                  <a:srgbClr val="BDD1D9"/>
                </a:solidFill>
                <a:latin typeface="Apple SD Gothic Neo"/>
                <a:ea typeface="Apple SD Gothic Neo"/>
                <a:cs typeface="Apple SD Gothic Neo"/>
              </a:defRPr>
            </a:pPr>
            <a:r>
              <a:rPr sz="1650" b="0">
                <a:solidFill>
                  <a:srgbClr val="BDD1D9"/>
                </a:solidFill>
                <a:latin typeface="Apple SD Gothic Neo"/>
                <a:ea typeface="Apple SD Gothic Neo"/>
                <a:cs typeface="Apple SD Gothic Neo"/>
              </a:rPr>
              <a:t>2026.10</a:t>
            </a:r>
          </a:p>
        </p:txBody>
      </p:sp>
    </p:spTree>
    <p:extLst>
      <p:ext uri="{BB962C8B-B14F-4D97-AF65-F5344CB8AC3E}">
        <p14:creationId xmlns:p14="http://schemas.microsoft.com/office/powerpoint/2010/main" val="7109640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A14C06-4512-4885-89A0-8630D526040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베이스 프로그램은 장애 요청을 받아 보고서를 만든다</a:t>
            </a:r>
          </a:p>
        </p:txBody>
      </p:sp>
      <p:graphicFrame>
        <p:nvGraphicFramePr>
          <p:cNvPr id="2" name="">
            <a:extLst xmlns:a="http://schemas.openxmlformats.org/drawingml/2006/main">
              <a:ext uri="{FF2B5EF4-FFF2-40B4-BE49-F238E27FC236}">
                <a16:creationId xmlns:a16="http://schemas.microsoft.com/office/drawing/2014/main" id="{1623366C-6BF0-4357-B27D-28535CCDEDAC}"/>
              </a:ext>
            </a:extLst>
          </p:cNvPr>
          <p:cNvGraphicFramePr/>
          <p:nvPr/>
        </p:nvGraphicFramePr>
        <p:xfrm>
          <a:off xmlns:a="http://schemas.openxmlformats.org/drawingml/2006/main" x="457200" y="1428750"/>
          <a:ext xmlns:a="http://schemas.openxmlformats.org/drawingml/2006/main" cx="11277600" cy="3190875"/>
        </p:xfrm>
        <a:graphic xmlns:a="http://schemas.openxmlformats.org/drawingml/2006/main">
          <a:graphicData uri="http://schemas.openxmlformats.org/drawingml/2006/table">
            <a:tbl>
              <a:tblPr/>
              <a:tblGrid>
                <a:gridCol w="3238500"/>
                <a:gridCol w="8039100"/>
              </a:tblGrid>
              <a:tr h="797719">
                <a:tc>
                  <a:txBody>
                    <a:bodyPr/>
                    <a:lstStyle/>
                    <a:p>
                      <a:r>
                        <a:rPr sz="2100" b="1">
                          <a:solidFill>
                            <a:srgbClr val="12786D"/>
                          </a:solidFill>
                          <a:latin typeface="Apple SD Gothic Neo"/>
                          <a:ea typeface="Apple SD Gothic Neo"/>
                          <a:cs typeface="Apple SD Gothic Neo"/>
                        </a:rPr>
                        <a:t>기존 처리</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역할</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797719">
                <a:tc>
                  <a:txBody>
                    <a:bodyPr/>
                    <a:lstStyle/>
                    <a:p>
                      <a:r>
                        <a:rPr sz="2100" b="0">
                          <a:solidFill>
                            <a:srgbClr val="172E40"/>
                          </a:solidFill>
                          <a:latin typeface="Apple SD Gothic Neo"/>
                          <a:ea typeface="Apple SD Gothic Neo"/>
                          <a:cs typeface="Apple SD Gothic Neo"/>
                        </a:rPr>
                        <a:t>자연어 요청</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서비스와 증상 파악</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조사 계획·MCP</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모니터링 지표·대응 매뉴얼 조회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LLM 보고</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수집 자료로 운영 보고서 작성</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4922C39-D04E-4A43-9521-85FBE27A8D4B}"/>
              </a:ext>
            </a:extLst>
          </p:cNvPr>
          <p:cNvSpPr>
            <a:spLocks xmlns:a="http://schemas.openxmlformats.org/drawingml/2006/main" noGrp="1"/>
          </p:cNvSpPr>
          <p:nvPr/>
        </p:nvSpPr>
        <p:spPr>
          <a:xfrm xmlns:a="http://schemas.openxmlformats.org/drawingml/2006/main">
            <a:off x="457200" y="5200650"/>
            <a:ext cx="11277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2786D"/>
                </a:solidFill>
                <a:latin typeface="Apple SD Gothic Neo"/>
                <a:ea typeface="Apple SD Gothic Neo"/>
                <a:cs typeface="Apple SD Gothic Neo"/>
              </a:defRPr>
            </a:defPPr>
            <a:lvl1pPr>
              <a:defRPr sz="2100" b="1">
                <a:solidFill>
                  <a:srgbClr val="12786D"/>
                </a:solidFill>
                <a:latin typeface="Apple SD Gothic Neo"/>
                <a:ea typeface="Apple SD Gothic Neo"/>
                <a:cs typeface="Apple SD Gothic Neo"/>
              </a:defRPr>
            </a:lvl1pPr>
            <a:lvl2pPr>
              <a:defRPr sz="2100" b="1">
                <a:solidFill>
                  <a:srgbClr val="12786D"/>
                </a:solidFill>
                <a:latin typeface="Apple SD Gothic Neo"/>
                <a:ea typeface="Apple SD Gothic Neo"/>
                <a:cs typeface="Apple SD Gothic Neo"/>
              </a:defRPr>
            </a:lvl2pPr>
            <a:lvl3pPr>
              <a:defRPr sz="2100" b="1">
                <a:solidFill>
                  <a:srgbClr val="12786D"/>
                </a:solidFill>
                <a:latin typeface="Apple SD Gothic Neo"/>
                <a:ea typeface="Apple SD Gothic Neo"/>
                <a:cs typeface="Apple SD Gothic Neo"/>
              </a:defRPr>
            </a:lvl3pPr>
            <a:lvl4pPr>
              <a:defRPr sz="2100" b="1">
                <a:solidFill>
                  <a:srgbClr val="12786D"/>
                </a:solidFill>
                <a:latin typeface="Apple SD Gothic Neo"/>
                <a:ea typeface="Apple SD Gothic Neo"/>
                <a:cs typeface="Apple SD Gothic Neo"/>
              </a:defRPr>
            </a:lvl4pPr>
            <a:lvl5pPr>
              <a:defRPr sz="2100" b="1">
                <a:solidFill>
                  <a:srgbClr val="12786D"/>
                </a:solidFill>
                <a:latin typeface="Apple SD Gothic Neo"/>
                <a:ea typeface="Apple SD Gothic Neo"/>
                <a:cs typeface="Apple SD Gothic Neo"/>
              </a:defRPr>
            </a:lvl5pPr>
            <a:lvl6pPr>
              <a:defRPr sz="2100" b="1">
                <a:solidFill>
                  <a:srgbClr val="12786D"/>
                </a:solidFill>
                <a:latin typeface="Apple SD Gothic Neo"/>
                <a:ea typeface="Apple SD Gothic Neo"/>
                <a:cs typeface="Apple SD Gothic Neo"/>
              </a:defRPr>
            </a:lvl6pPr>
            <a:lvl7pPr>
              <a:defRPr sz="2100" b="1">
                <a:solidFill>
                  <a:srgbClr val="12786D"/>
                </a:solidFill>
                <a:latin typeface="Apple SD Gothic Neo"/>
                <a:ea typeface="Apple SD Gothic Neo"/>
                <a:cs typeface="Apple SD Gothic Neo"/>
              </a:defRPr>
            </a:lvl7pPr>
            <a:lvl8pPr>
              <a:defRPr sz="2100" b="1">
                <a:solidFill>
                  <a:srgbClr val="12786D"/>
                </a:solidFill>
                <a:latin typeface="Apple SD Gothic Neo"/>
                <a:ea typeface="Apple SD Gothic Neo"/>
                <a:cs typeface="Apple SD Gothic Neo"/>
              </a:defRPr>
            </a:lvl8pPr>
            <a:lvl9pPr>
              <a:defRPr sz="2100" b="1">
                <a:solidFill>
                  <a:srgbClr val="12786D"/>
                </a:solidFill>
                <a:latin typeface="Apple SD Gothic Neo"/>
                <a:ea typeface="Apple SD Gothic Neo"/>
                <a:cs typeface="Apple SD Gothic Neo"/>
              </a:defRPr>
            </a:lvl9pPr>
          </a:lstStyle>
          <a:p xmlns:a="http://schemas.openxmlformats.org/drawingml/2006/main">
            <a:pPr>
              <a:defRPr sz="2100" b="1">
                <a:solidFill>
                  <a:srgbClr val="12786D"/>
                </a:solidFill>
                <a:latin typeface="Apple SD Gothic Neo"/>
                <a:ea typeface="Apple SD Gothic Neo"/>
                <a:cs typeface="Apple SD Gothic Neo"/>
              </a:defRPr>
            </a:pPr>
            <a:r>
              <a:rPr sz="2100" b="1">
                <a:solidFill>
                  <a:srgbClr val="12786D"/>
                </a:solidFill>
                <a:latin typeface="Apple SD Gothic Neo"/>
                <a:ea typeface="Apple SD Gothic Neo"/>
                <a:cs typeface="Apple SD Gothic Neo"/>
              </a:rPr>
              <a:t>장애 진단 요청의 조사 범위와 답변 근거를 개선했다</a:t>
            </a:r>
          </a:p>
        </p:txBody>
      </p:sp>
      <p:sp>
        <p:nvSpPr>
          <p:cNvPr id="4" name="">
            <a:extLst xmlns:a="http://schemas.openxmlformats.org/drawingml/2006/main">
              <a:ext uri="{FF2B5EF4-FFF2-40B4-BE49-F238E27FC236}">
                <a16:creationId xmlns:a16="http://schemas.microsoft.com/office/drawing/2014/main" id="{0C45F107-7087-4E6F-B18D-22BB7271BD37}"/>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02</a:t>
            </a:r>
          </a:p>
        </p:txBody>
      </p:sp>
    </p:spTree>
    <p:extLst>
      <p:ext uri="{BB962C8B-B14F-4D97-AF65-F5344CB8AC3E}">
        <p14:creationId xmlns:p14="http://schemas.microsoft.com/office/powerpoint/2010/main" val="5893617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E372BE-09B4-4F72-99C4-FEF2AC2B359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전 · cache를 조회하지 않고 원인을 추정했다</a:t>
            </a:r>
          </a:p>
        </p:txBody>
      </p:sp>
      <p:pic>
        <p:nvPicPr>
          <p:cNvPr id="2" name="">
            <a:extLst xmlns:a="http://schemas.openxmlformats.org/drawingml/2006/main">
              <a:ext uri="{FF2B5EF4-FFF2-40B4-BE49-F238E27FC236}">
                <a16:creationId xmlns:a16="http://schemas.microsoft.com/office/drawing/2014/main" id="{30653283-E4F0-4F28-8FE8-0D9F20C634F3}"/>
              </a:ext>
            </a:extLst>
          </p:cNvPr>
          <p:cNvPicPr>
            <a:picLocks xmlns:a="http://schemas.openxmlformats.org/drawingml/2006/main" noChangeAspect="1"/>
          </p:cNvPicPr>
          <p:nvPr/>
        </p:nvPicPr>
        <p:blipFill>
          <a:blip xmlns:r="http://schemas.openxmlformats.org/officeDocument/2006/relationships" xmlns:a="http://schemas.openxmlformats.org/drawingml/2006/main" r:embed="Rd5e0dfa1439a4e32"/>
          <a:stretch xmlns:a="http://schemas.openxmlformats.org/drawingml/2006/main"/>
        </p:blipFill>
        <p:spPr>
          <a:xfrm xmlns:a="http://schemas.openxmlformats.org/drawingml/2006/main">
            <a:off x="898632" y="914400"/>
            <a:ext cx="6032286"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1FAF8FB-D041-4438-A1AE-EEA22612E3E1}"/>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7B831AF2-04B9-4263-AB1A-732CFBBB9DB7}"/>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두 서비스를 요청했지만</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payments만 조회</a:t>
            </a:r>
          </a:p>
        </p:txBody>
      </p:sp>
      <p:sp>
        <p:nvSpPr>
          <p:cNvPr id="5" name="">
            <a:extLst xmlns:a="http://schemas.openxmlformats.org/drawingml/2006/main">
              <a:ext uri="{FF2B5EF4-FFF2-40B4-BE49-F238E27FC236}">
                <a16:creationId xmlns:a16="http://schemas.microsoft.com/office/drawing/2014/main" id="{23BBD30C-4B7B-404C-B8B1-DAD2BDEDF43F}"/>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관찰: cache 지표·공유 의존 관계가 없음</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공통 원인을 판단할 근거가 부족</a:t>
            </a:r>
          </a:p>
        </p:txBody>
      </p:sp>
      <p:sp>
        <p:nvSpPr>
          <p:cNvPr id="6" name="">
            <a:extLst xmlns:a="http://schemas.openxmlformats.org/drawingml/2006/main">
              <a:ext uri="{FF2B5EF4-FFF2-40B4-BE49-F238E27FC236}">
                <a16:creationId xmlns:a16="http://schemas.microsoft.com/office/drawing/2014/main" id="{6EE185EB-0DC4-40A0-B37D-F64C307B88C5}"/>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FDE33FE9-06C8-4530-8A52-72876462FDB9}"/>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“트래픽 급증 또는 특정 요청 패턴”</a:t>
            </a:r>
          </a:p>
        </p:txBody>
      </p:sp>
      <p:sp>
        <p:nvSpPr>
          <p:cNvPr id="8" name="">
            <a:extLst xmlns:a="http://schemas.openxmlformats.org/drawingml/2006/main">
              <a:ext uri="{FF2B5EF4-FFF2-40B4-BE49-F238E27FC236}">
                <a16:creationId xmlns:a16="http://schemas.microsoft.com/office/drawing/2014/main" id="{6D2CAD04-9844-4B4B-A4FC-E260138F33BF}"/>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03</a:t>
            </a:r>
          </a:p>
        </p:txBody>
      </p:sp>
    </p:spTree>
    <p:extLst>
      <p:ext uri="{BB962C8B-B14F-4D97-AF65-F5344CB8AC3E}">
        <p14:creationId xmlns:p14="http://schemas.microsoft.com/office/powerpoint/2010/main" val="17337750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F9538B-C744-41C8-8767-FB8E412DF1AF}"/>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두 서비스를 각각 조사했다 1/2</a:t>
            </a:r>
          </a:p>
        </p:txBody>
      </p:sp>
      <p:pic>
        <p:nvPicPr>
          <p:cNvPr id="2" name="">
            <a:extLst xmlns:a="http://schemas.openxmlformats.org/drawingml/2006/main">
              <a:ext uri="{FF2B5EF4-FFF2-40B4-BE49-F238E27FC236}">
                <a16:creationId xmlns:a16="http://schemas.microsoft.com/office/drawing/2014/main" id="{FE6F8702-8A18-4A7E-989F-A0E0D771B483}"/>
              </a:ext>
            </a:extLst>
          </p:cNvPr>
          <p:cNvPicPr>
            <a:picLocks xmlns:a="http://schemas.openxmlformats.org/drawingml/2006/main" noChangeAspect="1"/>
          </p:cNvPicPr>
          <p:nvPr/>
        </p:nvPicPr>
        <p:blipFill>
          <a:blip xmlns:r="http://schemas.openxmlformats.org/officeDocument/2006/relationships" xmlns:a="http://schemas.openxmlformats.org/drawingml/2006/main" r:embed="Re1c4148ca6854c40"/>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2AF6DB8-7087-4C8E-A204-17BA802A3066}"/>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명시한 서비스 전체를 계획과 대조해 빠진 조사를 추가</a:t>
            </a:r>
          </a:p>
        </p:txBody>
      </p:sp>
      <p:sp>
        <p:nvSpPr>
          <p:cNvPr id="4" name="">
            <a:extLst xmlns:a="http://schemas.openxmlformats.org/drawingml/2006/main">
              <a:ext uri="{FF2B5EF4-FFF2-40B4-BE49-F238E27FC236}">
                <a16:creationId xmlns:a16="http://schemas.microsoft.com/office/drawing/2014/main" id="{87A80211-6EFA-4E0A-A1DE-BA6805FD4366}"/>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04</a:t>
            </a:r>
          </a:p>
        </p:txBody>
      </p:sp>
    </p:spTree>
    <p:extLst>
      <p:ext uri="{BB962C8B-B14F-4D97-AF65-F5344CB8AC3E}">
        <p14:creationId xmlns:p14="http://schemas.microsoft.com/office/powerpoint/2010/main" val="20455092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3FAB73-7888-4422-A9A5-3A3B4F9C4078}"/>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공통 원인은 미확인으로 남겼다 2/2</a:t>
            </a:r>
          </a:p>
        </p:txBody>
      </p:sp>
      <p:pic>
        <p:nvPicPr>
          <p:cNvPr id="2" name="">
            <a:extLst xmlns:a="http://schemas.openxmlformats.org/drawingml/2006/main">
              <a:ext uri="{FF2B5EF4-FFF2-40B4-BE49-F238E27FC236}">
                <a16:creationId xmlns:a16="http://schemas.microsoft.com/office/drawing/2014/main" id="{986C0BFE-98F7-4FFF-B4F4-BD01496E6797}"/>
              </a:ext>
            </a:extLst>
          </p:cNvPr>
          <p:cNvPicPr>
            <a:picLocks xmlns:a="http://schemas.openxmlformats.org/drawingml/2006/main" noChangeAspect="1"/>
          </p:cNvPicPr>
          <p:nvPr/>
        </p:nvPicPr>
        <p:blipFill>
          <a:blip xmlns:r="http://schemas.openxmlformats.org/officeDocument/2006/relationships" xmlns:a="http://schemas.openxmlformats.org/drawingml/2006/main" r:embed="R2d95194bc1f94a1b"/>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E48D91B-5EFC-487B-BB90-D88F5EBEA1A4}"/>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서비스별 근거는 제시하고, 공통 원인 확정은 보류</a:t>
            </a:r>
          </a:p>
        </p:txBody>
      </p:sp>
      <p:sp>
        <p:nvSpPr>
          <p:cNvPr id="4" name="">
            <a:extLst xmlns:a="http://schemas.openxmlformats.org/drawingml/2006/main">
              <a:ext uri="{FF2B5EF4-FFF2-40B4-BE49-F238E27FC236}">
                <a16:creationId xmlns:a16="http://schemas.microsoft.com/office/drawing/2014/main" id="{7FB8A533-DFFD-4DAF-8EEF-1B78CDDDB757}"/>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05</a:t>
            </a:r>
          </a:p>
        </p:txBody>
      </p:sp>
    </p:spTree>
    <p:extLst>
      <p:ext uri="{BB962C8B-B14F-4D97-AF65-F5344CB8AC3E}">
        <p14:creationId xmlns:p14="http://schemas.microsoft.com/office/powerpoint/2010/main" val="8915072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0F97CE-7244-45B3-89AD-782E3E55407D}"/>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전 · gateway만 조회했다</a:t>
            </a:r>
          </a:p>
        </p:txBody>
      </p:sp>
      <p:pic>
        <p:nvPicPr>
          <p:cNvPr id="2" name="">
            <a:extLst xmlns:a="http://schemas.openxmlformats.org/drawingml/2006/main">
              <a:ext uri="{FF2B5EF4-FFF2-40B4-BE49-F238E27FC236}">
                <a16:creationId xmlns:a16="http://schemas.microsoft.com/office/drawing/2014/main" id="{6E5AF913-B3E7-4C1B-BC9F-383891C8239C}"/>
              </a:ext>
            </a:extLst>
          </p:cNvPr>
          <p:cNvPicPr>
            <a:picLocks xmlns:a="http://schemas.openxmlformats.org/drawingml/2006/main" noChangeAspect="1"/>
          </p:cNvPicPr>
          <p:nvPr/>
        </p:nvPicPr>
        <p:blipFill>
          <a:blip xmlns:r="http://schemas.openxmlformats.org/officeDocument/2006/relationships" xmlns:a="http://schemas.openxmlformats.org/drawingml/2006/main" r:embed="R1f230bb0b2234b3d"/>
          <a:stretch xmlns:a="http://schemas.openxmlformats.org/drawingml/2006/main"/>
        </p:blipFill>
        <p:spPr>
          <a:xfrm xmlns:a="http://schemas.openxmlformats.org/drawingml/2006/main">
            <a:off x="569422" y="914400"/>
            <a:ext cx="6690706"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16DD330-74AA-4381-9F53-2A652D92D94A}"/>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A4273379-8921-4C57-B04E-7B3007DBFFC7}"/>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gateway만 조회</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payments 상태는 미수집</a:t>
            </a:r>
          </a:p>
        </p:txBody>
      </p:sp>
      <p:sp>
        <p:nvSpPr>
          <p:cNvPr id="5" name="">
            <a:extLst xmlns:a="http://schemas.openxmlformats.org/drawingml/2006/main">
              <a:ext uri="{FF2B5EF4-FFF2-40B4-BE49-F238E27FC236}">
                <a16:creationId xmlns:a16="http://schemas.microsoft.com/office/drawing/2014/main" id="{48A34A85-908B-4105-839F-0EAA592FF176}"/>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연결된 두 서비스 중</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상대 서비스의 근거가 빠짐</a:t>
            </a:r>
          </a:p>
        </p:txBody>
      </p:sp>
      <p:sp>
        <p:nvSpPr>
          <p:cNvPr id="6" name="">
            <a:extLst xmlns:a="http://schemas.openxmlformats.org/drawingml/2006/main">
              <a:ext uri="{FF2B5EF4-FFF2-40B4-BE49-F238E27FC236}">
                <a16:creationId xmlns:a16="http://schemas.microsoft.com/office/drawing/2014/main" id="{BC28A9DC-E43A-46C9-A055-33992D5002EA}"/>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059D8427-8389-4A7E-97C1-82D7FB6D2D5F}"/>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수집된 사실: 모니터링 gateway-service</a:t>
            </a:r>
          </a:p>
        </p:txBody>
      </p:sp>
      <p:sp>
        <p:nvSpPr>
          <p:cNvPr id="8" name="">
            <a:extLst xmlns:a="http://schemas.openxmlformats.org/drawingml/2006/main">
              <a:ext uri="{FF2B5EF4-FFF2-40B4-BE49-F238E27FC236}">
                <a16:creationId xmlns:a16="http://schemas.microsoft.com/office/drawing/2014/main" id="{F89A8131-4A12-4EBB-8137-84ACDD67F7CB}"/>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06</a:t>
            </a:r>
          </a:p>
        </p:txBody>
      </p:sp>
    </p:spTree>
    <p:extLst>
      <p:ext uri="{BB962C8B-B14F-4D97-AF65-F5344CB8AC3E}">
        <p14:creationId xmlns:p14="http://schemas.microsoft.com/office/powerpoint/2010/main" val="11168307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4A5CB3-153C-4158-A595-E8BD4374180C}"/>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gateway·payments를 각각 조사했다 1/2</a:t>
            </a:r>
          </a:p>
        </p:txBody>
      </p:sp>
      <p:pic>
        <p:nvPicPr>
          <p:cNvPr id="2" name="">
            <a:extLst xmlns:a="http://schemas.openxmlformats.org/drawingml/2006/main">
              <a:ext uri="{FF2B5EF4-FFF2-40B4-BE49-F238E27FC236}">
                <a16:creationId xmlns:a16="http://schemas.microsoft.com/office/drawing/2014/main" id="{59594063-F158-4014-89E8-1B0C7BFFE5E2}"/>
              </a:ext>
            </a:extLst>
          </p:cNvPr>
          <p:cNvPicPr>
            <a:picLocks xmlns:a="http://schemas.openxmlformats.org/drawingml/2006/main" noChangeAspect="1"/>
          </p:cNvPicPr>
          <p:nvPr/>
        </p:nvPicPr>
        <p:blipFill>
          <a:blip xmlns:r="http://schemas.openxmlformats.org/officeDocument/2006/relationships" xmlns:a="http://schemas.openxmlformats.org/drawingml/2006/main" r:embed="R544362b302c74688"/>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1BA2302-F1C2-4A29-8FCF-6B48A96C6359}"/>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명시한 두 서비스의 조사 작업을 각각 보완</a:t>
            </a:r>
          </a:p>
        </p:txBody>
      </p:sp>
      <p:sp>
        <p:nvSpPr>
          <p:cNvPr id="4" name="">
            <a:extLst xmlns:a="http://schemas.openxmlformats.org/drawingml/2006/main">
              <a:ext uri="{FF2B5EF4-FFF2-40B4-BE49-F238E27FC236}">
                <a16:creationId xmlns:a16="http://schemas.microsoft.com/office/drawing/2014/main" id="{9B262EDF-3E14-46E8-8934-F769E08E835C}"/>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07</a:t>
            </a:r>
          </a:p>
        </p:txBody>
      </p:sp>
    </p:spTree>
    <p:extLst>
      <p:ext uri="{BB962C8B-B14F-4D97-AF65-F5344CB8AC3E}">
        <p14:creationId xmlns:p14="http://schemas.microsoft.com/office/powerpoint/2010/main" val="12063215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7D8AED-C111-43AF-A4EF-1A92A06190C3}"/>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gateway·payments를 각각 조사했다 2/2</a:t>
            </a:r>
          </a:p>
        </p:txBody>
      </p:sp>
      <p:pic>
        <p:nvPicPr>
          <p:cNvPr id="2" name="">
            <a:extLst xmlns:a="http://schemas.openxmlformats.org/drawingml/2006/main">
              <a:ext uri="{FF2B5EF4-FFF2-40B4-BE49-F238E27FC236}">
                <a16:creationId xmlns:a16="http://schemas.microsoft.com/office/drawing/2014/main" id="{B16097D8-6A27-4896-8871-9131DA29C7DC}"/>
              </a:ext>
            </a:extLst>
          </p:cNvPr>
          <p:cNvPicPr>
            <a:picLocks xmlns:a="http://schemas.openxmlformats.org/drawingml/2006/main" noChangeAspect="1"/>
          </p:cNvPicPr>
          <p:nvPr/>
        </p:nvPicPr>
        <p:blipFill>
          <a:blip xmlns:r="http://schemas.openxmlformats.org/officeDocument/2006/relationships" xmlns:a="http://schemas.openxmlformats.org/drawingml/2006/main" r:embed="R349e0994cbec49b0"/>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68D7412-5C4A-4C25-9336-56CFBFBDE845}"/>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명시한 두 서비스의 조사 작업을 각각 보완</a:t>
            </a:r>
          </a:p>
        </p:txBody>
      </p:sp>
      <p:sp>
        <p:nvSpPr>
          <p:cNvPr id="4" name="">
            <a:extLst xmlns:a="http://schemas.openxmlformats.org/drawingml/2006/main">
              <a:ext uri="{FF2B5EF4-FFF2-40B4-BE49-F238E27FC236}">
                <a16:creationId xmlns:a16="http://schemas.microsoft.com/office/drawing/2014/main" id="{F5226885-D0BC-48B7-8181-ED387DA9D096}"/>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08</a:t>
            </a:r>
          </a:p>
        </p:txBody>
      </p:sp>
    </p:spTree>
    <p:extLst>
      <p:ext uri="{BB962C8B-B14F-4D97-AF65-F5344CB8AC3E}">
        <p14:creationId xmlns:p14="http://schemas.microsoft.com/office/powerpoint/2010/main" val="21216729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3F0012-998B-4B70-A604-2F02C0DE6172}"/>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전 · billing을 묻자 auth를 조회했다</a:t>
            </a:r>
          </a:p>
        </p:txBody>
      </p:sp>
      <p:pic>
        <p:nvPicPr>
          <p:cNvPr id="2" name="">
            <a:extLst xmlns:a="http://schemas.openxmlformats.org/drawingml/2006/main">
              <a:ext uri="{FF2B5EF4-FFF2-40B4-BE49-F238E27FC236}">
                <a16:creationId xmlns:a16="http://schemas.microsoft.com/office/drawing/2014/main" id="{EA5D6CE9-633F-426A-92B3-4CDD62022482}"/>
              </a:ext>
            </a:extLst>
          </p:cNvPr>
          <p:cNvPicPr>
            <a:picLocks xmlns:a="http://schemas.openxmlformats.org/drawingml/2006/main" noChangeAspect="1"/>
          </p:cNvPicPr>
          <p:nvPr/>
        </p:nvPicPr>
        <p:blipFill>
          <a:blip xmlns:r="http://schemas.openxmlformats.org/officeDocument/2006/relationships" xmlns:a="http://schemas.openxmlformats.org/drawingml/2006/main" r:embed="R43afaf7f1d754d4a"/>
          <a:stretch xmlns:a="http://schemas.openxmlformats.org/drawingml/2006/main"/>
        </p:blipFill>
        <p:spPr>
          <a:xfrm xmlns:a="http://schemas.openxmlformats.org/drawingml/2006/main">
            <a:off x="457200" y="1029811"/>
            <a:ext cx="11277600" cy="386492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7E8C868-B5A4-4580-81E5-208347B9C78C}"/>
              </a:ext>
            </a:extLst>
          </p:cNvPr>
          <p:cNvSpPr>
            <a:spLocks xmlns:a="http://schemas.openxmlformats.org/drawingml/2006/main" noGrp="1"/>
          </p:cNvSpPr>
          <p:nvPr/>
        </p:nvSpPr>
        <p:spPr>
          <a:xfrm xmlns:a="http://schemas.openxmlformats.org/drawingml/2006/main">
            <a:off x="457200" y="5162550"/>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2E40"/>
                </a:solidFill>
                <a:latin typeface="Apple SD Gothic Neo"/>
                <a:ea typeface="Apple SD Gothic Neo"/>
                <a:cs typeface="Apple SD Gothic Neo"/>
              </a:defRPr>
            </a:defPPr>
            <a:lvl1pPr>
              <a:defRPr sz="2250" b="1">
                <a:solidFill>
                  <a:srgbClr val="172E40"/>
                </a:solidFill>
                <a:latin typeface="Apple SD Gothic Neo"/>
                <a:ea typeface="Apple SD Gothic Neo"/>
                <a:cs typeface="Apple SD Gothic Neo"/>
              </a:defRPr>
            </a:lvl1pPr>
            <a:lvl2pPr>
              <a:defRPr sz="2250" b="1">
                <a:solidFill>
                  <a:srgbClr val="172E40"/>
                </a:solidFill>
                <a:latin typeface="Apple SD Gothic Neo"/>
                <a:ea typeface="Apple SD Gothic Neo"/>
                <a:cs typeface="Apple SD Gothic Neo"/>
              </a:defRPr>
            </a:lvl2pPr>
            <a:lvl3pPr>
              <a:defRPr sz="2250" b="1">
                <a:solidFill>
                  <a:srgbClr val="172E40"/>
                </a:solidFill>
                <a:latin typeface="Apple SD Gothic Neo"/>
                <a:ea typeface="Apple SD Gothic Neo"/>
                <a:cs typeface="Apple SD Gothic Neo"/>
              </a:defRPr>
            </a:lvl3pPr>
            <a:lvl4pPr>
              <a:defRPr sz="2250" b="1">
                <a:solidFill>
                  <a:srgbClr val="172E40"/>
                </a:solidFill>
                <a:latin typeface="Apple SD Gothic Neo"/>
                <a:ea typeface="Apple SD Gothic Neo"/>
                <a:cs typeface="Apple SD Gothic Neo"/>
              </a:defRPr>
            </a:lvl4pPr>
            <a:lvl5pPr>
              <a:defRPr sz="2250" b="1">
                <a:solidFill>
                  <a:srgbClr val="172E40"/>
                </a:solidFill>
                <a:latin typeface="Apple SD Gothic Neo"/>
                <a:ea typeface="Apple SD Gothic Neo"/>
                <a:cs typeface="Apple SD Gothic Neo"/>
              </a:defRPr>
            </a:lvl5pPr>
            <a:lvl6pPr>
              <a:defRPr sz="2250" b="1">
                <a:solidFill>
                  <a:srgbClr val="172E40"/>
                </a:solidFill>
                <a:latin typeface="Apple SD Gothic Neo"/>
                <a:ea typeface="Apple SD Gothic Neo"/>
                <a:cs typeface="Apple SD Gothic Neo"/>
              </a:defRPr>
            </a:lvl6pPr>
            <a:lvl7pPr>
              <a:defRPr sz="2250" b="1">
                <a:solidFill>
                  <a:srgbClr val="172E40"/>
                </a:solidFill>
                <a:latin typeface="Apple SD Gothic Neo"/>
                <a:ea typeface="Apple SD Gothic Neo"/>
                <a:cs typeface="Apple SD Gothic Neo"/>
              </a:defRPr>
            </a:lvl7pPr>
            <a:lvl8pPr>
              <a:defRPr sz="2250" b="1">
                <a:solidFill>
                  <a:srgbClr val="172E40"/>
                </a:solidFill>
                <a:latin typeface="Apple SD Gothic Neo"/>
                <a:ea typeface="Apple SD Gothic Neo"/>
                <a:cs typeface="Apple SD Gothic Neo"/>
              </a:defRPr>
            </a:lvl8pPr>
            <a:lvl9pPr>
              <a:defRPr sz="2250" b="1">
                <a:solidFill>
                  <a:srgbClr val="172E40"/>
                </a:solidFill>
                <a:latin typeface="Apple SD Gothic Neo"/>
                <a:ea typeface="Apple SD Gothic Neo"/>
                <a:cs typeface="Apple SD Gothic Neo"/>
              </a:defRPr>
            </a:lvl9pPr>
          </a:lstStyle>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요청: billing-service</a:t>
            </a:r>
          </a:p>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실제 조회: auth-service</a:t>
            </a:r>
          </a:p>
        </p:txBody>
      </p:sp>
      <p:sp>
        <p:nvSpPr>
          <p:cNvPr id="4" name="">
            <a:extLst xmlns:a="http://schemas.openxmlformats.org/drawingml/2006/main">
              <a:ext uri="{FF2B5EF4-FFF2-40B4-BE49-F238E27FC236}">
                <a16:creationId xmlns:a16="http://schemas.microsoft.com/office/drawing/2014/main" id="{557EA24E-C870-412E-9BCF-274E0D6270E8}"/>
              </a:ext>
            </a:extLst>
          </p:cNvPr>
          <p:cNvSpPr>
            <a:spLocks xmlns:a="http://schemas.openxmlformats.org/drawingml/2006/main" noGrp="1"/>
          </p:cNvSpPr>
          <p:nvPr/>
        </p:nvSpPr>
        <p:spPr>
          <a:xfrm xmlns:a="http://schemas.openxmlformats.org/drawingml/2006/main">
            <a:off x="6400800" y="5162550"/>
            <a:ext cx="5334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원래 정책: 미등록 이름은 auth 기본 처리</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사용자가 요청한 대상과 불일치</a:t>
            </a:r>
          </a:p>
        </p:txBody>
      </p:sp>
      <p:sp>
        <p:nvSpPr>
          <p:cNvPr id="5" name="">
            <a:extLst xmlns:a="http://schemas.openxmlformats.org/drawingml/2006/main">
              <a:ext uri="{FF2B5EF4-FFF2-40B4-BE49-F238E27FC236}">
                <a16:creationId xmlns:a16="http://schemas.microsoft.com/office/drawing/2014/main" id="{7809FE02-6EA3-4AEF-B2AB-254FBEC4CB2A}"/>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09</a:t>
            </a:r>
          </a:p>
        </p:txBody>
      </p:sp>
    </p:spTree>
    <p:extLst>
      <p:ext uri="{BB962C8B-B14F-4D97-AF65-F5344CB8AC3E}">
        <p14:creationId xmlns:p14="http://schemas.microsoft.com/office/powerpoint/2010/main" val="11194623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ACEA39-B5B9-43E2-B863-232583797669}"/>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후 · 미등록이면 등록 이름을 다시 묻는다</a:t>
            </a:r>
          </a:p>
        </p:txBody>
      </p:sp>
      <p:pic>
        <p:nvPicPr>
          <p:cNvPr id="2" name="">
            <a:extLst xmlns:a="http://schemas.openxmlformats.org/drawingml/2006/main">
              <a:ext uri="{FF2B5EF4-FFF2-40B4-BE49-F238E27FC236}">
                <a16:creationId xmlns:a16="http://schemas.microsoft.com/office/drawing/2014/main" id="{C6AE1376-DE6F-4FEF-965C-3B07D2353F5E}"/>
              </a:ext>
            </a:extLst>
          </p:cNvPr>
          <p:cNvPicPr>
            <a:picLocks xmlns:a="http://schemas.openxmlformats.org/drawingml/2006/main" noChangeAspect="1"/>
          </p:cNvPicPr>
          <p:nvPr/>
        </p:nvPicPr>
        <p:blipFill>
          <a:blip xmlns:r="http://schemas.openxmlformats.org/officeDocument/2006/relationships" xmlns:a="http://schemas.openxmlformats.org/drawingml/2006/main" r:embed="R5fcb2e33dfe24a8f"/>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68E2FB-1E3E-4423-AC3B-DA502B3F42E1}"/>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등록 목록과 대조하고, 임의 대체·모니터링·보고 생성을 생략</a:t>
            </a:r>
          </a:p>
        </p:txBody>
      </p:sp>
      <p:sp>
        <p:nvSpPr>
          <p:cNvPr id="4" name="">
            <a:extLst xmlns:a="http://schemas.openxmlformats.org/drawingml/2006/main">
              <a:ext uri="{FF2B5EF4-FFF2-40B4-BE49-F238E27FC236}">
                <a16:creationId xmlns:a16="http://schemas.microsoft.com/office/drawing/2014/main" id="{50245415-BE3A-4B33-8853-4255FB0617C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10</a:t>
            </a:r>
          </a:p>
        </p:txBody>
      </p:sp>
    </p:spTree>
    <p:extLst>
      <p:ext uri="{BB962C8B-B14F-4D97-AF65-F5344CB8AC3E}">
        <p14:creationId xmlns:p14="http://schemas.microsoft.com/office/powerpoint/2010/main" val="3530990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312F3C-58A7-4CC7-ABF0-15883711E678}"/>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전 · 로그인만으로 auth를 조회했다</a:t>
            </a:r>
          </a:p>
        </p:txBody>
      </p:sp>
      <p:pic>
        <p:nvPicPr>
          <p:cNvPr id="2" name="">
            <a:extLst xmlns:a="http://schemas.openxmlformats.org/drawingml/2006/main">
              <a:ext uri="{FF2B5EF4-FFF2-40B4-BE49-F238E27FC236}">
                <a16:creationId xmlns:a16="http://schemas.microsoft.com/office/drawing/2014/main" id="{9BAF08D6-4F4D-45CA-9051-6425F88E3A47}"/>
              </a:ext>
            </a:extLst>
          </p:cNvPr>
          <p:cNvPicPr>
            <a:picLocks xmlns:a="http://schemas.openxmlformats.org/drawingml/2006/main" noChangeAspect="1"/>
          </p:cNvPicPr>
          <p:nvPr/>
        </p:nvPicPr>
        <p:blipFill>
          <a:blip xmlns:r="http://schemas.openxmlformats.org/officeDocument/2006/relationships" xmlns:a="http://schemas.openxmlformats.org/drawingml/2006/main" r:embed="R64596a72160b446a"/>
          <a:stretch xmlns:a="http://schemas.openxmlformats.org/drawingml/2006/main"/>
        </p:blipFill>
        <p:spPr>
          <a:xfrm xmlns:a="http://schemas.openxmlformats.org/drawingml/2006/main">
            <a:off x="457200" y="994569"/>
            <a:ext cx="11277600" cy="393541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1176E1-0CA2-4233-9546-C94A1B969DA9}"/>
              </a:ext>
            </a:extLst>
          </p:cNvPr>
          <p:cNvSpPr>
            <a:spLocks xmlns:a="http://schemas.openxmlformats.org/drawingml/2006/main" noGrp="1"/>
          </p:cNvSpPr>
          <p:nvPr/>
        </p:nvSpPr>
        <p:spPr>
          <a:xfrm xmlns:a="http://schemas.openxmlformats.org/drawingml/2006/main">
            <a:off x="457200" y="5162550"/>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2E40"/>
                </a:solidFill>
                <a:latin typeface="Apple SD Gothic Neo"/>
                <a:ea typeface="Apple SD Gothic Neo"/>
                <a:cs typeface="Apple SD Gothic Neo"/>
              </a:defRPr>
            </a:defPPr>
            <a:lvl1pPr>
              <a:defRPr sz="2250" b="1">
                <a:solidFill>
                  <a:srgbClr val="172E40"/>
                </a:solidFill>
                <a:latin typeface="Apple SD Gothic Neo"/>
                <a:ea typeface="Apple SD Gothic Neo"/>
                <a:cs typeface="Apple SD Gothic Neo"/>
              </a:defRPr>
            </a:lvl1pPr>
            <a:lvl2pPr>
              <a:defRPr sz="2250" b="1">
                <a:solidFill>
                  <a:srgbClr val="172E40"/>
                </a:solidFill>
                <a:latin typeface="Apple SD Gothic Neo"/>
                <a:ea typeface="Apple SD Gothic Neo"/>
                <a:cs typeface="Apple SD Gothic Neo"/>
              </a:defRPr>
            </a:lvl2pPr>
            <a:lvl3pPr>
              <a:defRPr sz="2250" b="1">
                <a:solidFill>
                  <a:srgbClr val="172E40"/>
                </a:solidFill>
                <a:latin typeface="Apple SD Gothic Neo"/>
                <a:ea typeface="Apple SD Gothic Neo"/>
                <a:cs typeface="Apple SD Gothic Neo"/>
              </a:defRPr>
            </a:lvl3pPr>
            <a:lvl4pPr>
              <a:defRPr sz="2250" b="1">
                <a:solidFill>
                  <a:srgbClr val="172E40"/>
                </a:solidFill>
                <a:latin typeface="Apple SD Gothic Neo"/>
                <a:ea typeface="Apple SD Gothic Neo"/>
                <a:cs typeface="Apple SD Gothic Neo"/>
              </a:defRPr>
            </a:lvl4pPr>
            <a:lvl5pPr>
              <a:defRPr sz="2250" b="1">
                <a:solidFill>
                  <a:srgbClr val="172E40"/>
                </a:solidFill>
                <a:latin typeface="Apple SD Gothic Neo"/>
                <a:ea typeface="Apple SD Gothic Neo"/>
                <a:cs typeface="Apple SD Gothic Neo"/>
              </a:defRPr>
            </a:lvl5pPr>
            <a:lvl6pPr>
              <a:defRPr sz="2250" b="1">
                <a:solidFill>
                  <a:srgbClr val="172E40"/>
                </a:solidFill>
                <a:latin typeface="Apple SD Gothic Neo"/>
                <a:ea typeface="Apple SD Gothic Neo"/>
                <a:cs typeface="Apple SD Gothic Neo"/>
              </a:defRPr>
            </a:lvl6pPr>
            <a:lvl7pPr>
              <a:defRPr sz="2250" b="1">
                <a:solidFill>
                  <a:srgbClr val="172E40"/>
                </a:solidFill>
                <a:latin typeface="Apple SD Gothic Neo"/>
                <a:ea typeface="Apple SD Gothic Neo"/>
                <a:cs typeface="Apple SD Gothic Neo"/>
              </a:defRPr>
            </a:lvl7pPr>
            <a:lvl8pPr>
              <a:defRPr sz="2250" b="1">
                <a:solidFill>
                  <a:srgbClr val="172E40"/>
                </a:solidFill>
                <a:latin typeface="Apple SD Gothic Neo"/>
                <a:ea typeface="Apple SD Gothic Neo"/>
                <a:cs typeface="Apple SD Gothic Neo"/>
              </a:defRPr>
            </a:lvl8pPr>
            <a:lvl9pPr>
              <a:defRPr sz="2250" b="1">
                <a:solidFill>
                  <a:srgbClr val="172E40"/>
                </a:solidFill>
                <a:latin typeface="Apple SD Gothic Neo"/>
                <a:ea typeface="Apple SD Gothic Neo"/>
                <a:cs typeface="Apple SD Gothic Neo"/>
              </a:defRPr>
            </a:lvl9pPr>
          </a:lstStyle>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서비스 이름이 없는데</a:t>
            </a:r>
          </a:p>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auth-service로 조회</a:t>
            </a:r>
          </a:p>
        </p:txBody>
      </p:sp>
      <p:sp>
        <p:nvSpPr>
          <p:cNvPr id="4" name="">
            <a:extLst xmlns:a="http://schemas.openxmlformats.org/drawingml/2006/main">
              <a:ext uri="{FF2B5EF4-FFF2-40B4-BE49-F238E27FC236}">
                <a16:creationId xmlns:a16="http://schemas.microsoft.com/office/drawing/2014/main" id="{B2B19112-CD42-407C-92C8-8029D774A6D4}"/>
              </a:ext>
            </a:extLst>
          </p:cNvPr>
          <p:cNvSpPr>
            <a:spLocks xmlns:a="http://schemas.openxmlformats.org/drawingml/2006/main" noGrp="1"/>
          </p:cNvSpPr>
          <p:nvPr/>
        </p:nvSpPr>
        <p:spPr>
          <a:xfrm xmlns:a="http://schemas.openxmlformats.org/drawingml/2006/main">
            <a:off x="6400800" y="5162550"/>
            <a:ext cx="5334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원래 auth 기본 정책을</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대상 이름 확인 요청으로 변경</a:t>
            </a:r>
          </a:p>
        </p:txBody>
      </p:sp>
      <p:sp>
        <p:nvSpPr>
          <p:cNvPr id="5" name="">
            <a:extLst xmlns:a="http://schemas.openxmlformats.org/drawingml/2006/main">
              <a:ext uri="{FF2B5EF4-FFF2-40B4-BE49-F238E27FC236}">
                <a16:creationId xmlns:a16="http://schemas.microsoft.com/office/drawing/2014/main" id="{25345D7D-2555-4DCD-B9BA-777438D896FC}"/>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11</a:t>
            </a:r>
          </a:p>
        </p:txBody>
      </p:sp>
    </p:spTree>
    <p:extLst>
      <p:ext uri="{BB962C8B-B14F-4D97-AF65-F5344CB8AC3E}">
        <p14:creationId xmlns:p14="http://schemas.microsoft.com/office/powerpoint/2010/main" val="11039083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D19D60-E480-4457-9450-8E636038736D}"/>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후 · 서비스 이름을 먼저 확인한다</a:t>
            </a:r>
          </a:p>
        </p:txBody>
      </p:sp>
      <p:pic>
        <p:nvPicPr>
          <p:cNvPr id="2" name="">
            <a:extLst xmlns:a="http://schemas.openxmlformats.org/drawingml/2006/main">
              <a:ext uri="{FF2B5EF4-FFF2-40B4-BE49-F238E27FC236}">
                <a16:creationId xmlns:a16="http://schemas.microsoft.com/office/drawing/2014/main" id="{26A5967F-228B-4C3B-9F1F-6CFA091C3885}"/>
              </a:ext>
            </a:extLst>
          </p:cNvPr>
          <p:cNvPicPr>
            <a:picLocks xmlns:a="http://schemas.openxmlformats.org/drawingml/2006/main" noChangeAspect="1"/>
          </p:cNvPicPr>
          <p:nvPr/>
        </p:nvPicPr>
        <p:blipFill>
          <a:blip xmlns:r="http://schemas.openxmlformats.org/officeDocument/2006/relationships" xmlns:a="http://schemas.openxmlformats.org/drawingml/2006/main" r:embed="R489a6c919e024671"/>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B670ED4-897D-41A1-85DF-3C418136BEE5}"/>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대상이 명시되지 않으면 조사 대신 확인 요청</a:t>
            </a:r>
          </a:p>
        </p:txBody>
      </p:sp>
      <p:sp>
        <p:nvSpPr>
          <p:cNvPr id="4" name="">
            <a:extLst xmlns:a="http://schemas.openxmlformats.org/drawingml/2006/main">
              <a:ext uri="{FF2B5EF4-FFF2-40B4-BE49-F238E27FC236}">
                <a16:creationId xmlns:a16="http://schemas.microsoft.com/office/drawing/2014/main" id="{21C40CB5-17E1-4CE5-85E0-D56059D8715A}"/>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12</a:t>
            </a:r>
          </a:p>
        </p:txBody>
      </p:sp>
    </p:spTree>
    <p:extLst>
      <p:ext uri="{BB962C8B-B14F-4D97-AF65-F5344CB8AC3E}">
        <p14:creationId xmlns:p14="http://schemas.microsoft.com/office/powerpoint/2010/main" val="3352495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7D6783-93EB-4CEB-AE99-DBDAE8947BB4}"/>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3 전 · 정상 web에 DB 장애 절차를 연결했다</a:t>
            </a:r>
          </a:p>
        </p:txBody>
      </p:sp>
      <p:pic>
        <p:nvPicPr>
          <p:cNvPr id="2" name="">
            <a:extLst xmlns:a="http://schemas.openxmlformats.org/drawingml/2006/main">
              <a:ext uri="{FF2B5EF4-FFF2-40B4-BE49-F238E27FC236}">
                <a16:creationId xmlns:a16="http://schemas.microsoft.com/office/drawing/2014/main" id="{FE85BA01-CE12-43F1-A2F1-7F45B5127A54}"/>
              </a:ext>
            </a:extLst>
          </p:cNvPr>
          <p:cNvPicPr>
            <a:picLocks xmlns:a="http://schemas.openxmlformats.org/drawingml/2006/main" noChangeAspect="1"/>
          </p:cNvPicPr>
          <p:nvPr/>
        </p:nvPicPr>
        <p:blipFill>
          <a:blip xmlns:r="http://schemas.openxmlformats.org/officeDocument/2006/relationships" xmlns:a="http://schemas.openxmlformats.org/drawingml/2006/main" r:embed="R64e714ee72534bf7"/>
          <a:stretch xmlns:a="http://schemas.openxmlformats.org/drawingml/2006/main"/>
        </p:blipFill>
        <p:spPr>
          <a:xfrm xmlns:a="http://schemas.openxmlformats.org/drawingml/2006/main">
            <a:off x="304800" y="978429"/>
            <a:ext cx="7219950" cy="52440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F47B48C-7CD4-44FA-9B37-C8EC3CEC1DC0}"/>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EF4A9C36-0F88-437C-B10B-B3FD51F1FD3D}"/>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web-01: healthy·알림 0건</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선택 문서: db-down</a:t>
            </a:r>
          </a:p>
        </p:txBody>
      </p:sp>
      <p:sp>
        <p:nvSpPr>
          <p:cNvPr id="5" name="">
            <a:extLst xmlns:a="http://schemas.openxmlformats.org/drawingml/2006/main">
              <a:ext uri="{FF2B5EF4-FFF2-40B4-BE49-F238E27FC236}">
                <a16:creationId xmlns:a16="http://schemas.microsoft.com/office/drawing/2014/main" id="{95B26851-53F3-4A75-9E86-E74362190CB0}"/>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관찰: CPU 41.0%·메모리 51.5%</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현재 상태와 무관한 기본 문서 선택</a:t>
            </a:r>
          </a:p>
        </p:txBody>
      </p:sp>
      <p:sp>
        <p:nvSpPr>
          <p:cNvPr id="6" name="">
            <a:extLst xmlns:a="http://schemas.openxmlformats.org/drawingml/2006/main">
              <a:ext uri="{FF2B5EF4-FFF2-40B4-BE49-F238E27FC236}">
                <a16:creationId xmlns:a16="http://schemas.microsoft.com/office/drawing/2014/main" id="{FFAED156-37D7-45B9-AA55-1E96FC47EDDE}"/>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7DA340D5-2D29-4192-AF99-BCDBD4E54758}"/>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“DB Down 대응 절차”</a:t>
            </a:r>
          </a:p>
        </p:txBody>
      </p:sp>
      <p:sp>
        <p:nvSpPr>
          <p:cNvPr id="8" name="">
            <a:extLst xmlns:a="http://schemas.openxmlformats.org/drawingml/2006/main">
              <a:ext uri="{FF2B5EF4-FFF2-40B4-BE49-F238E27FC236}">
                <a16:creationId xmlns:a16="http://schemas.microsoft.com/office/drawing/2014/main" id="{FF6D6D44-075E-47E5-A425-BADAF7553E1E}"/>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13</a:t>
            </a:r>
          </a:p>
        </p:txBody>
      </p:sp>
    </p:spTree>
    <p:extLst>
      <p:ext uri="{BB962C8B-B14F-4D97-AF65-F5344CB8AC3E}">
        <p14:creationId xmlns:p14="http://schemas.microsoft.com/office/powerpoint/2010/main" val="15904916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7A9D8A-1CC2-4AAC-8EE8-BDF9DD9A9126}"/>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3 후 · 정상·장애를 서비스별로 구분했다</a:t>
            </a:r>
          </a:p>
        </p:txBody>
      </p:sp>
      <p:pic>
        <p:nvPicPr>
          <p:cNvPr id="2" name="">
            <a:extLst xmlns:a="http://schemas.openxmlformats.org/drawingml/2006/main">
              <a:ext uri="{FF2B5EF4-FFF2-40B4-BE49-F238E27FC236}">
                <a16:creationId xmlns:a16="http://schemas.microsoft.com/office/drawing/2014/main" id="{A3159F51-1E17-4398-8BB4-0C9492D64953}"/>
              </a:ext>
            </a:extLst>
          </p:cNvPr>
          <p:cNvPicPr>
            <a:picLocks xmlns:a="http://schemas.openxmlformats.org/drawingml/2006/main" noChangeAspect="1"/>
          </p:cNvPicPr>
          <p:nvPr/>
        </p:nvPicPr>
        <p:blipFill>
          <a:blip xmlns:r="http://schemas.openxmlformats.org/officeDocument/2006/relationships" xmlns:a="http://schemas.openxmlformats.org/drawingml/2006/main" r:embed="R811d44317b7b4e0a"/>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5301E10-AB6A-43FD-B02D-8D8FF87BC73D}"/>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상태를 먼저 분기: 정상은 검색 생략, 장애는 관측 알림으로 검색</a:t>
            </a:r>
          </a:p>
        </p:txBody>
      </p:sp>
      <p:sp>
        <p:nvSpPr>
          <p:cNvPr id="4" name="">
            <a:extLst xmlns:a="http://schemas.openxmlformats.org/drawingml/2006/main">
              <a:ext uri="{FF2B5EF4-FFF2-40B4-BE49-F238E27FC236}">
                <a16:creationId xmlns:a16="http://schemas.microsoft.com/office/drawing/2014/main" id="{C2B1A57D-A820-4131-98BE-986DD170697F}"/>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14</a:t>
            </a:r>
          </a:p>
        </p:txBody>
      </p:sp>
    </p:spTree>
    <p:extLst>
      <p:ext uri="{BB962C8B-B14F-4D97-AF65-F5344CB8AC3E}">
        <p14:creationId xmlns:p14="http://schemas.microsoft.com/office/powerpoint/2010/main" val="63492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22824B-F080-41C8-9B9A-BDBCEE74A6B2}"/>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4 전 · 로그 미수집인데 분석 결과처럼 답했다</a:t>
            </a:r>
          </a:p>
        </p:txBody>
      </p:sp>
      <p:pic>
        <p:nvPicPr>
          <p:cNvPr id="2" name="">
            <a:extLst xmlns:a="http://schemas.openxmlformats.org/drawingml/2006/main">
              <a:ext uri="{FF2B5EF4-FFF2-40B4-BE49-F238E27FC236}">
                <a16:creationId xmlns:a16="http://schemas.microsoft.com/office/drawing/2014/main" id="{43238F99-CBBC-4BDE-8368-2C2B7E3BC98A}"/>
              </a:ext>
            </a:extLst>
          </p:cNvPr>
          <p:cNvPicPr>
            <a:picLocks xmlns:a="http://schemas.openxmlformats.org/drawingml/2006/main" noChangeAspect="1"/>
          </p:cNvPicPr>
          <p:nvPr/>
        </p:nvPicPr>
        <p:blipFill>
          <a:blip xmlns:r="http://schemas.openxmlformats.org/officeDocument/2006/relationships" xmlns:a="http://schemas.openxmlformats.org/drawingml/2006/main" r:embed="R35843813a4874550"/>
          <a:stretch xmlns:a="http://schemas.openxmlformats.org/drawingml/2006/main"/>
        </p:blipFill>
        <p:spPr>
          <a:xfrm xmlns:a="http://schemas.openxmlformats.org/drawingml/2006/main">
            <a:off x="473611" y="914400"/>
            <a:ext cx="6882329"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1107CB-058C-449D-8F3E-BEFEF2608459}"/>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66E1AEE9-689B-44CC-8B2C-18C0F98C8F0D}"/>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로그 조회 없이</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분석 결과처럼 답변</a:t>
            </a:r>
          </a:p>
        </p:txBody>
      </p:sp>
      <p:sp>
        <p:nvSpPr>
          <p:cNvPr id="5" name="">
            <a:extLst xmlns:a="http://schemas.openxmlformats.org/drawingml/2006/main">
              <a:ext uri="{FF2B5EF4-FFF2-40B4-BE49-F238E27FC236}">
                <a16:creationId xmlns:a16="http://schemas.microsoft.com/office/drawing/2014/main" id="{75AC3650-F6FE-49B6-88FF-FCDBADA24818}"/>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실제 근거: 모니터링 지표·매뉴얼</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수집 자료와 답변의 주장 불일치</a:t>
            </a:r>
          </a:p>
        </p:txBody>
      </p:sp>
      <p:sp>
        <p:nvSpPr>
          <p:cNvPr id="6" name="">
            <a:extLst xmlns:a="http://schemas.openxmlformats.org/drawingml/2006/main">
              <a:ext uri="{FF2B5EF4-FFF2-40B4-BE49-F238E27FC236}">
                <a16:creationId xmlns:a16="http://schemas.microsoft.com/office/drawing/2014/main" id="{ED3AAE85-5657-4311-84B0-381015B76BBD}"/>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2FB59D8A-B9DE-4867-A53C-FC92C6C91AB8}"/>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“로그 분석 결과 특이 패턴 없음.”</a:t>
            </a:r>
          </a:p>
        </p:txBody>
      </p:sp>
      <p:sp>
        <p:nvSpPr>
          <p:cNvPr id="8" name="">
            <a:extLst xmlns:a="http://schemas.openxmlformats.org/drawingml/2006/main">
              <a:ext uri="{FF2B5EF4-FFF2-40B4-BE49-F238E27FC236}">
                <a16:creationId xmlns:a16="http://schemas.microsoft.com/office/drawing/2014/main" id="{CBCC0C9B-13B7-49AB-A924-C7DBC6B2AA6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15</a:t>
            </a:r>
          </a:p>
        </p:txBody>
      </p:sp>
    </p:spTree>
    <p:extLst>
      <p:ext uri="{BB962C8B-B14F-4D97-AF65-F5344CB8AC3E}">
        <p14:creationId xmlns:p14="http://schemas.microsoft.com/office/powerpoint/2010/main" val="3424085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4309A3-B6BC-4FDE-8597-5D2EE5E354B0}"/>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4 후 · 관측과 매뉴얼 원문으로 보고했다</a:t>
            </a:r>
          </a:p>
        </p:txBody>
      </p:sp>
      <p:pic>
        <p:nvPicPr>
          <p:cNvPr id="2" name="">
            <a:extLst xmlns:a="http://schemas.openxmlformats.org/drawingml/2006/main">
              <a:ext uri="{FF2B5EF4-FFF2-40B4-BE49-F238E27FC236}">
                <a16:creationId xmlns:a16="http://schemas.microsoft.com/office/drawing/2014/main" id="{FAA63C02-B9BA-45D3-8D42-515ECAF4539C}"/>
              </a:ext>
            </a:extLst>
          </p:cNvPr>
          <p:cNvPicPr>
            <a:picLocks xmlns:a="http://schemas.openxmlformats.org/drawingml/2006/main" noChangeAspect="1"/>
          </p:cNvPicPr>
          <p:nvPr/>
        </p:nvPicPr>
        <p:blipFill>
          <a:blip xmlns:r="http://schemas.openxmlformats.org/officeDocument/2006/relationships" xmlns:a="http://schemas.openxmlformats.org/drawingml/2006/main" r:embed="R72db7b2ab7fc4e5c"/>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9CFB4B6-D5C4-43D0-AD5C-7C931B029929}"/>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서비스·수치·문서·절차 번호 검증 후 원문으로 출력</a:t>
            </a:r>
          </a:p>
        </p:txBody>
      </p:sp>
      <p:sp>
        <p:nvSpPr>
          <p:cNvPr id="4" name="">
            <a:extLst xmlns:a="http://schemas.openxmlformats.org/drawingml/2006/main">
              <a:ext uri="{FF2B5EF4-FFF2-40B4-BE49-F238E27FC236}">
                <a16:creationId xmlns:a16="http://schemas.microsoft.com/office/drawing/2014/main" id="{572886DC-64DA-4187-9D54-5802BCF55750}"/>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16</a:t>
            </a:r>
          </a:p>
        </p:txBody>
      </p:sp>
    </p:spTree>
    <p:extLst>
      <p:ext uri="{BB962C8B-B14F-4D97-AF65-F5344CB8AC3E}">
        <p14:creationId xmlns:p14="http://schemas.microsoft.com/office/powerpoint/2010/main" val="14689025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95E66D-4B90-4661-A1BD-E1010DBE9CD6}"/>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대화 회귀 전 · 사용자 이름을 자기소개에 섞었다</a:t>
            </a:r>
          </a:p>
        </p:txBody>
      </p:sp>
      <p:pic>
        <p:nvPicPr>
          <p:cNvPr id="2" name="">
            <a:extLst xmlns:a="http://schemas.openxmlformats.org/drawingml/2006/main">
              <a:ext uri="{FF2B5EF4-FFF2-40B4-BE49-F238E27FC236}">
                <a16:creationId xmlns:a16="http://schemas.microsoft.com/office/drawing/2014/main" id="{01CC0301-421C-45FC-B47D-432A45F3A1D0}"/>
              </a:ext>
            </a:extLst>
          </p:cNvPr>
          <p:cNvPicPr>
            <a:picLocks xmlns:a="http://schemas.openxmlformats.org/drawingml/2006/main" noChangeAspect="1"/>
          </p:cNvPicPr>
          <p:nvPr/>
        </p:nvPicPr>
        <p:blipFill>
          <a:blip xmlns:r="http://schemas.openxmlformats.org/officeDocument/2006/relationships" xmlns:a="http://schemas.openxmlformats.org/drawingml/2006/main" r:embed="Rc7ef4014058e44fd"/>
          <a:stretch xmlns:a="http://schemas.openxmlformats.org/drawingml/2006/main"/>
        </p:blipFill>
        <p:spPr>
          <a:xfrm xmlns:a="http://schemas.openxmlformats.org/drawingml/2006/main">
            <a:off x="932377" y="914400"/>
            <a:ext cx="5964796"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E616959-3B34-4B02-A087-C138261D3AA3}"/>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D51FBCFB-6981-47E9-ACF2-35B56D1656A0}"/>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사용자 이름 민수가</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비서의 자기소개에 섞임</a:t>
            </a:r>
          </a:p>
        </p:txBody>
      </p:sp>
      <p:sp>
        <p:nvSpPr>
          <p:cNvPr id="5" name="">
            <a:extLst xmlns:a="http://schemas.openxmlformats.org/drawingml/2006/main">
              <a:ext uri="{FF2B5EF4-FFF2-40B4-BE49-F238E27FC236}">
                <a16:creationId xmlns:a16="http://schemas.microsoft.com/office/drawing/2014/main" id="{D1C5FDE4-36F3-4CA0-B6A7-DC1083CA52D3}"/>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사용자와 비서의 이름 혼동</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사용자 역할의 이름 선언만 구분해야 함</a:t>
            </a:r>
          </a:p>
        </p:txBody>
      </p:sp>
      <p:sp>
        <p:nvSpPr>
          <p:cNvPr id="6" name="">
            <a:extLst xmlns:a="http://schemas.openxmlformats.org/drawingml/2006/main">
              <a:ext uri="{FF2B5EF4-FFF2-40B4-BE49-F238E27FC236}">
                <a16:creationId xmlns:a16="http://schemas.microsoft.com/office/drawing/2014/main" id="{275C0970-7A17-4CB4-949A-FFAC1AF4BFC9}"/>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EE154132-35E4-43A2-B4B1-239E90596897}"/>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“민수라는 이름으로…”</a:t>
            </a:r>
          </a:p>
        </p:txBody>
      </p:sp>
      <p:sp>
        <p:nvSpPr>
          <p:cNvPr id="8" name="">
            <a:extLst xmlns:a="http://schemas.openxmlformats.org/drawingml/2006/main">
              <a:ext uri="{FF2B5EF4-FFF2-40B4-BE49-F238E27FC236}">
                <a16:creationId xmlns:a16="http://schemas.microsoft.com/office/drawing/2014/main" id="{4007A524-EC5C-4339-8E37-0AC89D889B2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17</a:t>
            </a:r>
          </a:p>
        </p:txBody>
      </p:sp>
    </p:spTree>
    <p:extLst>
      <p:ext uri="{BB962C8B-B14F-4D97-AF65-F5344CB8AC3E}">
        <p14:creationId xmlns:p14="http://schemas.microsoft.com/office/powerpoint/2010/main" val="162588696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2E707F-0312-4E56-95DC-A7A687D528B5}"/>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대화 회귀 후 · 사용자 이름을 구분해 답한다</a:t>
            </a:r>
          </a:p>
        </p:txBody>
      </p:sp>
      <p:pic>
        <p:nvPicPr>
          <p:cNvPr id="2" name="">
            <a:extLst xmlns:a="http://schemas.openxmlformats.org/drawingml/2006/main">
              <a:ext uri="{FF2B5EF4-FFF2-40B4-BE49-F238E27FC236}">
                <a16:creationId xmlns:a16="http://schemas.microsoft.com/office/drawing/2014/main" id="{D88B31F7-D424-42BD-AB73-47A98D0B476A}"/>
              </a:ext>
            </a:extLst>
          </p:cNvPr>
          <p:cNvPicPr>
            <a:picLocks xmlns:a="http://schemas.openxmlformats.org/drawingml/2006/main" noChangeAspect="1"/>
          </p:cNvPicPr>
          <p:nvPr/>
        </p:nvPicPr>
        <p:blipFill>
          <a:blip xmlns:r="http://schemas.openxmlformats.org/officeDocument/2006/relationships" xmlns:a="http://schemas.openxmlformats.org/drawingml/2006/main" r:embed="Rc9bd3810b58e4a79"/>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782586D-F56F-4D0B-A7B8-58F700F3CE9D}"/>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대화 이력에서 사용자 역할의 이름 선언을 조회</a:t>
            </a:r>
          </a:p>
        </p:txBody>
      </p:sp>
      <p:sp>
        <p:nvSpPr>
          <p:cNvPr id="4" name="">
            <a:extLst xmlns:a="http://schemas.openxmlformats.org/drawingml/2006/main">
              <a:ext uri="{FF2B5EF4-FFF2-40B4-BE49-F238E27FC236}">
                <a16:creationId xmlns:a16="http://schemas.microsoft.com/office/drawing/2014/main" id="{064AB5FD-E74F-41D2-9619-A1A258CE0285}"/>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18</a:t>
            </a:r>
          </a:p>
        </p:txBody>
      </p:sp>
    </p:spTree>
    <p:extLst>
      <p:ext uri="{BB962C8B-B14F-4D97-AF65-F5344CB8AC3E}">
        <p14:creationId xmlns:p14="http://schemas.microsoft.com/office/powerpoint/2010/main" val="15054107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559CCC-55E9-4C7E-BB0F-AE4C361358F2}"/>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5 전 · 시간 초과 뒤 안내가 없었다</a:t>
            </a:r>
          </a:p>
        </p:txBody>
      </p:sp>
      <p:pic>
        <p:nvPicPr>
          <p:cNvPr id="2" name="">
            <a:extLst xmlns:a="http://schemas.openxmlformats.org/drawingml/2006/main">
              <a:ext uri="{FF2B5EF4-FFF2-40B4-BE49-F238E27FC236}">
                <a16:creationId xmlns:a16="http://schemas.microsoft.com/office/drawing/2014/main" id="{5D667EDE-8C9D-4E2B-80A6-41BA6BF9640B}"/>
              </a:ext>
            </a:extLst>
          </p:cNvPr>
          <p:cNvPicPr>
            <a:picLocks xmlns:a="http://schemas.openxmlformats.org/drawingml/2006/main" noChangeAspect="1"/>
          </p:cNvPicPr>
          <p:nvPr/>
        </p:nvPicPr>
        <p:blipFill>
          <a:blip xmlns:r="http://schemas.openxmlformats.org/officeDocument/2006/relationships" xmlns:a="http://schemas.openxmlformats.org/drawingml/2006/main" r:embed="Refce538f2d364d22"/>
          <a:stretch xmlns:a="http://schemas.openxmlformats.org/drawingml/2006/main"/>
        </p:blipFill>
        <p:spPr>
          <a:xfrm xmlns:a="http://schemas.openxmlformats.org/drawingml/2006/main">
            <a:off x="304800" y="1569839"/>
            <a:ext cx="7219950" cy="406122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F5189F1-6E58-4951-9290-64D8D03B7169}"/>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49A10320-409D-48B2-ABED-6CFD5B9D0000}"/>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분석 단계 시간 초과</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최종 응답·실패 안내 없음</a:t>
            </a:r>
          </a:p>
        </p:txBody>
      </p:sp>
      <p:sp>
        <p:nvSpPr>
          <p:cNvPr id="5" name="">
            <a:extLst xmlns:a="http://schemas.openxmlformats.org/drawingml/2006/main">
              <a:ext uri="{FF2B5EF4-FFF2-40B4-BE49-F238E27FC236}">
                <a16:creationId xmlns:a16="http://schemas.microsoft.com/office/drawing/2014/main" id="{6517BD89-A716-4C3D-BA9F-BF5516F6BF4D}"/>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사용자가 처리 상태와</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이미 확인한 지표를 알 수 없음</a:t>
            </a:r>
          </a:p>
        </p:txBody>
      </p:sp>
      <p:sp>
        <p:nvSpPr>
          <p:cNvPr id="6" name="">
            <a:extLst xmlns:a="http://schemas.openxmlformats.org/drawingml/2006/main">
              <a:ext uri="{FF2B5EF4-FFF2-40B4-BE49-F238E27FC236}">
                <a16:creationId xmlns:a16="http://schemas.microsoft.com/office/drawing/2014/main" id="{6F4FC354-0EF8-4C6B-B868-BDF780BE8EA8}"/>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12E1BA92-B31B-4A5F-AA2E-65A028200ED0}"/>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진행 화면에 payments 조회만 남음</a:t>
            </a:r>
          </a:p>
        </p:txBody>
      </p:sp>
      <p:sp>
        <p:nvSpPr>
          <p:cNvPr id="8" name="">
            <a:extLst xmlns:a="http://schemas.openxmlformats.org/drawingml/2006/main">
              <a:ext uri="{FF2B5EF4-FFF2-40B4-BE49-F238E27FC236}">
                <a16:creationId xmlns:a16="http://schemas.microsoft.com/office/drawing/2014/main" id="{201475A9-73AC-4BC6-906D-76289DA103B0}"/>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19</a:t>
            </a:r>
          </a:p>
        </p:txBody>
      </p:sp>
    </p:spTree>
    <p:extLst>
      <p:ext uri="{BB962C8B-B14F-4D97-AF65-F5344CB8AC3E}">
        <p14:creationId xmlns:p14="http://schemas.microsoft.com/office/powerpoint/2010/main" val="3469108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594D89-0132-43AA-A151-A4E60B58E25F}"/>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5 후 · 시간 제한을 알리고 근거를 보존했다 1/2</a:t>
            </a:r>
          </a:p>
        </p:txBody>
      </p:sp>
      <p:pic>
        <p:nvPicPr>
          <p:cNvPr id="2" name="">
            <a:extLst xmlns:a="http://schemas.openxmlformats.org/drawingml/2006/main">
              <a:ext uri="{FF2B5EF4-FFF2-40B4-BE49-F238E27FC236}">
                <a16:creationId xmlns:a16="http://schemas.microsoft.com/office/drawing/2014/main" id="{35459F72-5F48-44BE-B25E-8F75E7C85323}"/>
              </a:ext>
            </a:extLst>
          </p:cNvPr>
          <p:cNvPicPr>
            <a:picLocks xmlns:a="http://schemas.openxmlformats.org/drawingml/2006/main" noChangeAspect="1"/>
          </p:cNvPicPr>
          <p:nvPr/>
        </p:nvPicPr>
        <p:blipFill>
          <a:blip xmlns:r="http://schemas.openxmlformats.org/officeDocument/2006/relationships" xmlns:a="http://schemas.openxmlformats.org/drawingml/2006/main" r:embed="R4d9e8eb0c4fa4119"/>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BFD51DB-B921-466B-9B4C-8CBE082D6281}"/>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생성 512토큰·호출 25초·요청 60초, 검증 실패는 최대 2회 후 안내</a:t>
            </a:r>
          </a:p>
        </p:txBody>
      </p:sp>
      <p:sp>
        <p:nvSpPr>
          <p:cNvPr id="4" name="">
            <a:extLst xmlns:a="http://schemas.openxmlformats.org/drawingml/2006/main">
              <a:ext uri="{FF2B5EF4-FFF2-40B4-BE49-F238E27FC236}">
                <a16:creationId xmlns:a16="http://schemas.microsoft.com/office/drawing/2014/main" id="{5C3C59EF-94A1-441C-8580-FD9601240A4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20</a:t>
            </a:r>
          </a:p>
        </p:txBody>
      </p:sp>
    </p:spTree>
    <p:extLst>
      <p:ext uri="{BB962C8B-B14F-4D97-AF65-F5344CB8AC3E}">
        <p14:creationId xmlns:p14="http://schemas.microsoft.com/office/powerpoint/2010/main" val="118184322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F35D04-1CFA-4D6B-80AD-4DE3C9A094F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5 후 · 두 서비스의 관측을 남겼다 2/2</a:t>
            </a:r>
          </a:p>
        </p:txBody>
      </p:sp>
      <p:pic>
        <p:nvPicPr>
          <p:cNvPr id="2" name="">
            <a:extLst xmlns:a="http://schemas.openxmlformats.org/drawingml/2006/main">
              <a:ext uri="{FF2B5EF4-FFF2-40B4-BE49-F238E27FC236}">
                <a16:creationId xmlns:a16="http://schemas.microsoft.com/office/drawing/2014/main" id="{4270C878-0C97-407F-9D50-C36948708FD0}"/>
              </a:ext>
            </a:extLst>
          </p:cNvPr>
          <p:cNvPicPr>
            <a:picLocks xmlns:a="http://schemas.openxmlformats.org/drawingml/2006/main" noChangeAspect="1"/>
          </p:cNvPicPr>
          <p:nvPr/>
        </p:nvPicPr>
        <p:blipFill>
          <a:blip xmlns:r="http://schemas.openxmlformats.org/officeDocument/2006/relationships" xmlns:a="http://schemas.openxmlformats.org/drawingml/2006/main" r:embed="R42741d7636b94faf"/>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8698105-0E16-4C98-B765-9671D32E0D80}"/>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시간 초과 시 이미 수집한 서비스별 관측과 미확인 사항 보존</a:t>
            </a:r>
          </a:p>
        </p:txBody>
      </p:sp>
      <p:sp>
        <p:nvSpPr>
          <p:cNvPr id="4" name="">
            <a:extLst xmlns:a="http://schemas.openxmlformats.org/drawingml/2006/main">
              <a:ext uri="{FF2B5EF4-FFF2-40B4-BE49-F238E27FC236}">
                <a16:creationId xmlns:a16="http://schemas.microsoft.com/office/drawing/2014/main" id="{B8FCCE7D-43ED-4602-AA44-37BB8B9D964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21</a:t>
            </a:r>
          </a:p>
        </p:txBody>
      </p:sp>
    </p:spTree>
    <p:extLst>
      <p:ext uri="{BB962C8B-B14F-4D97-AF65-F5344CB8AC3E}">
        <p14:creationId xmlns:p14="http://schemas.microsoft.com/office/powerpoint/2010/main" val="823912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381F70-3799-4577-830D-19C29B99B156}"/>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추가 1 · RAG로 대응 매뉴얼을 검색한다</a:t>
            </a:r>
          </a:p>
        </p:txBody>
      </p:sp>
      <p:pic>
        <p:nvPicPr>
          <p:cNvPr id="2" name="">
            <a:extLst xmlns:a="http://schemas.openxmlformats.org/drawingml/2006/main">
              <a:ext uri="{FF2B5EF4-FFF2-40B4-BE49-F238E27FC236}">
                <a16:creationId xmlns:a16="http://schemas.microsoft.com/office/drawing/2014/main" id="{C1FEB8CC-B2DE-43F7-A3F0-F04647EA3206}"/>
              </a:ext>
            </a:extLst>
          </p:cNvPr>
          <p:cNvPicPr>
            <a:picLocks xmlns:a="http://schemas.openxmlformats.org/drawingml/2006/main" noChangeAspect="1"/>
          </p:cNvPicPr>
          <p:nvPr/>
        </p:nvPicPr>
        <p:blipFill>
          <a:blip xmlns:r="http://schemas.openxmlformats.org/officeDocument/2006/relationships" xmlns:a="http://schemas.openxmlformats.org/drawingml/2006/main" r:embed="R01ff042a8c0e4700"/>
          <a:stretch xmlns:a="http://schemas.openxmlformats.org/drawingml/2006/main"/>
        </p:blipFill>
        <p:spPr>
          <a:xfrm xmlns:a="http://schemas.openxmlformats.org/drawingml/2006/main">
            <a:off x="304800" y="14077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B0F628-BA2F-4A0D-BF61-7A4FD2067392}"/>
              </a:ext>
            </a:extLst>
          </p:cNvPr>
          <p:cNvSpPr>
            <a:spLocks xmlns:a="http://schemas.openxmlformats.org/drawingml/2006/main" noGrp="1"/>
          </p:cNvSpPr>
          <p:nvPr/>
        </p:nvSpPr>
        <p:spPr>
          <a:xfrm xmlns:a="http://schemas.openxmlformats.org/drawingml/2006/main">
            <a:off x="8439150" y="10668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03C15DA2-082F-41B1-BB89-9F79B08EA8A9}"/>
              </a:ext>
            </a:extLst>
          </p:cNvPr>
          <p:cNvSpPr>
            <a:spLocks xmlns:a="http://schemas.openxmlformats.org/drawingml/2006/main" noGrp="1"/>
          </p:cNvSpPr>
          <p:nvPr/>
        </p:nvSpPr>
        <p:spPr>
          <a:xfrm xmlns:a="http://schemas.openxmlformats.org/drawingml/2006/main">
            <a:off x="8439150" y="15716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1. 서비스별 알림 → bge-m3 임베딩</a:t>
            </a:r>
          </a:p>
        </p:txBody>
      </p:sp>
      <p:sp>
        <p:nvSpPr>
          <p:cNvPr id="5" name="">
            <a:extLst xmlns:a="http://schemas.openxmlformats.org/drawingml/2006/main">
              <a:ext uri="{FF2B5EF4-FFF2-40B4-BE49-F238E27FC236}">
                <a16:creationId xmlns:a16="http://schemas.microsoft.com/office/drawing/2014/main" id="{74006BFA-A4B4-4699-BA25-E204056395EB}"/>
              </a:ext>
            </a:extLst>
          </p:cNvPr>
          <p:cNvSpPr>
            <a:spLocks xmlns:a="http://schemas.openxmlformats.org/drawingml/2006/main" noGrp="1"/>
          </p:cNvSpPr>
          <p:nvPr/>
        </p:nvSpPr>
        <p:spPr>
          <a:xfrm xmlns:a="http://schemas.openxmlformats.org/drawingml/2006/main">
            <a:off x="8439150" y="24479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2. SQLite 벡터와 코사인 검색</a:t>
            </a:r>
          </a:p>
        </p:txBody>
      </p:sp>
      <p:sp>
        <p:nvSpPr>
          <p:cNvPr id="6" name="">
            <a:extLst xmlns:a="http://schemas.openxmlformats.org/drawingml/2006/main">
              <a:ext uri="{FF2B5EF4-FFF2-40B4-BE49-F238E27FC236}">
                <a16:creationId xmlns:a16="http://schemas.microsoft.com/office/drawing/2014/main" id="{4DA82E27-17A0-4EFC-AF41-D0AEAC7B2A78}"/>
              </a:ext>
            </a:extLst>
          </p:cNvPr>
          <p:cNvSpPr>
            <a:spLocks xmlns:a="http://schemas.openxmlformats.org/drawingml/2006/main" noGrp="1"/>
          </p:cNvSpPr>
          <p:nvPr/>
        </p:nvSpPr>
        <p:spPr>
          <a:xfrm xmlns:a="http://schemas.openxmlformats.org/drawingml/2006/main">
            <a:off x="8439150" y="33242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3. MCP로 선택한 문서 원문 조회</a:t>
            </a:r>
          </a:p>
        </p:txBody>
      </p:sp>
      <p:sp>
        <p:nvSpPr>
          <p:cNvPr id="7" name="">
            <a:extLst xmlns:a="http://schemas.openxmlformats.org/drawingml/2006/main">
              <a:ext uri="{FF2B5EF4-FFF2-40B4-BE49-F238E27FC236}">
                <a16:creationId xmlns:a16="http://schemas.microsoft.com/office/drawing/2014/main" id="{52E8009B-B7CA-46D8-839F-F71AD4010C4A}"/>
              </a:ext>
            </a:extLst>
          </p:cNvPr>
          <p:cNvSpPr>
            <a:spLocks xmlns:a="http://schemas.openxmlformats.org/drawingml/2006/main" noGrp="1"/>
          </p:cNvSpPr>
          <p:nvPr/>
        </p:nvSpPr>
        <p:spPr>
          <a:xfrm xmlns:a="http://schemas.openxmlformats.org/drawingml/2006/main">
            <a:off x="8439150" y="4695825"/>
            <a:ext cx="32956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2786D"/>
                </a:solidFill>
                <a:latin typeface="Apple SD Gothic Neo"/>
                <a:ea typeface="Apple SD Gothic Neo"/>
                <a:cs typeface="Apple SD Gothic Neo"/>
              </a:defRPr>
            </a:defPPr>
            <a:lvl1pPr>
              <a:defRPr sz="2025" b="1">
                <a:solidFill>
                  <a:srgbClr val="12786D"/>
                </a:solidFill>
                <a:latin typeface="Apple SD Gothic Neo"/>
                <a:ea typeface="Apple SD Gothic Neo"/>
                <a:cs typeface="Apple SD Gothic Neo"/>
              </a:defRPr>
            </a:lvl1pPr>
            <a:lvl2pPr>
              <a:defRPr sz="2025" b="1">
                <a:solidFill>
                  <a:srgbClr val="12786D"/>
                </a:solidFill>
                <a:latin typeface="Apple SD Gothic Neo"/>
                <a:ea typeface="Apple SD Gothic Neo"/>
                <a:cs typeface="Apple SD Gothic Neo"/>
              </a:defRPr>
            </a:lvl2pPr>
            <a:lvl3pPr>
              <a:defRPr sz="2025" b="1">
                <a:solidFill>
                  <a:srgbClr val="12786D"/>
                </a:solidFill>
                <a:latin typeface="Apple SD Gothic Neo"/>
                <a:ea typeface="Apple SD Gothic Neo"/>
                <a:cs typeface="Apple SD Gothic Neo"/>
              </a:defRPr>
            </a:lvl3pPr>
            <a:lvl4pPr>
              <a:defRPr sz="2025" b="1">
                <a:solidFill>
                  <a:srgbClr val="12786D"/>
                </a:solidFill>
                <a:latin typeface="Apple SD Gothic Neo"/>
                <a:ea typeface="Apple SD Gothic Neo"/>
                <a:cs typeface="Apple SD Gothic Neo"/>
              </a:defRPr>
            </a:lvl4pPr>
            <a:lvl5pPr>
              <a:defRPr sz="2025" b="1">
                <a:solidFill>
                  <a:srgbClr val="12786D"/>
                </a:solidFill>
                <a:latin typeface="Apple SD Gothic Neo"/>
                <a:ea typeface="Apple SD Gothic Neo"/>
                <a:cs typeface="Apple SD Gothic Neo"/>
              </a:defRPr>
            </a:lvl5pPr>
            <a:lvl6pPr>
              <a:defRPr sz="2025" b="1">
                <a:solidFill>
                  <a:srgbClr val="12786D"/>
                </a:solidFill>
                <a:latin typeface="Apple SD Gothic Neo"/>
                <a:ea typeface="Apple SD Gothic Neo"/>
                <a:cs typeface="Apple SD Gothic Neo"/>
              </a:defRPr>
            </a:lvl6pPr>
            <a:lvl7pPr>
              <a:defRPr sz="2025" b="1">
                <a:solidFill>
                  <a:srgbClr val="12786D"/>
                </a:solidFill>
                <a:latin typeface="Apple SD Gothic Neo"/>
                <a:ea typeface="Apple SD Gothic Neo"/>
                <a:cs typeface="Apple SD Gothic Neo"/>
              </a:defRPr>
            </a:lvl7pPr>
            <a:lvl8pPr>
              <a:defRPr sz="2025" b="1">
                <a:solidFill>
                  <a:srgbClr val="12786D"/>
                </a:solidFill>
                <a:latin typeface="Apple SD Gothic Neo"/>
                <a:ea typeface="Apple SD Gothic Neo"/>
                <a:cs typeface="Apple SD Gothic Neo"/>
              </a:defRPr>
            </a:lvl8pPr>
            <a:lvl9pPr>
              <a:defRPr sz="2025" b="1">
                <a:solidFill>
                  <a:srgbClr val="12786D"/>
                </a:solidFill>
                <a:latin typeface="Apple SD Gothic Neo"/>
                <a:ea typeface="Apple SD Gothic Neo"/>
                <a:cs typeface="Apple SD Gothic Neo"/>
              </a:defRPr>
            </a:lvl9pPr>
          </a:lstStyle>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실제 실행</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log-service → disk-full</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유사도 0.673</a:t>
            </a:r>
          </a:p>
        </p:txBody>
      </p:sp>
      <p:sp>
        <p:nvSpPr>
          <p:cNvPr id="8" name="">
            <a:extLst xmlns:a="http://schemas.openxmlformats.org/drawingml/2006/main">
              <a:ext uri="{FF2B5EF4-FFF2-40B4-BE49-F238E27FC236}">
                <a16:creationId xmlns:a16="http://schemas.microsoft.com/office/drawing/2014/main" id="{AE0DAD1C-686F-4865-8DB6-20EC40A898B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22</a:t>
            </a:r>
          </a:p>
        </p:txBody>
      </p:sp>
    </p:spTree>
    <p:extLst>
      <p:ext uri="{BB962C8B-B14F-4D97-AF65-F5344CB8AC3E}">
        <p14:creationId xmlns:p14="http://schemas.microsoft.com/office/powerpoint/2010/main" val="10999104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581F0A-E3CE-40C6-9904-024D1B2ABDAF}"/>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추가 2 · 답변에 사용한 근거를 화면에 표시한다</a:t>
            </a:r>
          </a:p>
        </p:txBody>
      </p:sp>
      <p:pic>
        <p:nvPicPr>
          <p:cNvPr id="2" name="">
            <a:extLst xmlns:a="http://schemas.openxmlformats.org/drawingml/2006/main">
              <a:ext uri="{FF2B5EF4-FFF2-40B4-BE49-F238E27FC236}">
                <a16:creationId xmlns:a16="http://schemas.microsoft.com/office/drawing/2014/main" id="{F249AAE0-3758-4FEA-929B-FACB40810D9B}"/>
              </a:ext>
            </a:extLst>
          </p:cNvPr>
          <p:cNvPicPr>
            <a:picLocks xmlns:a="http://schemas.openxmlformats.org/drawingml/2006/main" noChangeAspect="1"/>
          </p:cNvPicPr>
          <p:nvPr/>
        </p:nvPicPr>
        <p:blipFill>
          <a:blip xmlns:r="http://schemas.openxmlformats.org/officeDocument/2006/relationships" xmlns:a="http://schemas.openxmlformats.org/drawingml/2006/main" r:embed="R46b9ccc5144441ce"/>
          <a:stretch xmlns:a="http://schemas.openxmlformats.org/drawingml/2006/main"/>
        </p:blipFill>
        <p:spPr>
          <a:xfrm xmlns:a="http://schemas.openxmlformats.org/drawingml/2006/main">
            <a:off x="304800" y="14077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F40CBD6-CFB8-4388-B9CC-FB1CF8B85B71}"/>
              </a:ext>
            </a:extLst>
          </p:cNvPr>
          <p:cNvSpPr>
            <a:spLocks xmlns:a="http://schemas.openxmlformats.org/drawingml/2006/main" noGrp="1"/>
          </p:cNvSpPr>
          <p:nvPr/>
        </p:nvSpPr>
        <p:spPr>
          <a:xfrm xmlns:a="http://schemas.openxmlformats.org/drawingml/2006/main">
            <a:off x="8439150" y="10668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503C5ABB-AE58-4285-A9C5-ACC070D61D84}"/>
              </a:ext>
            </a:extLst>
          </p:cNvPr>
          <p:cNvSpPr>
            <a:spLocks xmlns:a="http://schemas.openxmlformats.org/drawingml/2006/main" noGrp="1"/>
          </p:cNvSpPr>
          <p:nvPr/>
        </p:nvSpPr>
        <p:spPr>
          <a:xfrm xmlns:a="http://schemas.openxmlformats.org/drawingml/2006/main">
            <a:off x="8439150" y="15716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1. 수집 객체를 최종 이벤트에 포함</a:t>
            </a:r>
          </a:p>
        </p:txBody>
      </p:sp>
      <p:sp>
        <p:nvSpPr>
          <p:cNvPr id="5" name="">
            <a:extLst xmlns:a="http://schemas.openxmlformats.org/drawingml/2006/main">
              <a:ext uri="{FF2B5EF4-FFF2-40B4-BE49-F238E27FC236}">
                <a16:creationId xmlns:a16="http://schemas.microsoft.com/office/drawing/2014/main" id="{0BCCA8A6-FBCF-4A0A-9405-C8CB73F1C9B2}"/>
              </a:ext>
            </a:extLst>
          </p:cNvPr>
          <p:cNvSpPr>
            <a:spLocks xmlns:a="http://schemas.openxmlformats.org/drawingml/2006/main" noGrp="1"/>
          </p:cNvSpPr>
          <p:nvPr/>
        </p:nvSpPr>
        <p:spPr>
          <a:xfrm xmlns:a="http://schemas.openxmlformats.org/drawingml/2006/main">
            <a:off x="8439150" y="24479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2. 서비스·수치·문서를</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표로 표시</a:t>
            </a:r>
          </a:p>
        </p:txBody>
      </p:sp>
      <p:sp>
        <p:nvSpPr>
          <p:cNvPr id="6" name="">
            <a:extLst xmlns:a="http://schemas.openxmlformats.org/drawingml/2006/main">
              <a:ext uri="{FF2B5EF4-FFF2-40B4-BE49-F238E27FC236}">
                <a16:creationId xmlns:a16="http://schemas.microsoft.com/office/drawing/2014/main" id="{C173D7A7-1EC2-4241-93D8-EC11F5AFD900}"/>
              </a:ext>
            </a:extLst>
          </p:cNvPr>
          <p:cNvSpPr>
            <a:spLocks xmlns:a="http://schemas.openxmlformats.org/drawingml/2006/main" noGrp="1"/>
          </p:cNvSpPr>
          <p:nvPr/>
        </p:nvSpPr>
        <p:spPr>
          <a:xfrm xmlns:a="http://schemas.openxmlformats.org/drawingml/2006/main">
            <a:off x="8439150" y="33242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3. 미확인 항목과</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조치 미실행 표시</a:t>
            </a:r>
          </a:p>
        </p:txBody>
      </p:sp>
      <p:sp>
        <p:nvSpPr>
          <p:cNvPr id="7" name="">
            <a:extLst xmlns:a="http://schemas.openxmlformats.org/drawingml/2006/main">
              <a:ext uri="{FF2B5EF4-FFF2-40B4-BE49-F238E27FC236}">
                <a16:creationId xmlns:a16="http://schemas.microsoft.com/office/drawing/2014/main" id="{39B61DD3-974A-4989-8059-80A8E3BB946F}"/>
              </a:ext>
            </a:extLst>
          </p:cNvPr>
          <p:cNvSpPr>
            <a:spLocks xmlns:a="http://schemas.openxmlformats.org/drawingml/2006/main" noGrp="1"/>
          </p:cNvSpPr>
          <p:nvPr/>
        </p:nvSpPr>
        <p:spPr>
          <a:xfrm xmlns:a="http://schemas.openxmlformats.org/drawingml/2006/main">
            <a:off x="8439150" y="4695825"/>
            <a:ext cx="32956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2786D"/>
                </a:solidFill>
                <a:latin typeface="Apple SD Gothic Neo"/>
                <a:ea typeface="Apple SD Gothic Neo"/>
                <a:cs typeface="Apple SD Gothic Neo"/>
              </a:defRPr>
            </a:defPPr>
            <a:lvl1pPr>
              <a:defRPr sz="2025" b="1">
                <a:solidFill>
                  <a:srgbClr val="12786D"/>
                </a:solidFill>
                <a:latin typeface="Apple SD Gothic Neo"/>
                <a:ea typeface="Apple SD Gothic Neo"/>
                <a:cs typeface="Apple SD Gothic Neo"/>
              </a:defRPr>
            </a:lvl1pPr>
            <a:lvl2pPr>
              <a:defRPr sz="2025" b="1">
                <a:solidFill>
                  <a:srgbClr val="12786D"/>
                </a:solidFill>
                <a:latin typeface="Apple SD Gothic Neo"/>
                <a:ea typeface="Apple SD Gothic Neo"/>
                <a:cs typeface="Apple SD Gothic Neo"/>
              </a:defRPr>
            </a:lvl2pPr>
            <a:lvl3pPr>
              <a:defRPr sz="2025" b="1">
                <a:solidFill>
                  <a:srgbClr val="12786D"/>
                </a:solidFill>
                <a:latin typeface="Apple SD Gothic Neo"/>
                <a:ea typeface="Apple SD Gothic Neo"/>
                <a:cs typeface="Apple SD Gothic Neo"/>
              </a:defRPr>
            </a:lvl3pPr>
            <a:lvl4pPr>
              <a:defRPr sz="2025" b="1">
                <a:solidFill>
                  <a:srgbClr val="12786D"/>
                </a:solidFill>
                <a:latin typeface="Apple SD Gothic Neo"/>
                <a:ea typeface="Apple SD Gothic Neo"/>
                <a:cs typeface="Apple SD Gothic Neo"/>
              </a:defRPr>
            </a:lvl4pPr>
            <a:lvl5pPr>
              <a:defRPr sz="2025" b="1">
                <a:solidFill>
                  <a:srgbClr val="12786D"/>
                </a:solidFill>
                <a:latin typeface="Apple SD Gothic Neo"/>
                <a:ea typeface="Apple SD Gothic Neo"/>
                <a:cs typeface="Apple SD Gothic Neo"/>
              </a:defRPr>
            </a:lvl5pPr>
            <a:lvl6pPr>
              <a:defRPr sz="2025" b="1">
                <a:solidFill>
                  <a:srgbClr val="12786D"/>
                </a:solidFill>
                <a:latin typeface="Apple SD Gothic Neo"/>
                <a:ea typeface="Apple SD Gothic Neo"/>
                <a:cs typeface="Apple SD Gothic Neo"/>
              </a:defRPr>
            </a:lvl6pPr>
            <a:lvl7pPr>
              <a:defRPr sz="2025" b="1">
                <a:solidFill>
                  <a:srgbClr val="12786D"/>
                </a:solidFill>
                <a:latin typeface="Apple SD Gothic Neo"/>
                <a:ea typeface="Apple SD Gothic Neo"/>
                <a:cs typeface="Apple SD Gothic Neo"/>
              </a:defRPr>
            </a:lvl7pPr>
            <a:lvl8pPr>
              <a:defRPr sz="2025" b="1">
                <a:solidFill>
                  <a:srgbClr val="12786D"/>
                </a:solidFill>
                <a:latin typeface="Apple SD Gothic Neo"/>
                <a:ea typeface="Apple SD Gothic Neo"/>
                <a:cs typeface="Apple SD Gothic Neo"/>
              </a:defRPr>
            </a:lvl8pPr>
            <a:lvl9pPr>
              <a:defRPr sz="2025" b="1">
                <a:solidFill>
                  <a:srgbClr val="12786D"/>
                </a:solidFill>
                <a:latin typeface="Apple SD Gothic Neo"/>
                <a:ea typeface="Apple SD Gothic Neo"/>
                <a:cs typeface="Apple SD Gothic Neo"/>
              </a:defRPr>
            </a:lvl9pPr>
          </a:lstStyle>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실제 실행</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web: 매뉴얼 없음</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auth: 지연 매뉴얼</a:t>
            </a:r>
          </a:p>
        </p:txBody>
      </p:sp>
      <p:sp>
        <p:nvSpPr>
          <p:cNvPr id="8" name="">
            <a:extLst xmlns:a="http://schemas.openxmlformats.org/drawingml/2006/main">
              <a:ext uri="{FF2B5EF4-FFF2-40B4-BE49-F238E27FC236}">
                <a16:creationId xmlns:a16="http://schemas.microsoft.com/office/drawing/2014/main" id="{DE12E0F8-9B0C-4C8B-9215-D5E6172B6936}"/>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23</a:t>
            </a:r>
          </a:p>
        </p:txBody>
      </p:sp>
    </p:spTree>
    <p:extLst>
      <p:ext uri="{BB962C8B-B14F-4D97-AF65-F5344CB8AC3E}">
        <p14:creationId xmlns:p14="http://schemas.microsoft.com/office/powerpoint/2010/main" val="20729791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D1A623-CED6-405D-99B4-0003FAEDBB32}"/>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추가 3 · 회귀 테스트와 전후 비교를 재현한다</a:t>
            </a:r>
          </a:p>
        </p:txBody>
      </p:sp>
      <p:pic>
        <p:nvPicPr>
          <p:cNvPr id="2" name="">
            <a:extLst xmlns:a="http://schemas.openxmlformats.org/drawingml/2006/main">
              <a:ext uri="{FF2B5EF4-FFF2-40B4-BE49-F238E27FC236}">
                <a16:creationId xmlns:a16="http://schemas.microsoft.com/office/drawing/2014/main" id="{1CDF8545-95FC-4109-B2F0-C1E5562BA4AA}"/>
              </a:ext>
            </a:extLst>
          </p:cNvPr>
          <p:cNvPicPr>
            <a:picLocks xmlns:a="http://schemas.openxmlformats.org/drawingml/2006/main" noChangeAspect="1"/>
          </p:cNvPicPr>
          <p:nvPr/>
        </p:nvPicPr>
        <p:blipFill>
          <a:blip xmlns:r="http://schemas.openxmlformats.org/officeDocument/2006/relationships" xmlns:a="http://schemas.openxmlformats.org/drawingml/2006/main" r:embed="R6b588af323844e20"/>
          <a:stretch xmlns:a="http://schemas.openxmlformats.org/drawingml/2006/main"/>
        </p:blipFill>
        <p:spPr>
          <a:xfrm xmlns:a="http://schemas.openxmlformats.org/drawingml/2006/main">
            <a:off x="1236133" y="819150"/>
            <a:ext cx="9719733"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AF8E541-2B87-4066-A492-A6D48696D82E}"/>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고정 질문·지표로 전후 실행하고, 실제 조회·문서·시간을 기록해 비교</a:t>
            </a:r>
          </a:p>
        </p:txBody>
      </p:sp>
      <p:sp>
        <p:nvSpPr>
          <p:cNvPr id="4" name="">
            <a:extLst xmlns:a="http://schemas.openxmlformats.org/drawingml/2006/main">
              <a:ext uri="{FF2B5EF4-FFF2-40B4-BE49-F238E27FC236}">
                <a16:creationId xmlns:a16="http://schemas.microsoft.com/office/drawing/2014/main" id="{843CB724-BBD1-41D4-9593-DF8A2DC0D930}"/>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24</a:t>
            </a:r>
          </a:p>
        </p:txBody>
      </p:sp>
    </p:spTree>
    <p:extLst>
      <p:ext uri="{BB962C8B-B14F-4D97-AF65-F5344CB8AC3E}">
        <p14:creationId xmlns:p14="http://schemas.microsoft.com/office/powerpoint/2010/main" val="44939079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E3418A0-E70A-46CC-BA32-9CDA105E0815}"/>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측정 기준과 전후 결과</a:t>
            </a:r>
          </a:p>
        </p:txBody>
      </p:sp>
      <p:pic>
        <p:nvPicPr>
          <p:cNvPr id="2" name="">
            <a:extLst xmlns:a="http://schemas.openxmlformats.org/drawingml/2006/main">
              <a:ext uri="{FF2B5EF4-FFF2-40B4-BE49-F238E27FC236}">
                <a16:creationId xmlns:a16="http://schemas.microsoft.com/office/drawing/2014/main" id="{E2ED06F0-0786-4BC9-BFC8-9B2FE6B302C2}"/>
              </a:ext>
            </a:extLst>
          </p:cNvPr>
          <p:cNvPicPr>
            <a:picLocks xmlns:a="http://schemas.openxmlformats.org/drawingml/2006/main" noChangeAspect="1"/>
          </p:cNvPicPr>
          <p:nvPr/>
        </p:nvPicPr>
        <p:blipFill>
          <a:blip xmlns:r="http://schemas.openxmlformats.org/officeDocument/2006/relationships" xmlns:a="http://schemas.openxmlformats.org/drawingml/2006/main" r:embed="Redefd082a55b4b28"/>
          <a:stretch xmlns:a="http://schemas.openxmlformats.org/drawingml/2006/main"/>
        </p:blipFill>
        <p:spPr>
          <a:xfrm xmlns:a="http://schemas.openxmlformats.org/drawingml/2006/main">
            <a:off x="1236133" y="819150"/>
            <a:ext cx="9719733"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A95D05C-82C9-479E-8776-C7767961BA6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25</a:t>
            </a:r>
          </a:p>
        </p:txBody>
      </p:sp>
    </p:spTree>
    <p:extLst>
      <p:ext uri="{BB962C8B-B14F-4D97-AF65-F5344CB8AC3E}">
        <p14:creationId xmlns:p14="http://schemas.microsoft.com/office/powerpoint/2010/main" val="206724152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CF1292-2F88-4BD0-9F64-AADBA6B2FDBC}"/>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요청 대상·답변 근거·조건을 맞추도록 개선했다</a:t>
            </a:r>
          </a:p>
        </p:txBody>
      </p:sp>
      <p:graphicFrame>
        <p:nvGraphicFramePr>
          <p:cNvPr id="2" name="">
            <a:extLst xmlns:a="http://schemas.openxmlformats.org/drawingml/2006/main">
              <a:ext uri="{FF2B5EF4-FFF2-40B4-BE49-F238E27FC236}">
                <a16:creationId xmlns:a16="http://schemas.microsoft.com/office/drawing/2014/main" id="{04F6390A-A5DE-4B41-B7FA-1E1A32B5C921}"/>
              </a:ext>
            </a:extLst>
          </p:cNvPr>
          <p:cNvGraphicFramePr/>
          <p:nvPr/>
        </p:nvGraphicFramePr>
        <p:xfrm>
          <a:off xmlns:a="http://schemas.openxmlformats.org/drawingml/2006/main" x="457200" y="1428750"/>
          <a:ext xmlns:a="http://schemas.openxmlformats.org/drawingml/2006/main" cx="11277600" cy="3190875"/>
        </p:xfrm>
        <a:graphic xmlns:a="http://schemas.openxmlformats.org/drawingml/2006/main">
          <a:graphicData uri="http://schemas.openxmlformats.org/drawingml/2006/table">
            <a:tbl>
              <a:tblPr/>
              <a:tblGrid>
                <a:gridCol w="3238500"/>
                <a:gridCol w="8039100"/>
              </a:tblGrid>
              <a:tr h="797719">
                <a:tc>
                  <a:txBody>
                    <a:bodyPr/>
                    <a:lstStyle/>
                    <a:p>
                      <a:r>
                        <a:rPr sz="2100" b="1">
                          <a:solidFill>
                            <a:srgbClr val="12786D"/>
                          </a:solidFill>
                          <a:latin typeface="Apple SD Gothic Neo"/>
                          <a:ea typeface="Apple SD Gothic Neo"/>
                          <a:cs typeface="Apple SD Gothic Neo"/>
                        </a:rPr>
                        <a:t>선택</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한계·대가</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797719">
                <a:tc>
                  <a:txBody>
                    <a:bodyPr/>
                    <a:lstStyle/>
                    <a:p>
                      <a:r>
                        <a:rPr sz="2100" b="0">
                          <a:solidFill>
                            <a:srgbClr val="172E40"/>
                          </a:solidFill>
                          <a:latin typeface="Apple SD Gothic Neo"/>
                          <a:ea typeface="Apple SD Gothic Neo"/>
                          <a:cs typeface="Apple SD Gothic Neo"/>
                        </a:rPr>
                        <a:t>문서 6개·모의 지표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검색 지연·오검색, 운영 성능 미검증</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구조화·원문 출력</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자유로운 종합 설명 범위 제한</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생성·시간 상한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일부 요청은 확인된 사실 안내로 종료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EAA438E-1C0F-4089-99B3-544936A3CE2D}"/>
              </a:ext>
            </a:extLst>
          </p:cNvPr>
          <p:cNvSpPr>
            <a:spLocks xmlns:a="http://schemas.openxmlformats.org/drawingml/2006/main" noGrp="1"/>
          </p:cNvSpPr>
          <p:nvPr/>
        </p:nvSpPr>
        <p:spPr>
          <a:xfrm xmlns:a="http://schemas.openxmlformats.org/drawingml/2006/main">
            <a:off x="457200" y="5200650"/>
            <a:ext cx="11277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2786D"/>
                </a:solidFill>
                <a:latin typeface="Apple SD Gothic Neo"/>
                <a:ea typeface="Apple SD Gothic Neo"/>
                <a:cs typeface="Apple SD Gothic Neo"/>
              </a:defRPr>
            </a:defPPr>
            <a:lvl1pPr>
              <a:defRPr sz="2100" b="1">
                <a:solidFill>
                  <a:srgbClr val="12786D"/>
                </a:solidFill>
                <a:latin typeface="Apple SD Gothic Neo"/>
                <a:ea typeface="Apple SD Gothic Neo"/>
                <a:cs typeface="Apple SD Gothic Neo"/>
              </a:defRPr>
            </a:lvl1pPr>
            <a:lvl2pPr>
              <a:defRPr sz="2100" b="1">
                <a:solidFill>
                  <a:srgbClr val="12786D"/>
                </a:solidFill>
                <a:latin typeface="Apple SD Gothic Neo"/>
                <a:ea typeface="Apple SD Gothic Neo"/>
                <a:cs typeface="Apple SD Gothic Neo"/>
              </a:defRPr>
            </a:lvl2pPr>
            <a:lvl3pPr>
              <a:defRPr sz="2100" b="1">
                <a:solidFill>
                  <a:srgbClr val="12786D"/>
                </a:solidFill>
                <a:latin typeface="Apple SD Gothic Neo"/>
                <a:ea typeface="Apple SD Gothic Neo"/>
                <a:cs typeface="Apple SD Gothic Neo"/>
              </a:defRPr>
            </a:lvl3pPr>
            <a:lvl4pPr>
              <a:defRPr sz="2100" b="1">
                <a:solidFill>
                  <a:srgbClr val="12786D"/>
                </a:solidFill>
                <a:latin typeface="Apple SD Gothic Neo"/>
                <a:ea typeface="Apple SD Gothic Neo"/>
                <a:cs typeface="Apple SD Gothic Neo"/>
              </a:defRPr>
            </a:lvl4pPr>
            <a:lvl5pPr>
              <a:defRPr sz="2100" b="1">
                <a:solidFill>
                  <a:srgbClr val="12786D"/>
                </a:solidFill>
                <a:latin typeface="Apple SD Gothic Neo"/>
                <a:ea typeface="Apple SD Gothic Neo"/>
                <a:cs typeface="Apple SD Gothic Neo"/>
              </a:defRPr>
            </a:lvl5pPr>
            <a:lvl6pPr>
              <a:defRPr sz="2100" b="1">
                <a:solidFill>
                  <a:srgbClr val="12786D"/>
                </a:solidFill>
                <a:latin typeface="Apple SD Gothic Neo"/>
                <a:ea typeface="Apple SD Gothic Neo"/>
                <a:cs typeface="Apple SD Gothic Neo"/>
              </a:defRPr>
            </a:lvl6pPr>
            <a:lvl7pPr>
              <a:defRPr sz="2100" b="1">
                <a:solidFill>
                  <a:srgbClr val="12786D"/>
                </a:solidFill>
                <a:latin typeface="Apple SD Gothic Neo"/>
                <a:ea typeface="Apple SD Gothic Neo"/>
                <a:cs typeface="Apple SD Gothic Neo"/>
              </a:defRPr>
            </a:lvl7pPr>
            <a:lvl8pPr>
              <a:defRPr sz="2100" b="1">
                <a:solidFill>
                  <a:srgbClr val="12786D"/>
                </a:solidFill>
                <a:latin typeface="Apple SD Gothic Neo"/>
                <a:ea typeface="Apple SD Gothic Neo"/>
                <a:cs typeface="Apple SD Gothic Neo"/>
              </a:defRPr>
            </a:lvl8pPr>
            <a:lvl9pPr>
              <a:defRPr sz="2100" b="1">
                <a:solidFill>
                  <a:srgbClr val="12786D"/>
                </a:solidFill>
                <a:latin typeface="Apple SD Gothic Neo"/>
                <a:ea typeface="Apple SD Gothic Neo"/>
                <a:cs typeface="Apple SD Gothic Neo"/>
              </a:defRPr>
            </a:lvl9pPr>
          </a:lstStyle>
          <a:p xmlns:a="http://schemas.openxmlformats.org/drawingml/2006/main">
            <a:pPr>
              <a:defRPr sz="2100" b="1">
                <a:solidFill>
                  <a:srgbClr val="12786D"/>
                </a:solidFill>
                <a:latin typeface="Apple SD Gothic Neo"/>
                <a:ea typeface="Apple SD Gothic Neo"/>
                <a:cs typeface="Apple SD Gothic Neo"/>
              </a:defRPr>
            </a:pPr>
            <a:r>
              <a:rPr sz="2100" b="1">
                <a:solidFill>
                  <a:srgbClr val="12786D"/>
                </a:solidFill>
                <a:latin typeface="Apple SD Gothic Neo"/>
                <a:ea typeface="Apple SD Gothic Neo"/>
                <a:cs typeface="Apple SD Gothic Neo"/>
              </a:rPr>
              <a:t>다음 단계  실제 로그·시계열·의존 관계와 독립 질문 검증</a:t>
            </a:r>
          </a:p>
        </p:txBody>
      </p:sp>
      <p:sp>
        <p:nvSpPr>
          <p:cNvPr id="4" name="">
            <a:extLst xmlns:a="http://schemas.openxmlformats.org/drawingml/2006/main">
              <a:ext uri="{FF2B5EF4-FFF2-40B4-BE49-F238E27FC236}">
                <a16:creationId xmlns:a16="http://schemas.microsoft.com/office/drawing/2014/main" id="{81716ECA-EAC5-4A53-83C4-E68B110F11E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26</a:t>
            </a:r>
          </a:p>
        </p:txBody>
      </p:sp>
    </p:spTree>
    <p:extLst>
      <p:ext uri="{BB962C8B-B14F-4D97-AF65-F5344CB8AC3E}">
        <p14:creationId xmlns:p14="http://schemas.microsoft.com/office/powerpoint/2010/main" val="1404147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2026-10-22T00:22:53.9950000Z</dcterms:created>
  <dcterms:modified xsi:type="dcterms:W3CDTF">2026-10-22T00:22:53.9950000Z</dcterms:modified>
</coreProperties>
</file>