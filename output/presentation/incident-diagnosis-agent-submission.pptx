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Arimo Bold" charset="1" panose="020B0704020202020204"/>
      <p:regular r:id="rId44"/>
    </p:embeddedFont>
    <p:embeddedFont>
      <p:font typeface="Arimo" charset="1" panose="020B0604020202020204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notesMasters/notesMaster1.xml" Type="http://schemas.openxmlformats.org/officeDocument/2006/relationships/notesMaster"/><Relationship Id="rId42" Target="theme/theme2.xml" Type="http://schemas.openxmlformats.org/officeDocument/2006/relationships/theme"/><Relationship Id="rId43" Target="notesSlides/notesSlide1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notesSlides/notesSlide2.xml" Type="http://schemas.openxmlformats.org/officeDocument/2006/relationships/notesSlide"/><Relationship Id="rId47" Target="notesSlides/notesSlide3.xml" Type="http://schemas.openxmlformats.org/officeDocument/2006/relationships/notesSlide"/><Relationship Id="rId48" Target="notesSlides/notesSlide4.xml" Type="http://schemas.openxmlformats.org/officeDocument/2006/relationships/notesSlide"/><Relationship Id="rId49" Target="notesSlides/notesSlide5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6.xml" Type="http://schemas.openxmlformats.org/officeDocument/2006/relationships/notesSlide"/><Relationship Id="rId51" Target="notesSlides/notesSlide7.xml" Type="http://schemas.openxmlformats.org/officeDocument/2006/relationships/notesSlide"/><Relationship Id="rId52" Target="notesSlides/notesSlide8.xml" Type="http://schemas.openxmlformats.org/officeDocument/2006/relationships/notesSlide"/><Relationship Id="rId53" Target="notesSlides/notesSlide9.xml" Type="http://schemas.openxmlformats.org/officeDocument/2006/relationships/notesSlide"/><Relationship Id="rId54" Target="notesSlides/notesSlide10.xml" Type="http://schemas.openxmlformats.org/officeDocument/2006/relationships/notesSlide"/><Relationship Id="rId55" Target="notesSlides/notesSlide11.xml" Type="http://schemas.openxmlformats.org/officeDocument/2006/relationships/notesSlide"/><Relationship Id="rId56" Target="notesSlides/notesSlide12.xml" Type="http://schemas.openxmlformats.org/officeDocument/2006/relationships/notesSlide"/><Relationship Id="rId57" Target="notesSlides/notesSlide13.xml" Type="http://schemas.openxmlformats.org/officeDocument/2006/relationships/notesSlide"/><Relationship Id="rId58" Target="notesSlides/notesSlide14.xml" Type="http://schemas.openxmlformats.org/officeDocument/2006/relationships/notesSlide"/><Relationship Id="rId59" Target="notesSlides/notesSlide15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6.xml" Type="http://schemas.openxmlformats.org/officeDocument/2006/relationships/notesSlide"/><Relationship Id="rId61" Target="notesSlides/notesSlide17.xml" Type="http://schemas.openxmlformats.org/officeDocument/2006/relationships/notesSlide"/><Relationship Id="rId62" Target="notesSlides/notesSlide18.xml" Type="http://schemas.openxmlformats.org/officeDocument/2006/relationships/notesSlide"/><Relationship Id="rId63" Target="notesSlides/notesSlide19.xml" Type="http://schemas.openxmlformats.org/officeDocument/2006/relationships/notesSlide"/><Relationship Id="rId64" Target="notesSlides/notesSlide20.xml" Type="http://schemas.openxmlformats.org/officeDocument/2006/relationships/notesSlide"/><Relationship Id="rId65" Target="notesSlides/notesSlide21.xml" Type="http://schemas.openxmlformats.org/officeDocument/2006/relationships/notesSlide"/><Relationship Id="rId66" Target="notesSlides/notesSlide22.xml" Type="http://schemas.openxmlformats.org/officeDocument/2006/relationships/notesSlide"/><Relationship Id="rId67" Target="notesSlides/notesSlide23.xml" Type="http://schemas.openxmlformats.org/officeDocument/2006/relationships/notesSlide"/><Relationship Id="rId68" Target="notesSlides/notesSlide24.xml" Type="http://schemas.openxmlformats.org/officeDocument/2006/relationships/notesSlide"/><Relationship Id="rId69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6.xml" Type="http://schemas.openxmlformats.org/officeDocument/2006/relationships/notesSlide"/><Relationship Id="rId71" Target="notesSlides/notesSlide27.xml" Type="http://schemas.openxmlformats.org/officeDocument/2006/relationships/notesSlide"/><Relationship Id="rId72" Target="notesSlides/notesSlide28.xml" Type="http://schemas.openxmlformats.org/officeDocument/2006/relationships/notesSlide"/><Relationship Id="rId73" Target="notesSlides/notesSlide29.xml" Type="http://schemas.openxmlformats.org/officeDocument/2006/relationships/notesSlide"/><Relationship Id="rId74" Target="notesSlides/notesSlide30.xml" Type="http://schemas.openxmlformats.org/officeDocument/2006/relationships/notesSlide"/><Relationship Id="rId75" Target="notesSlides/notesSlide31.xml" Type="http://schemas.openxmlformats.org/officeDocument/2006/relationships/notesSlide"/><Relationship Id="rId76" Target="notesSlides/notesSlide32.xml" Type="http://schemas.openxmlformats.org/officeDocument/2006/relationships/notesSlide"/><Relationship Id="rId77" Target="notesSlides/notesSlide33.xml" Type="http://schemas.openxmlformats.org/officeDocument/2006/relationships/notesSlide"/><Relationship Id="rId78" Target="notesSlides/notesSlide34.xml" Type="http://schemas.openxmlformats.org/officeDocument/2006/relationships/notesSlide"/><Relationship Id="rId79" Target="notesSlides/notesSlide35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안녕하세요. 실습 1번, 베이스 프로젝트 개선을 선택한 이진형입니다.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베이스 프로젝트는 서비스 이름과 장애 증상을 입력하면 모니터링 지표와 대응 매뉴얼을 조회해서 진단 보고서를 보여주는 AI 에이전트입니다. 저는 이 과정에서 요청한 대상을 제대로 조사하고, 확인한 근거에 맞게 답변하는지를 살펴봤습니다.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예제 질문을 실행해 보니 크게 네 가지 문제가 있었습니다. 여러 서비스 중 일부만 조사하거나, 모르는 서비스를 다른 서비스로 바꾸고, 정상 상태에 장애 매뉴얼을 붙이거나, 확인하지 않은 내용을 답하는 문제였습니다. 이 네 가지를 개선하고, RAG 검색과 답변 근거 표시, 회귀 테스트와 전후 비교 기능을 추가했습니다. 실제 화면으로 보여드리겠습니다.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먼저 결제와 캐시 서비스의 공통 원인을 물은 결과입니다. 질문에는 두 서비스가 있는데 수집된 사실에는 결제 서비스만 있습니다. 그런데 답변에서는 캐시까지 포함해서 공통 원인을 추정했습니다.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그래서 모델이 만든 계획을 그대로 실행하는 대신, 요청에서 확인한 서비스마다 조회 작업을 만들도록 수정했습니다. 여기 반복문이 두 서비스의 조사를 모두 포함하는 부분입니다.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같은 질문을 다시 입력하니 결제와 캐시를 각각 조회합니다.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답변에서도 두 서비스의 결과를 보여줍니다. 다만 공통 원인을 판단할 로그나 의존 관계는 없기 때문에, 이 부분은 미확인으로 남겼습니다.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게이트웨이에서 결제로 가는 요청이 타임아웃 난다는 질문도 기존에는 게이트웨이만 조회했습니다.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같은 개선을 적용한 뒤에는 요청을 보내는 쪽과 받는 쪽을 모두 조회합니다.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각 서비스의 알림을 따로 보여주므로, 양쪽 상태를 확인하면서 추가로 조사할 부분을 구분할 수 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두 번째는 조사 대상이 바뀌는 문제입니다. billing-service를 물었는데 실제로는 auth-service를 조회했습니다. 모르는 이름을 기본 서비스로 대체하고 있었습니다.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 부분은 등록 목록과 요청문을 대조해서, 실제로 언급한 등록 서비스만 조사 대상으로 선택하도록 바꿨습니다.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이제 미등록 서비스는 다른 대상으로 바꾸지 않고 이름을 확인해 달라고 안내합니다.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서비스 이름 없이 로그인 응답이 느리다고 했을 때도 기존에는 auth-service를 가정했습니다.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수정한 코드에서는 조사 대상이 확인됐을 때만 계획 모델을 호출합니다.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그래서 서비스명이 없는 요청에도 먼저 이름을 확인하도록 바뀌었습니다. 확인 과정이 한 번 늘지만 잘못된 대상을 조사하는 일을 막습니다.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세 번째는 매뉴얼 선택입니다. web-01은 정상이고 알림도 없는데 DB 장애 매뉴얼이 붙었습니다. 함께 물어본 auth-service는 조사에서 빠졌습니다.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이를 고치기 위해 관측 상태를 먼저 구분하고, 장애 조사가 필요한 서비스만 매뉴얼을 검색하도록 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개선 후에는 정상인 web에는 장애 매뉴얼을 붙이지 않고, 지연 알림이 있는 auth에는 응답 지연 매뉴얼을 연결합니다.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네 번째는 근거 없는 답변입니다. CPU 질문의 기존 답변에는 로그 분석 결과 특이 패턴이 없다고 나옵니다. 하지만 실제로 로그를 조회한 기록은 없습니다.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그래서 모델이 보고서에 넣을 값을 구조화해서 선택하게 하고, 선택한 수치를 실제 관측값과 대조하도록 했습니다. 원인을 확정한 출력도 검사합니다.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이어서 매뉴얼과 절차 번호가 실제 수집한 문서에 있는지도 확인합니다.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검증을 통과한 절차는 원문으로 보여줍니다. 덕분에 CPU가 일정 수준을 넘고 지속되면 조치하라는 조건을 유지할 수 있습니다. 화면의 절차는 대응 안내이며, 서버 조치를 실제로 실행한 결과는 아닙니다.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일반 대화도 확인했습니다. 기존에는 사용자가 밝힌 이름인 민수를 비서 자신의 이름처럼 답했습니다.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사용자 발화에서 직접 말한 이름을 찾고, 이름 질문에 그 값을 답하도록 수정했습니다.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이제 같은 두 메시지를 입력하면 사용자 이름을 민수라고 답합니다.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 개선은 기존 LangGraph와 MCP 구조에 적용했습니다. 대상 확인과 수집, 검색, 검증을 모듈로 나눴고, 검색기는 의존성 주입으로 연결했습니다. 실제 실행과 고정 데이터 평가에서 검색 구현을 바꿔 사용할 수 있게 했습니다. 이어서 추가한 기능 세 가지를 보여드리겠습니다.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첫 번째는 RAG 검색입니다. bge-m3로 질문과 매뉴얼을 벡터화하고 유사도를 비교합니다. 문서 벡터는 SQLite에 저장해 재사용하고, 검색한 문서의 원문은 MCP로 가져옵니다.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실행 화면에서는 디스크 공간 부족 알림에 해당 매뉴얼이 연결됩니다. 표시된 0.673은 문서의 관련도 점수입니다.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두 번째는 근거 표시입니다. 실제 조회 결과에서 서비스와 관측값, 참고 문서를 꺼내 화면에 보낼 데이터를 만듭니다.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사용자는 이 화면에서 어떤 서비스를 조회했고 어떤 매뉴얼을 참고했는지 확인할 수 있습니다. 확인하지 못한 항목도 함께 표시합니다.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세 번째는 회귀 테스트와 전후 비교입니다. 위 코드는 CPU 수치를 바꾼 답변을 거절하는지 확인하는 테스트이고, 아래는 실제 조회 대상과 기대 대상을 비교하는 코드입니다.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단위 테스트 31개를 확인했고, 별도로 같은 질문 20개와 고정 지표를 사용해 개선 전후 실행 결과를 비교했습니다.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필요한 서비스 조회는 20건 중 17건에서 20건으로 늘었습니다. 질문별 조회 대상이 모두 맞은 경우는 20문항 중 15개에서 20개로, 매뉴얼 선택은 12문항 중 11개에서 12개로 늘었습니다. 이 수치는 조사 대상과 문서 선택을 평가한 결과입니다. 진단 전체가 100% 정확하다는 의미는 아닙니다. 처리 시간도 아래에 제시했지만, 생성 설정과 출력 방식도 바뀌어서 보조 지표로 봤습니다.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이번 평가는 매뉴얼 6개와 모의 지표를 사용해서 실제 운영 장애에 그대로 적용할 수는 없습니다. 검색을 추가하면 지연과 오검색이 생길 수 있고, 절차를 원문으로 보여주면 상황에 맞춘 종합 설명은 줄어듭니다. 다음에는 실제 로그와 새로운 질문으로 검증하고 싶습니다. 이상으로 발표를 마치겠습니다. 감사합니다.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0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5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9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0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22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23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24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25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26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27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28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29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30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962275"/>
            <a:ext cx="164592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0"/>
              </a:lnSpc>
            </a:pPr>
            <a:r>
              <a:rPr lang="en-US" sz="87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서비스 장애 진단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4419600"/>
            <a:ext cx="1645920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0"/>
              </a:lnSpc>
            </a:pPr>
            <a:r>
              <a:rPr lang="en-US" sz="87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AI 에이전트 개선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1550" y="6753225"/>
            <a:ext cx="1640205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조사 누락과 근거 없는 답변을 줄이는 개선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1550" y="9124950"/>
            <a:ext cx="100012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광주_1반_</a:t>
            </a:r>
            <a:r>
              <a:rPr lang="en-US" sz="292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이진형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1571625"/>
            <a:ext cx="169164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937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서비스 장애를 조사하는 AI 에이전트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2581275"/>
            <a:ext cx="169164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서비스 이름과 증상을 입력하면 모니터링 지표와 대응 매뉴얼을 조회합니다.</a:t>
            </a:r>
          </a:p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확인한 상태와 대응 절차를 정리해 진단 보고서로 보여줍니다.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85800" y="4229100"/>
          <a:ext cx="16897350" cy="3600450"/>
        </p:xfrm>
        <a:graphic>
          <a:graphicData uri="http://schemas.openxmlformats.org/drawingml/2006/table">
            <a:tbl>
              <a:tblPr/>
              <a:tblGrid>
                <a:gridCol w="4085543"/>
                <a:gridCol w="12811807"/>
              </a:tblGrid>
              <a:tr h="7477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 b="true">
                          <a:solidFill>
                            <a:srgbClr val="3155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구성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 b="true">
                          <a:solidFill>
                            <a:srgbClr val="3155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역할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9508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LLM·LangGraph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질문 분류·조사 계획·답변 작성·검증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8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MCP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모니터링 지표·대응 매뉴얼 조회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8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웹 채팅·SQLite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진행 상태·최종 답변 표시, 대화 이력 저장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685800" y="8467725"/>
            <a:ext cx="169164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요청한 대상을 조사하고, 확인한 근거로 답하도록 개선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조사 대상과 답변 근거를 맞추는 네 가지 개선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5800" y="1628775"/>
          <a:ext cx="16916400" cy="4933950"/>
        </p:xfrm>
        <a:graphic>
          <a:graphicData uri="http://schemas.openxmlformats.org/drawingml/2006/table">
            <a:tbl>
              <a:tblPr/>
              <a:tblGrid>
                <a:gridCol w="4303920"/>
                <a:gridCol w="12612480"/>
              </a:tblGrid>
              <a:tr h="748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 b="true">
                          <a:solidFill>
                            <a:srgbClr val="3155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확인한 문제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 b="true">
                          <a:solidFill>
                            <a:srgbClr val="3155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바꾼 동작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10463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다중 요청 누락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요청한 서비스를 빠짐없이 각각 조회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63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미등록·대상 없음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다른 서비스를 대신 조회하지 않고 확인 요청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63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부적절한 매뉴얼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서비스 상태와 실제 알림으로 문서 선택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63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근거 없는 분석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서비스·수치·절차를 수집 근거와 대조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85800" y="7267575"/>
            <a:ext cx="169164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추가 기능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8181975"/>
            <a:ext cx="53721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1. RAG 매뉴얼 검색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43650" y="8181975"/>
            <a:ext cx="53721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2. 답변 근거 표시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01500" y="8181975"/>
            <a:ext cx="53721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3. 회귀 테스트·전후 비교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개선 1 전: cache 조회 없이 공통 원인을 추정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12119" y="1485900"/>
            <a:ext cx="8920077" cy="7943850"/>
            <a:chOff x="0" y="0"/>
            <a:chExt cx="11893436" cy="10591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93423" cy="10591800"/>
            </a:xfrm>
            <a:custGeom>
              <a:avLst/>
              <a:gdLst/>
              <a:ahLst/>
              <a:cxnLst/>
              <a:rect r="r" b="b" t="t" l="l"/>
              <a:pathLst>
                <a:path h="10591800" w="11893423">
                  <a:moveTo>
                    <a:pt x="0" y="0"/>
                  </a:moveTo>
                  <a:lnTo>
                    <a:pt x="11893423" y="0"/>
                  </a:lnTo>
                  <a:lnTo>
                    <a:pt x="11893423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87200" y="1985963"/>
            <a:ext cx="57150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371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두 서비스를 요청했지만</a:t>
            </a:r>
          </a:p>
          <a:p>
            <a:pPr algn="l">
              <a:lnSpc>
                <a:spcPts val="4455"/>
              </a:lnSpc>
            </a:pPr>
            <a:r>
              <a:rPr lang="en-US" sz="371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payments만 조회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7200" y="4652962"/>
            <a:ext cx="571500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cache 지표와</a:t>
            </a:r>
          </a:p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공유 리소스 정보가 없음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7200" y="7496175"/>
            <a:ext cx="571500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BD4826"/>
                </a:solidFill>
                <a:latin typeface="Arimo Bold"/>
                <a:ea typeface="Arimo Bold"/>
                <a:cs typeface="Arimo Bold"/>
                <a:sym typeface="Arimo Bold"/>
              </a:rPr>
              <a:t>“트래픽 급증 또는</a:t>
            </a:r>
          </a:p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BD4826"/>
                </a:solidFill>
                <a:latin typeface="Arimo Bold"/>
                <a:ea typeface="Arimo Bold"/>
                <a:cs typeface="Arimo Bold"/>
                <a:sym typeface="Arimo Bold"/>
              </a:rPr>
              <a:t>특정 요청 패턴”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1 구현: 요청한 서비스마다 조회 작업 구성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1566862"/>
            <a:ext cx="16916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모델이 제안한 계획 대신, 확인한 서비스 목록으로 실제 조회 작업을 만듭니다.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5800" y="2728912"/>
            <a:ext cx="16916400" cy="6086475"/>
            <a:chOff x="0" y="0"/>
            <a:chExt cx="22555200" cy="8115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55200" cy="8115300"/>
            </a:xfrm>
            <a:custGeom>
              <a:avLst/>
              <a:gdLst/>
              <a:ahLst/>
              <a:cxnLst/>
              <a:rect r="r" b="b" t="t" l="l"/>
              <a:pathLst>
                <a:path h="811530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8115300"/>
                  </a:lnTo>
                  <a:lnTo>
                    <a:pt x="0" y="811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9282112"/>
            <a:ext cx="1625917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핵심: for s in targets로 모든 요청 대상을 조회 목록에 포함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1 후: 요청한 서비스로 조회 목록을 구성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69741" y="1343025"/>
            <a:ext cx="14367567" cy="8086725"/>
            <a:chOff x="0" y="0"/>
            <a:chExt cx="19156756" cy="1078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56807" cy="10782300"/>
            </a:xfrm>
            <a:custGeom>
              <a:avLst/>
              <a:gdLst/>
              <a:ahLst/>
              <a:cxnLst/>
              <a:rect r="r" b="b" t="t" l="l"/>
              <a:pathLst>
                <a:path h="10782300" w="19156807">
                  <a:moveTo>
                    <a:pt x="0" y="0"/>
                  </a:moveTo>
                  <a:lnTo>
                    <a:pt x="19156807" y="0"/>
                  </a:lnTo>
                  <a:lnTo>
                    <a:pt x="19156807" y="10782300"/>
                  </a:lnTo>
                  <a:lnTo>
                    <a:pt x="0" y="1078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9520237"/>
            <a:ext cx="16259175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payments와 cache를 각각 조회하고 서비스별 관측·매뉴얼 제시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1 후: 공통 원인은 미확인으로 표시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60216" y="1343025"/>
            <a:ext cx="14367567" cy="8086725"/>
            <a:chOff x="0" y="0"/>
            <a:chExt cx="19156756" cy="1078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56807" cy="10782300"/>
            </a:xfrm>
            <a:custGeom>
              <a:avLst/>
              <a:gdLst/>
              <a:ahLst/>
              <a:cxnLst/>
              <a:rect r="r" b="b" t="t" l="l"/>
              <a:pathLst>
                <a:path h="10782300" w="19156807">
                  <a:moveTo>
                    <a:pt x="0" y="0"/>
                  </a:moveTo>
                  <a:lnTo>
                    <a:pt x="19156807" y="0"/>
                  </a:lnTo>
                  <a:lnTo>
                    <a:pt x="19156807" y="10782300"/>
                  </a:lnTo>
                  <a:lnTo>
                    <a:pt x="0" y="1078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9520237"/>
            <a:ext cx="16259175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서비스별 결과는 제시하고, 확인하지 못한 공통 원인은 단정하지 않음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개선 1 전: gateway만 조회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5316" y="1485900"/>
            <a:ext cx="9893703" cy="7943850"/>
            <a:chOff x="0" y="0"/>
            <a:chExt cx="13191604" cy="10591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91617" cy="10591800"/>
            </a:xfrm>
            <a:custGeom>
              <a:avLst/>
              <a:gdLst/>
              <a:ahLst/>
              <a:cxnLst/>
              <a:rect r="r" b="b" t="t" l="l"/>
              <a:pathLst>
                <a:path h="10591800" w="13191617">
                  <a:moveTo>
                    <a:pt x="0" y="0"/>
                  </a:moveTo>
                  <a:lnTo>
                    <a:pt x="13191617" y="0"/>
                  </a:lnTo>
                  <a:lnTo>
                    <a:pt x="13191617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87200" y="1985963"/>
            <a:ext cx="57150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371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gateway만 조회</a:t>
            </a:r>
          </a:p>
          <a:p>
            <a:pPr algn="l">
              <a:lnSpc>
                <a:spcPts val="4455"/>
              </a:lnSpc>
            </a:pPr>
            <a:r>
              <a:rPr lang="en-US" sz="371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payments는 확인하지 않음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7200" y="4652962"/>
            <a:ext cx="571500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연결된 두 서비스 중</a:t>
            </a:r>
          </a:p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한쪽의 상태를 모름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7200" y="7496175"/>
            <a:ext cx="571500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BD4826"/>
                </a:solidFill>
                <a:latin typeface="Arimo Bold"/>
                <a:ea typeface="Arimo Bold"/>
                <a:cs typeface="Arimo Bold"/>
                <a:sym typeface="Arimo Bold"/>
              </a:rPr>
              <a:t>수집된 사실: 모니터링 gateway-service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1 후: 요청을 주고받는 양쪽을 조사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60216" y="1343025"/>
            <a:ext cx="14367567" cy="8086725"/>
            <a:chOff x="0" y="0"/>
            <a:chExt cx="19156756" cy="1078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56807" cy="10782300"/>
            </a:xfrm>
            <a:custGeom>
              <a:avLst/>
              <a:gdLst/>
              <a:ahLst/>
              <a:cxnLst/>
              <a:rect r="r" b="b" t="t" l="l"/>
              <a:pathLst>
                <a:path h="10782300" w="19156807">
                  <a:moveTo>
                    <a:pt x="0" y="0"/>
                  </a:moveTo>
                  <a:lnTo>
                    <a:pt x="19156807" y="0"/>
                  </a:lnTo>
                  <a:lnTo>
                    <a:pt x="19156807" y="10782300"/>
                  </a:lnTo>
                  <a:lnTo>
                    <a:pt x="0" y="1078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9520237"/>
            <a:ext cx="16259175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질문에 나온 두 서비스의 조회 작업을 각각 구성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1 후: 두 서비스의 결과와 근거를 함께 제시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60216" y="1343025"/>
            <a:ext cx="14367567" cy="8086725"/>
            <a:chOff x="0" y="0"/>
            <a:chExt cx="19156756" cy="1078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56807" cy="10782300"/>
            </a:xfrm>
            <a:custGeom>
              <a:avLst/>
              <a:gdLst/>
              <a:ahLst/>
              <a:cxnLst/>
              <a:rect r="r" b="b" t="t" l="l"/>
              <a:pathLst>
                <a:path h="10782300" w="19156807">
                  <a:moveTo>
                    <a:pt x="0" y="0"/>
                  </a:moveTo>
                  <a:lnTo>
                    <a:pt x="19156807" y="0"/>
                  </a:lnTo>
                  <a:lnTo>
                    <a:pt x="19156807" y="10782300"/>
                  </a:lnTo>
                  <a:lnTo>
                    <a:pt x="0" y="1078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9520237"/>
            <a:ext cx="16259175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두 서비스의 조회 결과와 참고 매뉴얼을 각각 제시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개선 2 전: billing을 물었는데 auth를 조회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85800" y="1559004"/>
            <a:ext cx="16916400" cy="5797391"/>
            <a:chOff x="0" y="0"/>
            <a:chExt cx="22555200" cy="77298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7729855"/>
            </a:xfrm>
            <a:custGeom>
              <a:avLst/>
              <a:gdLst/>
              <a:ahLst/>
              <a:cxnLst/>
              <a:rect r="r" b="b" t="t" l="l"/>
              <a:pathLst>
                <a:path h="7729855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7729855"/>
                  </a:lnTo>
                  <a:lnTo>
                    <a:pt x="0" y="7729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7729537"/>
            <a:ext cx="800100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요청: billing-service</a:t>
            </a:r>
          </a:p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실제 조회: auth-service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1200" y="7739062"/>
            <a:ext cx="8001000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미등록 이름을 auth로 대체해</a:t>
            </a:r>
          </a:p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요청과 다른 대상을 조사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2 구현: 등록된 서비스 이름만 조사 대상으로 선택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1566862"/>
            <a:ext cx="16916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등록 목록과 요청문을 대조해 실제로 언급한 서비스만 선택합니다.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5800" y="2621756"/>
            <a:ext cx="16916400" cy="6300788"/>
            <a:chOff x="0" y="0"/>
            <a:chExt cx="22555200" cy="8401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55200" cy="8401050"/>
            </a:xfrm>
            <a:custGeom>
              <a:avLst/>
              <a:gdLst/>
              <a:ahLst/>
              <a:cxnLst/>
              <a:rect r="r" b="b" t="t" l="l"/>
              <a:pathLst>
                <a:path h="840105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8401050"/>
                  </a:lnTo>
                  <a:lnTo>
                    <a:pt x="0" y="840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9282112"/>
            <a:ext cx="1625917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등록 이름이 요청에 없으면 known은 빈 목록이며, auth로 대체하지 않음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2 후: 미등록 서비스는 이름부터 확인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60216" y="1343025"/>
            <a:ext cx="14367567" cy="8086725"/>
            <a:chOff x="0" y="0"/>
            <a:chExt cx="19156756" cy="1078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56807" cy="10782300"/>
            </a:xfrm>
            <a:custGeom>
              <a:avLst/>
              <a:gdLst/>
              <a:ahLst/>
              <a:cxnLst/>
              <a:rect r="r" b="b" t="t" l="l"/>
              <a:pathLst>
                <a:path h="10782300" w="19156807">
                  <a:moveTo>
                    <a:pt x="0" y="0"/>
                  </a:moveTo>
                  <a:lnTo>
                    <a:pt x="19156807" y="0"/>
                  </a:lnTo>
                  <a:lnTo>
                    <a:pt x="19156807" y="10782300"/>
                  </a:lnTo>
                  <a:lnTo>
                    <a:pt x="0" y="1078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9520237"/>
            <a:ext cx="16259175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billing은 미등록으로 안내하고, 다른 서비스를 대신 조회하지 않음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개선 2 전: 서비스 이름 없이 auth를 조회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85800" y="1506141"/>
            <a:ext cx="16916400" cy="5903119"/>
            <a:chOff x="0" y="0"/>
            <a:chExt cx="22555200" cy="7870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7870825"/>
            </a:xfrm>
            <a:custGeom>
              <a:avLst/>
              <a:gdLst/>
              <a:ahLst/>
              <a:cxnLst/>
              <a:rect r="r" b="b" t="t" l="l"/>
              <a:pathLst>
                <a:path h="7870825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7870825"/>
                  </a:lnTo>
                  <a:lnTo>
                    <a:pt x="0" y="7870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7729537"/>
            <a:ext cx="800100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서비스 이름이 없는데</a:t>
            </a:r>
          </a:p>
          <a:p>
            <a:pPr algn="l">
              <a:lnSpc>
                <a:spcPts val="3915"/>
              </a:lnSpc>
            </a:pPr>
            <a:r>
              <a:rPr lang="en-US" sz="326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auth-service로 조회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01200" y="7739062"/>
            <a:ext cx="8001000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대상을 임의로 정하던 처리를</a:t>
            </a:r>
          </a:p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이름 확인 요청으로 변경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2 구현: 서비스명이 없으면 계획 호출 생략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1566862"/>
            <a:ext cx="16916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조사 대상이 있을 때만 분기 안의 계획 모델을 호출합니다.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74830" y="2414588"/>
            <a:ext cx="16738330" cy="6715125"/>
            <a:chOff x="0" y="0"/>
            <a:chExt cx="22317774" cy="8953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17838" cy="8953500"/>
            </a:xfrm>
            <a:custGeom>
              <a:avLst/>
              <a:gdLst/>
              <a:ahLst/>
              <a:cxnLst/>
              <a:rect r="r" b="b" t="t" l="l"/>
              <a:pathLst>
                <a:path h="8953500" w="22317838">
                  <a:moveTo>
                    <a:pt x="0" y="0"/>
                  </a:moveTo>
                  <a:lnTo>
                    <a:pt x="22317838" y="0"/>
                  </a:lnTo>
                  <a:lnTo>
                    <a:pt x="22317838" y="8953500"/>
                  </a:lnTo>
                  <a:lnTo>
                    <a:pt x="0" y="895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9282112"/>
            <a:ext cx="1625917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targets가 비어 있으면 계획을 호출하지 않고 대상 확인 안내로 처리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2 후: 서비스 이름을 먼저 확인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899439" y="1343025"/>
            <a:ext cx="12489123" cy="7029450"/>
            <a:chOff x="0" y="0"/>
            <a:chExt cx="16652164" cy="9372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52112" cy="9372600"/>
            </a:xfrm>
            <a:custGeom>
              <a:avLst/>
              <a:gdLst/>
              <a:ahLst/>
              <a:cxnLst/>
              <a:rect r="r" b="b" t="t" l="l"/>
              <a:pathLst>
                <a:path h="9372600" w="16652112">
                  <a:moveTo>
                    <a:pt x="0" y="0"/>
                  </a:moveTo>
                  <a:lnTo>
                    <a:pt x="16652112" y="0"/>
                  </a:lnTo>
                  <a:lnTo>
                    <a:pt x="16652112" y="9372600"/>
                  </a:lnTo>
                  <a:lnTo>
                    <a:pt x="0" y="937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8553450"/>
            <a:ext cx="1625917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3155FF"/>
                </a:solidFill>
                <a:latin typeface="Arimo"/>
                <a:ea typeface="Arimo"/>
                <a:cs typeface="Arimo"/>
                <a:sym typeface="Arimo"/>
              </a:rPr>
              <a:t>1. 장애 요청에 서비스 이름이 있는지 확인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800" y="9039225"/>
            <a:ext cx="1625917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3155FF"/>
                </a:solidFill>
                <a:latin typeface="Arimo"/>
                <a:ea typeface="Arimo"/>
                <a:cs typeface="Arimo"/>
                <a:sym typeface="Arimo"/>
              </a:rPr>
              <a:t>2. auth를 기본 대상으로 쓰던 처리 제거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800" y="9525000"/>
            <a:ext cx="1625917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3155FF"/>
                </a:solidFill>
                <a:latin typeface="Arimo"/>
                <a:ea typeface="Arimo"/>
                <a:cs typeface="Arimo"/>
                <a:sym typeface="Arimo"/>
              </a:rPr>
              <a:t>3. 조사할 서비스 이름을 먼저 질문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개선 3 전: 정상인 web에 DB 장애 매뉴얼 연결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1524791"/>
            <a:ext cx="10829925" cy="7866069"/>
            <a:chOff x="0" y="0"/>
            <a:chExt cx="14439900" cy="104880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39900" cy="10488041"/>
            </a:xfrm>
            <a:custGeom>
              <a:avLst/>
              <a:gdLst/>
              <a:ahLst/>
              <a:cxnLst/>
              <a:rect r="r" b="b" t="t" l="l"/>
              <a:pathLst>
                <a:path h="10488041" w="14439900">
                  <a:moveTo>
                    <a:pt x="0" y="0"/>
                  </a:moveTo>
                  <a:lnTo>
                    <a:pt x="14439900" y="0"/>
                  </a:lnTo>
                  <a:lnTo>
                    <a:pt x="14439900" y="10488041"/>
                  </a:lnTo>
                  <a:lnTo>
                    <a:pt x="0" y="10488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87200" y="1985963"/>
            <a:ext cx="57150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371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web-01은 정상·알림 0건</a:t>
            </a:r>
          </a:p>
          <a:p>
            <a:pPr algn="l">
              <a:lnSpc>
                <a:spcPts val="4455"/>
              </a:lnSpc>
            </a:pPr>
            <a:r>
              <a:rPr lang="en-US" sz="371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선택 문서는 db-down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7200" y="4652962"/>
            <a:ext cx="571500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정상 서비스에 장애 절차를 제시</a:t>
            </a:r>
          </a:p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auth 조회도 누락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7200" y="7496175"/>
            <a:ext cx="571500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BD4826"/>
                </a:solidFill>
                <a:latin typeface="Arimo Bold"/>
                <a:ea typeface="Arimo Bold"/>
                <a:cs typeface="Arimo Bold"/>
                <a:sym typeface="Arimo Bold"/>
              </a:rPr>
              <a:t>“DB Down 대응 절차”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3 구현: 상태를 구분한 뒤 검색 여부 결정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1566862"/>
            <a:ext cx="16916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정상·정보 부족·장애 조사를 나누고, 장애 조사 대상만 검색합니다.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29170" y="2414588"/>
            <a:ext cx="16029651" cy="6715125"/>
            <a:chOff x="0" y="0"/>
            <a:chExt cx="21372868" cy="8953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72830" cy="8953500"/>
            </a:xfrm>
            <a:custGeom>
              <a:avLst/>
              <a:gdLst/>
              <a:ahLst/>
              <a:cxnLst/>
              <a:rect r="r" b="b" t="t" l="l"/>
              <a:pathLst>
                <a:path h="8953500" w="21372830">
                  <a:moveTo>
                    <a:pt x="0" y="0"/>
                  </a:moveTo>
                  <a:lnTo>
                    <a:pt x="21372830" y="0"/>
                  </a:lnTo>
                  <a:lnTo>
                    <a:pt x="21372830" y="8953500"/>
                  </a:lnTo>
                  <a:lnTo>
                    <a:pt x="0" y="895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9282112"/>
            <a:ext cx="1625917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정상과 정보 부족을 장애로 단정하지 않고 매뉴얼 검색 대상에서 제외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3 후: 서비스별 상태에 맞는 매뉴얼 선택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60216" y="1343025"/>
            <a:ext cx="14367567" cy="8086725"/>
            <a:chOff x="0" y="0"/>
            <a:chExt cx="19156756" cy="1078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56807" cy="10782300"/>
            </a:xfrm>
            <a:custGeom>
              <a:avLst/>
              <a:gdLst/>
              <a:ahLst/>
              <a:cxnLst/>
              <a:rect r="r" b="b" t="t" l="l"/>
              <a:pathLst>
                <a:path h="10782300" w="19156807">
                  <a:moveTo>
                    <a:pt x="0" y="0"/>
                  </a:moveTo>
                  <a:lnTo>
                    <a:pt x="19156807" y="0"/>
                  </a:lnTo>
                  <a:lnTo>
                    <a:pt x="19156807" y="10782300"/>
                  </a:lnTo>
                  <a:lnTo>
                    <a:pt x="0" y="1078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9520237"/>
            <a:ext cx="16259175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정상 web에는 매뉴얼을 붙이지 않고, auth에는 지연 매뉴얼 연결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개선 4 전: 조회하지 않은 로그를 분석한 것처럼 답변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3631" y="1485900"/>
            <a:ext cx="10177062" cy="7943850"/>
            <a:chOff x="0" y="0"/>
            <a:chExt cx="13569417" cy="10591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69442" cy="10591800"/>
            </a:xfrm>
            <a:custGeom>
              <a:avLst/>
              <a:gdLst/>
              <a:ahLst/>
              <a:cxnLst/>
              <a:rect r="r" b="b" t="t" l="l"/>
              <a:pathLst>
                <a:path h="10591800" w="13569442">
                  <a:moveTo>
                    <a:pt x="0" y="0"/>
                  </a:moveTo>
                  <a:lnTo>
                    <a:pt x="13569442" y="0"/>
                  </a:lnTo>
                  <a:lnTo>
                    <a:pt x="13569442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87200" y="1985963"/>
            <a:ext cx="57150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371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로그를 조회하지 않고</a:t>
            </a:r>
          </a:p>
          <a:p>
            <a:pPr algn="l">
              <a:lnSpc>
                <a:spcPts val="4455"/>
              </a:lnSpc>
            </a:pPr>
            <a:r>
              <a:rPr lang="en-US" sz="371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분석 결과처럼 답변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7200" y="4652962"/>
            <a:ext cx="571500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수집한 자료는 지표·매뉴얼</a:t>
            </a:r>
          </a:p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로그 분석 근거는 없음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7200" y="7496175"/>
            <a:ext cx="571500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BD4826"/>
                </a:solidFill>
                <a:latin typeface="Arimo Bold"/>
                <a:ea typeface="Arimo Bold"/>
                <a:cs typeface="Arimo Bold"/>
                <a:sym typeface="Arimo Bold"/>
              </a:rPr>
              <a:t>“로그 분석 결과</a:t>
            </a:r>
          </a:p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BD4826"/>
                </a:solidFill>
                <a:latin typeface="Arimo Bold"/>
                <a:ea typeface="Arimo Bold"/>
                <a:cs typeface="Arimo Bold"/>
                <a:sym typeface="Arimo Bold"/>
              </a:rPr>
              <a:t>특이 패턴 없음.”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4 구현: 관측값 불일치와 원인 확정 검사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1566862"/>
            <a:ext cx="16916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모델이 선택한 수치를 관측값과 대조하고, 근거 없는 원인 확정을 검사합니다.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5800" y="2728912"/>
            <a:ext cx="16916400" cy="6086475"/>
            <a:chOff x="0" y="0"/>
            <a:chExt cx="22555200" cy="8115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55200" cy="8115300"/>
            </a:xfrm>
            <a:custGeom>
              <a:avLst/>
              <a:gdLst/>
              <a:ahLst/>
              <a:cxnLst/>
              <a:rect r="r" b="b" t="t" l="l"/>
              <a:pathLst>
                <a:path h="811530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8115300"/>
                  </a:lnTo>
                  <a:lnTo>
                    <a:pt x="0" y="811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9282112"/>
            <a:ext cx="1625917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핵심: 관측값과 다른 수치 또는 근거 없는 원인 확정은 검증 실패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4 구현: 매뉴얼과 절차 번호도 근거와 대조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1566862"/>
            <a:ext cx="16916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선택한 매뉴얼 ID와 절차 번호가 실제 수집한 원문에 있는지 검사합니다.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5800" y="2621756"/>
            <a:ext cx="16916400" cy="6300788"/>
            <a:chOff x="0" y="0"/>
            <a:chExt cx="22555200" cy="8401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55200" cy="8401050"/>
            </a:xfrm>
            <a:custGeom>
              <a:avLst/>
              <a:gdLst/>
              <a:ahLst/>
              <a:cxnLst/>
              <a:rect r="r" b="b" t="t" l="l"/>
              <a:pathLst>
                <a:path h="840105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8401050"/>
                  </a:lnTo>
                  <a:lnTo>
                    <a:pt x="0" y="840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9282112"/>
            <a:ext cx="1625917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다른 매뉴얼이나 원문에 없는 절차를 선택하면 검증 문제로 기록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개선 4 후: 수치와 절차를 검증한 뒤 답변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60216" y="1343025"/>
            <a:ext cx="14367567" cy="8086725"/>
            <a:chOff x="0" y="0"/>
            <a:chExt cx="19156756" cy="1078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56807" cy="10782300"/>
            </a:xfrm>
            <a:custGeom>
              <a:avLst/>
              <a:gdLst/>
              <a:ahLst/>
              <a:cxnLst/>
              <a:rect r="r" b="b" t="t" l="l"/>
              <a:pathLst>
                <a:path h="10782300" w="19156807">
                  <a:moveTo>
                    <a:pt x="0" y="0"/>
                  </a:moveTo>
                  <a:lnTo>
                    <a:pt x="19156807" y="0"/>
                  </a:lnTo>
                  <a:lnTo>
                    <a:pt x="19156807" y="10782300"/>
                  </a:lnTo>
                  <a:lnTo>
                    <a:pt x="0" y="1078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9520237"/>
            <a:ext cx="16259175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검증한 관측과 매뉴얼 원문을 표시하며, 실제 서버 조치는 실행하지 않음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대화 개선 전: 사용자 이름을 자기소개에 사용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62021" y="1485900"/>
            <a:ext cx="8820283" cy="7943850"/>
            <a:chOff x="0" y="0"/>
            <a:chExt cx="11760378" cy="10591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60327" cy="10591800"/>
            </a:xfrm>
            <a:custGeom>
              <a:avLst/>
              <a:gdLst/>
              <a:ahLst/>
              <a:cxnLst/>
              <a:rect r="r" b="b" t="t" l="l"/>
              <a:pathLst>
                <a:path h="10591800" w="11760327">
                  <a:moveTo>
                    <a:pt x="0" y="0"/>
                  </a:moveTo>
                  <a:lnTo>
                    <a:pt x="11760327" y="0"/>
                  </a:lnTo>
                  <a:lnTo>
                    <a:pt x="11760327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87200" y="1985963"/>
            <a:ext cx="57150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371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사용자 이름 민수를</a:t>
            </a:r>
          </a:p>
          <a:p>
            <a:pPr algn="l">
              <a:lnSpc>
                <a:spcPts val="4455"/>
              </a:lnSpc>
            </a:pPr>
            <a:r>
              <a:rPr lang="en-US" sz="3712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비서 자신의 이름처럼 답변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7200" y="4652962"/>
            <a:ext cx="571500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사용자와 비서의 발화를 구분해</a:t>
            </a:r>
          </a:p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이름을 읽어야 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7200" y="7496175"/>
            <a:ext cx="571500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BD4826"/>
                </a:solidFill>
                <a:latin typeface="Arimo Bold"/>
                <a:ea typeface="Arimo Bold"/>
                <a:cs typeface="Arimo Bold"/>
                <a:sym typeface="Arimo Bold"/>
              </a:rPr>
              <a:t>“민수라는 이름으로…”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대화 구현: 사용자 발화에서 이름을 읽어 답변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1566862"/>
            <a:ext cx="16916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사용자 역할의 대화에서 선언한 이름을 찾고, 이름 질문에 답하도록 연결했습니다.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5800" y="2471738"/>
            <a:ext cx="16916400" cy="6600825"/>
            <a:chOff x="0" y="0"/>
            <a:chExt cx="22555200" cy="8801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55200" cy="8801100"/>
            </a:xfrm>
            <a:custGeom>
              <a:avLst/>
              <a:gdLst/>
              <a:ahLst/>
              <a:cxnLst/>
              <a:rect r="r" b="b" t="t" l="l"/>
              <a:pathLst>
                <a:path h="880110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8801100"/>
                  </a:lnTo>
                  <a:lnTo>
                    <a:pt x="0" y="880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9282112"/>
            <a:ext cx="1625917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비서의 자기소개를 사용자 이름의 출처로 사용하지 않음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대화 개선 후: 사용자가 밝힌 이름으로 답변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899439" y="1343025"/>
            <a:ext cx="12489123" cy="7029450"/>
            <a:chOff x="0" y="0"/>
            <a:chExt cx="16652164" cy="9372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52112" cy="9372600"/>
            </a:xfrm>
            <a:custGeom>
              <a:avLst/>
              <a:gdLst/>
              <a:ahLst/>
              <a:cxnLst/>
              <a:rect r="r" b="b" t="t" l="l"/>
              <a:pathLst>
                <a:path h="9372600" w="16652112">
                  <a:moveTo>
                    <a:pt x="0" y="0"/>
                  </a:moveTo>
                  <a:lnTo>
                    <a:pt x="16652112" y="0"/>
                  </a:lnTo>
                  <a:lnTo>
                    <a:pt x="16652112" y="9372600"/>
                  </a:lnTo>
                  <a:lnTo>
                    <a:pt x="0" y="937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8553450"/>
            <a:ext cx="1625917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3155FF"/>
                </a:solidFill>
                <a:latin typeface="Arimo"/>
                <a:ea typeface="Arimo"/>
                <a:cs typeface="Arimo"/>
                <a:sym typeface="Arimo"/>
              </a:rPr>
              <a:t>1. 사용자가 직접 밝힌 이름만 읽고, 질문·비서 발화는 제외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800" y="9039225"/>
            <a:ext cx="1625917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3155FF"/>
                </a:solidFill>
                <a:latin typeface="Arimo"/>
                <a:ea typeface="Arimo"/>
                <a:cs typeface="Arimo"/>
                <a:sym typeface="Arimo"/>
              </a:rPr>
              <a:t>2. 같은 대화 이력에서 가장 최근에 밝힌 이름을 사용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개선에 적용한 기술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5800" y="1685925"/>
          <a:ext cx="16897350" cy="7124700"/>
        </p:xfrm>
        <a:graphic>
          <a:graphicData uri="http://schemas.openxmlformats.org/drawingml/2006/table">
            <a:tbl>
              <a:tblPr/>
              <a:tblGrid>
                <a:gridCol w="3587306"/>
                <a:gridCol w="13310044"/>
              </a:tblGrid>
              <a:tr h="7588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 b="true">
                          <a:solidFill>
                            <a:srgbClr val="3155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기술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 b="true">
                          <a:solidFill>
                            <a:srgbClr val="3155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적용한 내용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12731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MCP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매뉴얼 검색 Tool을 추가하고</a:t>
                      </a:r>
                      <a:endParaRPr lang="en-US" sz="1100"/>
                    </a:p>
                    <a:p>
                      <a:pPr algn="l">
                        <a:lnSpc>
                          <a:spcPts val="3644"/>
                        </a:lnSpc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기존 모니터링·매뉴얼 원문 조회와 연결</a:t>
                      </a:r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731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RAG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bge-m3로 문서를 벡터화하고</a:t>
                      </a:r>
                      <a:endParaRPr lang="en-US" sz="1100"/>
                    </a:p>
                    <a:p>
                      <a:pPr algn="l">
                        <a:lnSpc>
                          <a:spcPts val="3644"/>
                        </a:lnSpc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서비스별 증상과 유사한 매뉴얼 검색</a:t>
                      </a:r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731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LangGraph</a:t>
                      </a:r>
                      <a:endParaRPr lang="en-US" sz="1100"/>
                    </a:p>
                    <a:p>
                      <a:pPr algn="l">
                        <a:lnSpc>
                          <a:spcPts val="3644"/>
                        </a:lnSpc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모듈화</a:t>
                      </a:r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대상 확인·수집·검색·검증을 분리하고</a:t>
                      </a:r>
                      <a:endParaRPr lang="en-US" sz="1100"/>
                    </a:p>
                    <a:p>
                      <a:pPr algn="l">
                        <a:lnSpc>
                          <a:spcPts val="3644"/>
                        </a:lnSpc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서비스 상태에 따라 처리 흐름 연결</a:t>
                      </a:r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731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의존성 주입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검색기를 주입해</a:t>
                      </a:r>
                      <a:endParaRPr lang="en-US" sz="1100"/>
                    </a:p>
                    <a:p>
                      <a:pPr algn="l">
                        <a:lnSpc>
                          <a:spcPts val="3644"/>
                        </a:lnSpc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실제 MCP 검색과 고정 평가용 검색 교체</a:t>
                      </a:r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731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단위 테스트</a:t>
                      </a:r>
                      <a:endParaRPr lang="en-US" sz="1100"/>
                    </a:p>
                    <a:p>
                      <a:pPr algn="l">
                        <a:lnSpc>
                          <a:spcPts val="3644"/>
                        </a:lnSpc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전후 평가</a:t>
                      </a:r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4"/>
                        </a:lnSpc>
                        <a:defRPr/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단위 테스트 31개로 핵심 분기를 확인하고</a:t>
                      </a:r>
                      <a:endParaRPr lang="en-US" sz="1100"/>
                    </a:p>
                    <a:p>
                      <a:pPr algn="l">
                        <a:lnSpc>
                          <a:spcPts val="3644"/>
                        </a:lnSpc>
                      </a:pPr>
                      <a:r>
                        <a:rPr lang="en-US" sz="3037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같은 질문 20개로 전후 결과 비교</a:t>
                      </a:r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85800" y="9210675"/>
            <a:ext cx="1625917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대상·상태·답변 검증은 코드로 처리하고, 문서는 RAG로 검색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추가 1 구현: 질문과 매뉴얼 벡터의 유사도 계산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1566862"/>
            <a:ext cx="16916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질문을 임베딩하고 저장한 문서 벡터와 유사도를 계산합니다.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72392" y="2414588"/>
            <a:ext cx="16743216" cy="6715125"/>
            <a:chOff x="0" y="0"/>
            <a:chExt cx="22324289" cy="8953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4313" cy="8953500"/>
            </a:xfrm>
            <a:custGeom>
              <a:avLst/>
              <a:gdLst/>
              <a:ahLst/>
              <a:cxnLst/>
              <a:rect r="r" b="b" t="t" l="l"/>
              <a:pathLst>
                <a:path h="8953500" w="22324313">
                  <a:moveTo>
                    <a:pt x="0" y="0"/>
                  </a:moveTo>
                  <a:lnTo>
                    <a:pt x="22324313" y="0"/>
                  </a:lnTo>
                  <a:lnTo>
                    <a:pt x="22324313" y="8953500"/>
                  </a:lnTo>
                  <a:lnTo>
                    <a:pt x="0" y="895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9282112"/>
            <a:ext cx="1625917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질문 벡터와 캐시한 문서 벡터의 유사도를 검색 점수로 사용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추가 1: 증상에 맞는 매뉴얼을 RAG로 검색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2168785"/>
            <a:ext cx="11687175" cy="6578079"/>
            <a:chOff x="0" y="0"/>
            <a:chExt cx="15582900" cy="87707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82900" cy="8770747"/>
            </a:xfrm>
            <a:custGeom>
              <a:avLst/>
              <a:gdLst/>
              <a:ahLst/>
              <a:cxnLst/>
              <a:rect r="r" b="b" t="t" l="l"/>
              <a:pathLst>
                <a:path h="8770747" w="15582900">
                  <a:moveTo>
                    <a:pt x="0" y="0"/>
                  </a:moveTo>
                  <a:lnTo>
                    <a:pt x="15582900" y="0"/>
                  </a:lnTo>
                  <a:lnTo>
                    <a:pt x="15582900" y="8770747"/>
                  </a:lnTo>
                  <a:lnTo>
                    <a:pt x="0" y="8770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658725" y="1638300"/>
            <a:ext cx="49434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구현 방식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58725" y="2395538"/>
            <a:ext cx="494347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1. 알림·문서를 bge-m3로 벡터화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58725" y="3709988"/>
            <a:ext cx="494347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2. SQLite에서 유사한 문서 검색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58725" y="5024438"/>
            <a:ext cx="494347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3. MCP로 매뉴얼 원문 조회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58725" y="7138988"/>
            <a:ext cx="4943475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log-service</a:t>
            </a:r>
          </a:p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디스크 공간 부족</a:t>
            </a:r>
          </a:p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유사도 0.673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800" y="9520237"/>
            <a:ext cx="16259175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검색기를 분리해 교체할 수 있게 하고, 단위 테스트로 확인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추가 2 구현: 수집 결과로 근거 화면 데이터 구성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1566862"/>
            <a:ext cx="16916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모델이 쓴 출처 문장 대신 실제 관측·매뉴얼 객체로 근거 데이터를 만듭니다.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5800" y="2621756"/>
            <a:ext cx="16916400" cy="6300788"/>
            <a:chOff x="0" y="0"/>
            <a:chExt cx="22555200" cy="8401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55200" cy="8401050"/>
            </a:xfrm>
            <a:custGeom>
              <a:avLst/>
              <a:gdLst/>
              <a:ahLst/>
              <a:cxnLst/>
              <a:rect r="r" b="b" t="t" l="l"/>
              <a:pathLst>
                <a:path h="840105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8401050"/>
                  </a:lnTo>
                  <a:lnTo>
                    <a:pt x="0" y="840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9282112"/>
            <a:ext cx="1625917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서비스·관측값·매뉴얼·미확인 대상을 답변과 별도로 화면에 전달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추가 2: 답변에 사용한 근거를 함께 표시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2168785"/>
            <a:ext cx="11687175" cy="6578079"/>
            <a:chOff x="0" y="0"/>
            <a:chExt cx="15582900" cy="87707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82900" cy="8770747"/>
            </a:xfrm>
            <a:custGeom>
              <a:avLst/>
              <a:gdLst/>
              <a:ahLst/>
              <a:cxnLst/>
              <a:rect r="r" b="b" t="t" l="l"/>
              <a:pathLst>
                <a:path h="8770747" w="15582900">
                  <a:moveTo>
                    <a:pt x="0" y="0"/>
                  </a:moveTo>
                  <a:lnTo>
                    <a:pt x="15582900" y="0"/>
                  </a:lnTo>
                  <a:lnTo>
                    <a:pt x="15582900" y="8770747"/>
                  </a:lnTo>
                  <a:lnTo>
                    <a:pt x="0" y="8770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658725" y="1638300"/>
            <a:ext cx="49434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구현 방식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58725" y="2395538"/>
            <a:ext cx="494347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1. 조회한 근거를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답변과 함께 전송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58725" y="3709988"/>
            <a:ext cx="494347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2. 서비스·수치·매뉴얼을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표로 표시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58725" y="5024438"/>
            <a:ext cx="494347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3. 미확인 사항과</a:t>
            </a:r>
          </a:p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조치 미실행 표시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58725" y="7138988"/>
            <a:ext cx="4943475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web: 매뉴얼 없음</a:t>
            </a:r>
          </a:p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auth: 지연 매뉴얼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추가 3 구현: 회귀 테스트와 조회 대상 자동 판정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1566862"/>
            <a:ext cx="169164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수치 변조는 거절하는지 시험하고, 기대 대상과 실제 조회 목록을 대조합니다.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5800" y="3200400"/>
            <a:ext cx="16916400" cy="5143500"/>
            <a:chOff x="0" y="0"/>
            <a:chExt cx="22555200" cy="685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552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5800" y="9282112"/>
            <a:ext cx="1625917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코드 분기 시험과 실제 모델 실행 결과의 자동 집계를 구분해 확인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추가 3: 같은 질문으로 전후 결과를 자동 비교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55797" y="1343025"/>
            <a:ext cx="14376397" cy="8086725"/>
            <a:chOff x="0" y="0"/>
            <a:chExt cx="19168529" cy="1078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68490" cy="10782300"/>
            </a:xfrm>
            <a:custGeom>
              <a:avLst/>
              <a:gdLst/>
              <a:ahLst/>
              <a:cxnLst/>
              <a:rect r="r" b="b" t="t" l="l"/>
              <a:pathLst>
                <a:path h="10782300" w="19168490">
                  <a:moveTo>
                    <a:pt x="0" y="0"/>
                  </a:moveTo>
                  <a:lnTo>
                    <a:pt x="19168490" y="0"/>
                  </a:lnTo>
                  <a:lnTo>
                    <a:pt x="19168490" y="10782300"/>
                  </a:lnTo>
                  <a:lnTo>
                    <a:pt x="0" y="1078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5800" y="9520237"/>
            <a:ext cx="16259175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고정 질문 20개로 전후 비교, 단위 테스트 31개로 핵심 분기 점검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정확성 평가: 조사 대상과 매뉴얼 선택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005840" y="-91440"/>
            <a:ext cx="20299680" cy="8312468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00225" y="6824662"/>
            <a:ext cx="508635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17/20에서 20/20건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86575" y="6824662"/>
            <a:ext cx="508635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15/20에서 20/20문항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72925" y="6824662"/>
            <a:ext cx="508635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11/12에서 12/12문항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0225" y="7396162"/>
            <a:ext cx="508635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조회 누락 3건 해소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6575" y="7396162"/>
            <a:ext cx="508635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조회 범위 오류 5문항 개선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72925" y="7396162"/>
            <a:ext cx="508635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587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문서 선택 오류 1문항 개선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800" y="8120063"/>
            <a:ext cx="1691640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평가 대상: 서비스 조회 20건, 조회 범위 20문항, 단일 정답 매뉴얼 12문항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800" y="8739188"/>
            <a:ext cx="169164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191F"/>
                </a:solidFill>
                <a:latin typeface="Arimo"/>
                <a:ea typeface="Arimo"/>
                <a:cs typeface="Arimo"/>
                <a:sym typeface="Arimo"/>
              </a:rPr>
              <a:t>처리 시간(보조): 35.94초에서 4.45초 · 전후 모두 완료한 같은 16문항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9391650"/>
            <a:ext cx="162591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고정 질문·모의 지표의 결과이며, 생성 설정과 출력 방식도 함께 변경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800" y="338138"/>
            <a:ext cx="1691640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true">
                <a:solidFill>
                  <a:srgbClr val="17191F"/>
                </a:solidFill>
                <a:latin typeface="Arimo Bold"/>
                <a:ea typeface="Arimo Bold"/>
                <a:cs typeface="Arimo Bold"/>
                <a:sym typeface="Arimo Bold"/>
              </a:rPr>
              <a:t>한계와 다음 개선 방향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5800" y="2157412"/>
          <a:ext cx="16916400" cy="4686300"/>
        </p:xfrm>
        <a:graphic>
          <a:graphicData uri="http://schemas.openxmlformats.org/drawingml/2006/table">
            <a:tbl>
              <a:tblPr/>
              <a:tblGrid>
                <a:gridCol w="4873975"/>
                <a:gridCol w="12042425"/>
              </a:tblGrid>
              <a:tr h="7554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 b="true">
                          <a:solidFill>
                            <a:srgbClr val="3155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선택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 b="true">
                          <a:solidFill>
                            <a:srgbClr val="3155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한계와 보완 과제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13102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임베딩·문서 검색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검색 시간이 추가되고, 잘못된 문서를 고를 수 있음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102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문서 6개·모의 지표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실제 운영 환경의 정확성은 추가 검증 필요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102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구조화·원문 출력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3150">
                          <a:solidFill>
                            <a:srgbClr val="1719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근거를 종합한 자유로운 설명은 제한됨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85800" y="7781925"/>
            <a:ext cx="1691640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조사와 답변의 근거를 맞추는 개선</a:t>
            </a:r>
          </a:p>
          <a:p>
            <a:pPr algn="l">
              <a:lnSpc>
                <a:spcPts val="3644"/>
              </a:lnSpc>
            </a:pPr>
            <a:r>
              <a:rPr lang="en-US" sz="3037" b="true">
                <a:solidFill>
                  <a:srgbClr val="3155FF"/>
                </a:solidFill>
                <a:latin typeface="Arimo Bold"/>
                <a:ea typeface="Arimo Bold"/>
                <a:cs typeface="Arimo Bold"/>
                <a:sym typeface="Arimo Bold"/>
              </a:rPr>
              <a:t>다음 단계는 실제 로그와 새로운 질문으로 검증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45000" y="9748837"/>
            <a:ext cx="500062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5C6270"/>
                </a:solidFill>
                <a:latin typeface="Arimo"/>
                <a:ea typeface="Arimo"/>
                <a:cs typeface="Arimo"/>
                <a:sym typeface="Arimo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DAHYs89WvJc</dc:identifier>
  <dcterms:modified xsi:type="dcterms:W3CDTF">2011-08-01T06:04:30Z</dcterms:modified>
  <cp:revision>1</cp:revision>
  <dc:title>incident-diagnosis-agent-code-proof.pptx</dc:title>
</cp:coreProperties>
</file>